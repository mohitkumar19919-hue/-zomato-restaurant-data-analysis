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7"/>
  </p:notesMasterIdLst>
  <p:sldIdLst>
    <p:sldId id="258" r:id="rId5"/>
    <p:sldId id="278" r:id="rId6"/>
    <p:sldId id="286" r:id="rId7"/>
    <p:sldId id="264" r:id="rId8"/>
    <p:sldId id="265" r:id="rId9"/>
    <p:sldId id="287" r:id="rId10"/>
    <p:sldId id="288" r:id="rId11"/>
    <p:sldId id="289" r:id="rId12"/>
    <p:sldId id="290" r:id="rId13"/>
    <p:sldId id="266" r:id="rId14"/>
    <p:sldId id="27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299" r:id="rId24"/>
    <p:sldId id="301" r:id="rId25"/>
    <p:sldId id="300" r:id="rId26"/>
    <p:sldId id="272" r:id="rId27"/>
    <p:sldId id="302" r:id="rId28"/>
    <p:sldId id="303" r:id="rId29"/>
    <p:sldId id="304" r:id="rId30"/>
    <p:sldId id="305" r:id="rId31"/>
    <p:sldId id="282" r:id="rId32"/>
    <p:sldId id="306" r:id="rId33"/>
    <p:sldId id="307" r:id="rId34"/>
    <p:sldId id="308" r:id="rId35"/>
    <p:sldId id="309" r:id="rId36"/>
    <p:sldId id="285" r:id="rId37"/>
    <p:sldId id="310" r:id="rId38"/>
    <p:sldId id="311" r:id="rId39"/>
    <p:sldId id="312" r:id="rId40"/>
    <p:sldId id="279" r:id="rId41"/>
    <p:sldId id="313" r:id="rId42"/>
    <p:sldId id="314" r:id="rId43"/>
    <p:sldId id="315" r:id="rId44"/>
    <p:sldId id="316" r:id="rId45"/>
    <p:sldId id="317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456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pos="7224" userDrawn="1">
          <p15:clr>
            <a:srgbClr val="A4A3A4"/>
          </p15:clr>
        </p15:guide>
        <p15:guide id="5" orient="horz" pos="408" userDrawn="1">
          <p15:clr>
            <a:srgbClr val="A4A3A4"/>
          </p15:clr>
        </p15:guide>
        <p15:guide id="6" orient="horz" pos="139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1F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50" autoAdjust="0"/>
    <p:restoredTop sz="94830"/>
  </p:normalViewPr>
  <p:slideViewPr>
    <p:cSldViewPr snapToGrid="0" showGuides="1">
      <p:cViewPr varScale="1">
        <p:scale>
          <a:sx n="68" d="100"/>
          <a:sy n="68" d="100"/>
        </p:scale>
        <p:origin x="972" y="72"/>
      </p:cViewPr>
      <p:guideLst>
        <p:guide orient="horz" pos="2184"/>
        <p:guide pos="456"/>
        <p:guide pos="3840"/>
        <p:guide pos="7224"/>
        <p:guide orient="horz" pos="408"/>
        <p:guide orient="horz" pos="1392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A067D9-116D-3843-ABDF-D6546C1962D4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9D21CC-DD94-204E-93C8-E1AAF3084C8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510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48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840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CA6C9-5973-F61D-DF1D-DC6A17E10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88208F-49A7-32BF-C8BA-D0646BDDBB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4843AC-A67C-81A8-A6DE-76565C716E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BD1FC-85CA-5D0E-CFBD-4CAE9B3828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38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592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9F16D-8588-E032-8FF4-FAEFF5E73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EE3FCF-59C6-3C07-6179-9E7C0F2D95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78FB59-AD32-ED62-75BC-2316C58278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66B597-493D-1625-206C-4FF96EC74A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2315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A298D-82C2-291B-2DA0-A04B543DE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57806A-070E-D672-7182-D4FFA0C0F7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F30126-31C5-64AB-CB7C-9BA6850A9F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9F71F-F213-E332-8F1A-D55DA70B1F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0894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B83D2-4236-F0B3-D6AE-56C8D9E6E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50823E-8F71-22B2-29E1-43A7B64EA3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7330E9-932E-B870-455D-8F4FF82C88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AB787-DFE6-36D2-D9AC-4F9206B6C3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5746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019A0-A8BF-8A6D-8946-68CA1CEF9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783790-183B-4F55-8A22-BCD9B95F83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E420B7-D66B-5A16-1AD8-F2F6154B3C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75088-7A16-C995-A1CA-00240B33BB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0021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591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4134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C9BC1-6DE4-1B2A-6562-64532F523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98A1B0-90BC-801F-0B71-DCA1F69674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D02D82-7161-4A2A-0746-23C3DCF7D2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199CD-E3E9-160A-AA57-3574D92BA1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0969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36ACC-C4B2-9B4F-4541-8796D1041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731B68-A7F6-3F2B-55E8-0107DA9CE6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ACA693-FF6A-77A7-3919-7D06CB5FA7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DFBEA-02AE-7504-8712-8D5E38AF82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5002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C98F8-DBDC-BE84-C268-E8B857DD9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F2FA9F-793C-FF70-8D7D-9DD3E335D7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AF1953-A219-37DA-A60A-04D4A30042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E28D45-6505-D3BE-C687-EB4BD528E8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1343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BF89D-348C-EE1D-00BE-4FBEF05DC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F13374-6FF4-B7BA-86BC-E165AFC88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124C75-9991-AB0C-98DC-9FEBA8B715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3EB8E-9BE6-0FE9-6168-42FE61E3FC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0164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D8F3C-2D24-7075-C6AF-3148BC4FE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9186A9-940E-06B8-BFA5-903C836075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46E255-81BE-1832-0D25-C9411B7C2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DBEFC-9362-EB7B-8489-9AF5D607A3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6002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839D0-AF87-C551-C86D-8CC7E3C6B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EC2B7E-5F65-F7B9-B8AC-914708000F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707C2F-9C33-CD66-1415-40B1024722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00066-A573-3328-0990-F35E802F8B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4862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E6571-228C-14B6-9463-4EE620E14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D5645A-93DF-1A4B-4F7E-03093C5438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F7765A-27D5-5917-299B-4DA767EA25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CD535-2AFB-8E54-BA12-54AB6E991A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9886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76F98-3184-2B3B-9E6C-3B118B952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808B9D-3544-258A-935A-EC4543B65C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1F2478-3150-F52C-C146-E50B211A92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900F0-287F-7E1C-FB39-7A4135F069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7415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AA46D-EFE6-7811-BEDA-EAA8F1BF1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866FE9-59D5-65D4-A5A1-E06F8D7738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B24C31-94F4-BABB-7B1D-B9D798CCA1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CAF34-5F61-067E-C182-4231AE5247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9506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D5766-5991-A645-D036-4712030E5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1B4ED2-B441-6B5F-B734-FD97E93898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ED15E6-CC34-63E2-7ED7-0D21624130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D1288-9DCA-EFBA-9ECD-2F22947B4A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3807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306FA-01C8-5BAB-AD23-77649B662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8A0B19-FEB3-4D1C-F2A2-3505459100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C6AA28-81BF-D217-2FF3-DAB3D596D7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02099-073C-F8A8-D634-315B110F00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3024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1234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3B94F-A0C0-3D16-D1B1-5FA4C4A27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F58230-E21B-4DC9-A115-057F2D084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61AD84-325C-803B-FD38-6BDC4E3958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5B2470-F214-532B-7256-F659358EE8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6261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F4EFE-2E79-7273-D6C6-41C180926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6E6162-5843-4283-D835-ACB324C8C7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0B11D7-6D66-CCE2-E41B-C61A93BF95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F09E58-E7DC-649B-2124-F18E97E07D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2849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A1247-2266-3AD5-AABE-99815E970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49B927-DDCF-4663-0C6C-CAE2FED44F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30DDD5-7F37-EB22-FBDF-A305B7CC51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A8678-7C64-79DA-CFAC-4A05214AD8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4076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B84AE-B471-9373-90F3-02168ECDD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59496B-F8D2-36CD-CDC2-3C52884265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6D3F2C-481E-061C-7785-31B8849F17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D75321-9799-1988-F65B-5D259BD35A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5831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6905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3D628-1455-FA6B-2942-BE7FA16CC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23345E-CC50-A873-07D9-126C6EEA7E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2B9EE9-F2F9-B50F-46CA-117F11BB9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B7092-FC06-6BEE-9BE4-A93CEC852A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0282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E1A9D-EAF4-A147-A2B1-573D3DE07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28A422-6D90-6445-6EBC-E433C9785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2E4835-A895-6F0B-3B7A-AD22153E6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40295-6396-DABF-D0D1-833F2EB382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5953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17C4C-3557-EC39-9FE5-5E487D9B8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C56045-FD64-85EE-F609-D667B9874E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621712-1403-6A40-2A6E-98466336B9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14931E-63A7-8D6A-A6FA-A4194D3803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5611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E225D-7F26-C8D5-62D9-09F47F141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631C38-E371-EB5E-3022-EC16FAF021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BF6944-C54F-8A72-0F4C-ABEE0D6FA5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7B1EA6-561C-1475-391F-0D7115998E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9980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E1D12-96A1-4D42-A146-C418385CB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632C74-AC3A-5AB1-6819-9BA59E3C32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5FB130-B3A9-B2D5-36B9-5942DF20D5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DB262-0349-0DA0-2066-8ACD3625E3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255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2.svg"/><Relationship Id="rId5" Type="http://schemas.openxmlformats.org/officeDocument/2006/relationships/image" Target="../media/image6.svg"/><Relationship Id="rId10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13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5.svg"/><Relationship Id="rId7" Type="http://schemas.openxmlformats.org/officeDocument/2006/relationships/image" Target="../media/image27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6.png"/><Relationship Id="rId11" Type="http://schemas.openxmlformats.org/officeDocument/2006/relationships/image" Target="../media/image31.svg"/><Relationship Id="rId5" Type="http://schemas.openxmlformats.org/officeDocument/2006/relationships/image" Target="../media/image2.svg"/><Relationship Id="rId10" Type="http://schemas.openxmlformats.org/officeDocument/2006/relationships/image" Target="../media/image30.png"/><Relationship Id="rId4" Type="http://schemas.openxmlformats.org/officeDocument/2006/relationships/image" Target="../media/image1.png"/><Relationship Id="rId9" Type="http://schemas.openxmlformats.org/officeDocument/2006/relationships/image" Target="../media/image2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9.svg"/><Relationship Id="rId7" Type="http://schemas.openxmlformats.org/officeDocument/2006/relationships/image" Target="../media/image18.sv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Relationship Id="rId9" Type="http://schemas.openxmlformats.org/officeDocument/2006/relationships/image" Target="../media/image23.sv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B4A24E8-C109-4F3A-CEE5-84689AA13B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0949" b="27959"/>
          <a:stretch>
            <a:fillRect/>
          </a:stretch>
        </p:blipFill>
        <p:spPr>
          <a:xfrm>
            <a:off x="9830598" y="1496755"/>
            <a:ext cx="2361462" cy="5361246"/>
          </a:xfrm>
          <a:custGeom>
            <a:avLst/>
            <a:gdLst>
              <a:gd name="connsiteX0" fmla="*/ 0 w 2361462"/>
              <a:gd name="connsiteY0" fmla="*/ 0 h 5361246"/>
              <a:gd name="connsiteX1" fmla="*/ 2361462 w 2361462"/>
              <a:gd name="connsiteY1" fmla="*/ 0 h 5361246"/>
              <a:gd name="connsiteX2" fmla="*/ 2361462 w 2361462"/>
              <a:gd name="connsiteY2" fmla="*/ 5361246 h 5361246"/>
              <a:gd name="connsiteX3" fmla="*/ 0 w 2361462"/>
              <a:gd name="connsiteY3" fmla="*/ 5361246 h 5361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1462" h="5361246">
                <a:moveTo>
                  <a:pt x="0" y="0"/>
                </a:moveTo>
                <a:lnTo>
                  <a:pt x="2361462" y="0"/>
                </a:lnTo>
                <a:lnTo>
                  <a:pt x="2361462" y="5361246"/>
                </a:lnTo>
                <a:lnTo>
                  <a:pt x="0" y="5361246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9497D1C-2169-2658-B8BB-0495216A4BA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80421" b="19612"/>
          <a:stretch>
            <a:fillRect/>
          </a:stretch>
        </p:blipFill>
        <p:spPr>
          <a:xfrm>
            <a:off x="10352634" y="2036470"/>
            <a:ext cx="1839366" cy="4821530"/>
          </a:xfrm>
          <a:custGeom>
            <a:avLst/>
            <a:gdLst>
              <a:gd name="connsiteX0" fmla="*/ 0 w 1777810"/>
              <a:gd name="connsiteY0" fmla="*/ 0 h 4821530"/>
              <a:gd name="connsiteX1" fmla="*/ 1777810 w 1777810"/>
              <a:gd name="connsiteY1" fmla="*/ 0 h 4821530"/>
              <a:gd name="connsiteX2" fmla="*/ 1777810 w 1777810"/>
              <a:gd name="connsiteY2" fmla="*/ 4821530 h 4821530"/>
              <a:gd name="connsiteX3" fmla="*/ 0 w 1777810"/>
              <a:gd name="connsiteY3" fmla="*/ 4821530 h 4821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7810" h="4821530">
                <a:moveTo>
                  <a:pt x="0" y="0"/>
                </a:moveTo>
                <a:lnTo>
                  <a:pt x="1777810" y="0"/>
                </a:lnTo>
                <a:lnTo>
                  <a:pt x="1777810" y="4821530"/>
                </a:lnTo>
                <a:lnTo>
                  <a:pt x="0" y="4821530"/>
                </a:lnTo>
                <a:close/>
              </a:path>
            </a:pathLst>
          </a:cu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A85067D-406E-8FBD-CAD7-FC3FEDE4100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4427" r="11071"/>
          <a:stretch>
            <a:fillRect/>
          </a:stretch>
        </p:blipFill>
        <p:spPr>
          <a:xfrm>
            <a:off x="1" y="4917240"/>
            <a:ext cx="12192060" cy="522037"/>
          </a:xfrm>
          <a:custGeom>
            <a:avLst/>
            <a:gdLst>
              <a:gd name="connsiteX0" fmla="*/ 0 w 12192060"/>
              <a:gd name="connsiteY0" fmla="*/ 0 h 522037"/>
              <a:gd name="connsiteX1" fmla="*/ 12192060 w 12192060"/>
              <a:gd name="connsiteY1" fmla="*/ 0 h 522037"/>
              <a:gd name="connsiteX2" fmla="*/ 12192060 w 12192060"/>
              <a:gd name="connsiteY2" fmla="*/ 522037 h 522037"/>
              <a:gd name="connsiteX3" fmla="*/ 0 w 12192060"/>
              <a:gd name="connsiteY3" fmla="*/ 522037 h 522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60" h="522037">
                <a:moveTo>
                  <a:pt x="0" y="0"/>
                </a:moveTo>
                <a:lnTo>
                  <a:pt x="12192060" y="0"/>
                </a:lnTo>
                <a:lnTo>
                  <a:pt x="12192060" y="522037"/>
                </a:lnTo>
                <a:lnTo>
                  <a:pt x="0" y="522037"/>
                </a:lnTo>
                <a:close/>
              </a:path>
            </a:pathLst>
          </a:cu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CC84229-A616-7DBF-80DE-339B893E9C3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6010" t="41466"/>
          <a:stretch>
            <a:fillRect/>
          </a:stretch>
        </p:blipFill>
        <p:spPr>
          <a:xfrm>
            <a:off x="2" y="2"/>
            <a:ext cx="3767431" cy="1009819"/>
          </a:xfrm>
          <a:custGeom>
            <a:avLst/>
            <a:gdLst>
              <a:gd name="connsiteX0" fmla="*/ 0 w 3767431"/>
              <a:gd name="connsiteY0" fmla="*/ 0 h 1009819"/>
              <a:gd name="connsiteX1" fmla="*/ 3767431 w 3767431"/>
              <a:gd name="connsiteY1" fmla="*/ 0 h 1009819"/>
              <a:gd name="connsiteX2" fmla="*/ 3767431 w 3767431"/>
              <a:gd name="connsiteY2" fmla="*/ 1009819 h 1009819"/>
              <a:gd name="connsiteX3" fmla="*/ 0 w 3767431"/>
              <a:gd name="connsiteY3" fmla="*/ 1009819 h 100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7431" h="1009819">
                <a:moveTo>
                  <a:pt x="0" y="0"/>
                </a:moveTo>
                <a:lnTo>
                  <a:pt x="3767431" y="0"/>
                </a:lnTo>
                <a:lnTo>
                  <a:pt x="3767431" y="1009819"/>
                </a:lnTo>
                <a:lnTo>
                  <a:pt x="0" y="1009819"/>
                </a:lnTo>
                <a:close/>
              </a:path>
            </a:pathLst>
          </a:cu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FF238C4-81CD-3A8B-6CD4-36EC3C74A82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4427" r="11071"/>
          <a:stretch>
            <a:fillRect/>
          </a:stretch>
        </p:blipFill>
        <p:spPr>
          <a:xfrm>
            <a:off x="1" y="5590419"/>
            <a:ext cx="12192060" cy="522037"/>
          </a:xfrm>
          <a:custGeom>
            <a:avLst/>
            <a:gdLst>
              <a:gd name="connsiteX0" fmla="*/ 0 w 12192060"/>
              <a:gd name="connsiteY0" fmla="*/ 0 h 522037"/>
              <a:gd name="connsiteX1" fmla="*/ 12192060 w 12192060"/>
              <a:gd name="connsiteY1" fmla="*/ 0 h 522037"/>
              <a:gd name="connsiteX2" fmla="*/ 12192060 w 12192060"/>
              <a:gd name="connsiteY2" fmla="*/ 522037 h 522037"/>
              <a:gd name="connsiteX3" fmla="*/ 0 w 12192060"/>
              <a:gd name="connsiteY3" fmla="*/ 522037 h 522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60" h="522037">
                <a:moveTo>
                  <a:pt x="0" y="0"/>
                </a:moveTo>
                <a:lnTo>
                  <a:pt x="12192060" y="0"/>
                </a:lnTo>
                <a:lnTo>
                  <a:pt x="12192060" y="522037"/>
                </a:lnTo>
                <a:lnTo>
                  <a:pt x="0" y="522037"/>
                </a:lnTo>
                <a:close/>
              </a:path>
            </a:pathLst>
          </a:cu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63E3A363-145F-206F-266C-B9E2B0FAB7DD}"/>
              </a:ext>
            </a:extLst>
          </p:cNvPr>
          <p:cNvSpPr/>
          <p:nvPr userDrawn="1"/>
        </p:nvSpPr>
        <p:spPr>
          <a:xfrm>
            <a:off x="9250598" y="471605"/>
            <a:ext cx="2157097" cy="2157097"/>
          </a:xfrm>
          <a:prstGeom prst="ellipse">
            <a:avLst/>
          </a:prstGeom>
          <a:solidFill>
            <a:schemeClr val="accent4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DE02E05-595A-16CF-6266-62538DFC16D0}"/>
              </a:ext>
            </a:extLst>
          </p:cNvPr>
          <p:cNvSpPr/>
          <p:nvPr userDrawn="1"/>
        </p:nvSpPr>
        <p:spPr>
          <a:xfrm>
            <a:off x="7940285" y="4985135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D85649E-04BD-5186-BD79-8AA93DD3249B}"/>
              </a:ext>
            </a:extLst>
          </p:cNvPr>
          <p:cNvSpPr/>
          <p:nvPr userDrawn="1"/>
        </p:nvSpPr>
        <p:spPr>
          <a:xfrm>
            <a:off x="7940285" y="5679283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53DCF60-4DBD-60A8-147B-E448AF1810D5}"/>
              </a:ext>
            </a:extLst>
          </p:cNvPr>
          <p:cNvSpPr/>
          <p:nvPr userDrawn="1"/>
        </p:nvSpPr>
        <p:spPr>
          <a:xfrm>
            <a:off x="2930516" y="246834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9CAD9A-42EA-5081-7FB2-7E583DDE1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4912" y="2359152"/>
            <a:ext cx="6528816" cy="1883664"/>
          </a:xfrm>
        </p:spPr>
        <p:txBody>
          <a:bodyPr anchor="t">
            <a:noAutofit/>
          </a:bodyPr>
          <a:lstStyle>
            <a:lvl1pPr algn="l">
              <a:defRPr sz="5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B3C71F-CB44-ACA0-AF0E-CD2A4DA71F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4912" y="1947672"/>
            <a:ext cx="5943600" cy="41148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0FD1BB09-A7ED-BA2F-D5C0-000FA9FC2469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3498771">
            <a:off x="1238845" y="2129773"/>
            <a:ext cx="1501346" cy="150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755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7F9A3535-D85B-F023-B8C0-28D2FEAAD9E0}"/>
              </a:ext>
            </a:extLst>
          </p:cNvPr>
          <p:cNvGrpSpPr/>
          <p:nvPr userDrawn="1"/>
        </p:nvGrpSpPr>
        <p:grpSpPr>
          <a:xfrm>
            <a:off x="1" y="3827512"/>
            <a:ext cx="12198945" cy="3030489"/>
            <a:chOff x="1" y="3827512"/>
            <a:chExt cx="12198945" cy="3030489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C11C7D54-0954-B838-DA12-86EA86543A54}"/>
                </a:ext>
              </a:extLst>
            </p:cNvPr>
            <p:cNvSpPr/>
            <p:nvPr userDrawn="1"/>
          </p:nvSpPr>
          <p:spPr>
            <a:xfrm>
              <a:off x="11488761" y="5133340"/>
              <a:ext cx="521208" cy="1724660"/>
            </a:xfrm>
            <a:custGeom>
              <a:avLst/>
              <a:gdLst>
                <a:gd name="connsiteX0" fmla="*/ 834 w 513332"/>
                <a:gd name="connsiteY0" fmla="*/ -1393 h 1623974"/>
                <a:gd name="connsiteX1" fmla="*/ 514166 w 513332"/>
                <a:gd name="connsiteY1" fmla="*/ -1393 h 1623974"/>
                <a:gd name="connsiteX2" fmla="*/ 514166 w 513332"/>
                <a:gd name="connsiteY2" fmla="*/ 1622582 h 1623974"/>
                <a:gd name="connsiteX3" fmla="*/ 834 w 513332"/>
                <a:gd name="connsiteY3" fmla="*/ 1622582 h 1623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3332" h="1623974">
                  <a:moveTo>
                    <a:pt x="834" y="-1393"/>
                  </a:moveTo>
                  <a:lnTo>
                    <a:pt x="514166" y="-1393"/>
                  </a:lnTo>
                  <a:lnTo>
                    <a:pt x="514166" y="1622582"/>
                  </a:lnTo>
                  <a:lnTo>
                    <a:pt x="834" y="1622582"/>
                  </a:lnTo>
                  <a:close/>
                </a:path>
              </a:pathLst>
            </a:custGeom>
            <a:solidFill>
              <a:schemeClr val="accent1"/>
            </a:solidFill>
            <a:ln w="282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E49D87C6-232E-E91C-0D76-756637414E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9291" r="42583" b="30832"/>
            <a:stretch>
              <a:fillRect/>
            </a:stretch>
          </p:blipFill>
          <p:spPr>
            <a:xfrm>
              <a:off x="1" y="3827512"/>
              <a:ext cx="12198945" cy="3030489"/>
            </a:xfrm>
            <a:custGeom>
              <a:avLst/>
              <a:gdLst>
                <a:gd name="connsiteX0" fmla="*/ 0 w 12198945"/>
                <a:gd name="connsiteY0" fmla="*/ 0 h 3030489"/>
                <a:gd name="connsiteX1" fmla="*/ 12198945 w 12198945"/>
                <a:gd name="connsiteY1" fmla="*/ 0 h 3030489"/>
                <a:gd name="connsiteX2" fmla="*/ 12198945 w 12198945"/>
                <a:gd name="connsiteY2" fmla="*/ 1369519 h 3030489"/>
                <a:gd name="connsiteX3" fmla="*/ 11240822 w 12198945"/>
                <a:gd name="connsiteY3" fmla="*/ 1369519 h 3030489"/>
                <a:gd name="connsiteX4" fmla="*/ 11240822 w 12198945"/>
                <a:gd name="connsiteY4" fmla="*/ 3030489 h 3030489"/>
                <a:gd name="connsiteX5" fmla="*/ 0 w 12198945"/>
                <a:gd name="connsiteY5" fmla="*/ 3030489 h 3030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8945" h="3030489">
                  <a:moveTo>
                    <a:pt x="0" y="0"/>
                  </a:moveTo>
                  <a:lnTo>
                    <a:pt x="12198945" y="0"/>
                  </a:lnTo>
                  <a:lnTo>
                    <a:pt x="12198945" y="1369519"/>
                  </a:lnTo>
                  <a:lnTo>
                    <a:pt x="11240822" y="1369519"/>
                  </a:lnTo>
                  <a:lnTo>
                    <a:pt x="11240822" y="3030489"/>
                  </a:lnTo>
                  <a:lnTo>
                    <a:pt x="0" y="3030489"/>
                  </a:lnTo>
                  <a:close/>
                </a:path>
              </a:pathLst>
            </a:cu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2121408"/>
            <a:ext cx="6510528" cy="3578352"/>
          </a:xfrm>
        </p:spPr>
        <p:txBody>
          <a:bodyPr/>
          <a:lstStyle>
            <a:lvl1pPr marL="0" indent="0">
              <a:buNone/>
              <a:defRPr sz="1800"/>
            </a:lvl1pPr>
            <a:lvl2pPr marL="283464">
              <a:defRPr sz="1800"/>
            </a:lvl2pPr>
            <a:lvl3pPr marL="566928">
              <a:defRPr sz="1600"/>
            </a:lvl3pPr>
            <a:lvl4pPr marL="758952">
              <a:defRPr sz="1400"/>
            </a:lvl4pPr>
            <a:lvl5pPr marL="1042416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3602100-4B1B-08F9-3FE3-A39515512D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11" name="Freeform 65">
            <a:extLst>
              <a:ext uri="{FF2B5EF4-FFF2-40B4-BE49-F238E27FC236}">
                <a16:creationId xmlns:a16="http://schemas.microsoft.com/office/drawing/2014/main" id="{232AA84F-639D-A24B-BB67-2694CC069C65}"/>
              </a:ext>
            </a:extLst>
          </p:cNvPr>
          <p:cNvSpPr/>
          <p:nvPr/>
        </p:nvSpPr>
        <p:spPr>
          <a:xfrm>
            <a:off x="838989" y="5178370"/>
            <a:ext cx="2157098" cy="1679630"/>
          </a:xfrm>
          <a:custGeom>
            <a:avLst/>
            <a:gdLst>
              <a:gd name="connsiteX0" fmla="*/ 1078549 w 2157098"/>
              <a:gd name="connsiteY0" fmla="*/ 0 h 1679630"/>
              <a:gd name="connsiteX1" fmla="*/ 2157098 w 2157098"/>
              <a:gd name="connsiteY1" fmla="*/ 1078549 h 1679630"/>
              <a:gd name="connsiteX2" fmla="*/ 2072341 w 2157098"/>
              <a:gd name="connsiteY2" fmla="*/ 1498369 h 1679630"/>
              <a:gd name="connsiteX3" fmla="*/ 1973955 w 2157098"/>
              <a:gd name="connsiteY3" fmla="*/ 1679630 h 1679630"/>
              <a:gd name="connsiteX4" fmla="*/ 183143 w 2157098"/>
              <a:gd name="connsiteY4" fmla="*/ 1679630 h 1679630"/>
              <a:gd name="connsiteX5" fmla="*/ 84758 w 2157098"/>
              <a:gd name="connsiteY5" fmla="*/ 1498369 h 1679630"/>
              <a:gd name="connsiteX6" fmla="*/ 0 w 2157098"/>
              <a:gd name="connsiteY6" fmla="*/ 1078549 h 1679630"/>
              <a:gd name="connsiteX7" fmla="*/ 1078549 w 2157098"/>
              <a:gd name="connsiteY7" fmla="*/ 0 h 1679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57098" h="1679630">
                <a:moveTo>
                  <a:pt x="1078549" y="0"/>
                </a:moveTo>
                <a:cubicBezTo>
                  <a:pt x="1674215" y="0"/>
                  <a:pt x="2157098" y="482883"/>
                  <a:pt x="2157098" y="1078549"/>
                </a:cubicBezTo>
                <a:cubicBezTo>
                  <a:pt x="2157098" y="1227466"/>
                  <a:pt x="2126918" y="1369333"/>
                  <a:pt x="2072341" y="1498369"/>
                </a:cubicBezTo>
                <a:lnTo>
                  <a:pt x="1973955" y="1679630"/>
                </a:lnTo>
                <a:lnTo>
                  <a:pt x="183143" y="1679630"/>
                </a:lnTo>
                <a:lnTo>
                  <a:pt x="84758" y="1498369"/>
                </a:lnTo>
                <a:cubicBezTo>
                  <a:pt x="30180" y="1369333"/>
                  <a:pt x="0" y="1227466"/>
                  <a:pt x="0" y="1078549"/>
                </a:cubicBezTo>
                <a:cubicBezTo>
                  <a:pt x="0" y="482883"/>
                  <a:pt x="482883" y="0"/>
                  <a:pt x="1078549" y="0"/>
                </a:cubicBezTo>
                <a:close/>
              </a:path>
            </a:pathLst>
          </a:custGeom>
          <a:solidFill>
            <a:schemeClr val="accent4">
              <a:alpha val="8321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39B8E7B-82C3-F9D6-9E34-8F76C40C8539}"/>
              </a:ext>
            </a:extLst>
          </p:cNvPr>
          <p:cNvSpPr/>
          <p:nvPr/>
        </p:nvSpPr>
        <p:spPr>
          <a:xfrm>
            <a:off x="9626717" y="4990918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Footer Placeholder 59">
            <a:extLst>
              <a:ext uri="{FF2B5EF4-FFF2-40B4-BE49-F238E27FC236}">
                <a16:creationId xmlns:a16="http://schemas.microsoft.com/office/drawing/2014/main" id="{EACDB755-CEBA-6C68-443D-525463E80DA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1" name="Slide Number Placeholder 60">
            <a:extLst>
              <a:ext uri="{FF2B5EF4-FFF2-40B4-BE49-F238E27FC236}">
                <a16:creationId xmlns:a16="http://schemas.microsoft.com/office/drawing/2014/main" id="{307D0F4E-2944-C947-2B6E-0547303F25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239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438912"/>
            <a:ext cx="8762246" cy="1325880"/>
          </a:xfrm>
        </p:spPr>
        <p:txBody>
          <a:bodyPr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596636-128C-4D64-E63E-16619F5CDF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892808"/>
            <a:ext cx="8659368" cy="749808"/>
          </a:xfrm>
          <a:solidFill>
            <a:schemeClr val="accent1">
              <a:lumMod val="75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5E065C5-B7CB-9146-3A7C-A6F39CA9B2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83880" y="1792224"/>
            <a:ext cx="960120" cy="96012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D0306DB-B174-37A8-719D-C89F9EE118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2891790"/>
            <a:ext cx="8659368" cy="749808"/>
          </a:xfrm>
          <a:solidFill>
            <a:schemeClr val="accent2">
              <a:lumMod val="75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D80DBC95-A30E-E3C3-6A02-0DE7F6995B6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83880" y="2784348"/>
            <a:ext cx="960120" cy="9601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FF0762B-1AD3-943D-F4CC-9D5CF57405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3890772"/>
            <a:ext cx="8659368" cy="749808"/>
          </a:xfrm>
          <a:solidFill>
            <a:schemeClr val="accent4">
              <a:lumMod val="75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51060427-2619-E83D-D977-65854C7AA3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83880" y="3776472"/>
            <a:ext cx="960120" cy="96012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B28E366-646A-5633-0E0C-1BB99B27FDD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4889754"/>
            <a:ext cx="8659368" cy="749808"/>
          </a:xfrm>
          <a:solidFill>
            <a:schemeClr val="tx1">
              <a:lumMod val="90000"/>
              <a:lumOff val="10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2A38A746-8D71-1D08-BD7B-347D1E5985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3880" y="4768596"/>
            <a:ext cx="960120" cy="960120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B500DDB-4549-EAE1-1AA8-DBD382D2B9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5888736"/>
            <a:ext cx="8659368" cy="749808"/>
          </a:xfrm>
          <a:solidFill>
            <a:schemeClr val="accent3">
              <a:lumMod val="75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EC619F49-49DD-DF7B-37A0-6104FF3C2B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83880" y="5760720"/>
            <a:ext cx="960120" cy="96012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161961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 hidden="1">
            <a:extLst>
              <a:ext uri="{FF2B5EF4-FFF2-40B4-BE49-F238E27FC236}">
                <a16:creationId xmlns:a16="http://schemas.microsoft.com/office/drawing/2014/main" id="{25EA7C35-FF1A-FBFD-05A2-718EB0D16B65}"/>
              </a:ext>
            </a:extLst>
          </p:cNvPr>
          <p:cNvSpPr/>
          <p:nvPr/>
        </p:nvSpPr>
        <p:spPr>
          <a:xfrm>
            <a:off x="233681" y="2011679"/>
            <a:ext cx="3195438" cy="3286867"/>
          </a:xfrm>
          <a:custGeom>
            <a:avLst/>
            <a:gdLst>
              <a:gd name="connsiteX0" fmla="*/ 2213 w 9357201"/>
              <a:gd name="connsiteY0" fmla="*/ -650 h 3276674"/>
              <a:gd name="connsiteX1" fmla="*/ 8009370 w 9357201"/>
              <a:gd name="connsiteY1" fmla="*/ -650 h 3276674"/>
              <a:gd name="connsiteX2" fmla="*/ 9359415 w 9357201"/>
              <a:gd name="connsiteY2" fmla="*/ 1355860 h 3276674"/>
              <a:gd name="connsiteX3" fmla="*/ 9359415 w 9357201"/>
              <a:gd name="connsiteY3" fmla="*/ 3276024 h 3276674"/>
              <a:gd name="connsiteX0" fmla="*/ 0 w 9357202"/>
              <a:gd name="connsiteY0" fmla="*/ 33 h 3276707"/>
              <a:gd name="connsiteX1" fmla="*/ 5765524 w 9357202"/>
              <a:gd name="connsiteY1" fmla="*/ 0 h 3276707"/>
              <a:gd name="connsiteX2" fmla="*/ 8007157 w 9357202"/>
              <a:gd name="connsiteY2" fmla="*/ 33 h 3276707"/>
              <a:gd name="connsiteX3" fmla="*/ 9357202 w 9357202"/>
              <a:gd name="connsiteY3" fmla="*/ 1356543 h 3276707"/>
              <a:gd name="connsiteX4" fmla="*/ 9357202 w 9357202"/>
              <a:gd name="connsiteY4" fmla="*/ 3276707 h 3276707"/>
              <a:gd name="connsiteX0" fmla="*/ 0 w 3591678"/>
              <a:gd name="connsiteY0" fmla="*/ 0 h 3276707"/>
              <a:gd name="connsiteX1" fmla="*/ 2241633 w 3591678"/>
              <a:gd name="connsiteY1" fmla="*/ 33 h 3276707"/>
              <a:gd name="connsiteX2" fmla="*/ 3591678 w 3591678"/>
              <a:gd name="connsiteY2" fmla="*/ 1356543 h 3276707"/>
              <a:gd name="connsiteX3" fmla="*/ 3591678 w 3591678"/>
              <a:gd name="connsiteY3" fmla="*/ 3276707 h 3276707"/>
              <a:gd name="connsiteX0" fmla="*/ 0 w 3408798"/>
              <a:gd name="connsiteY0" fmla="*/ 0 h 3276707"/>
              <a:gd name="connsiteX1" fmla="*/ 2058753 w 3408798"/>
              <a:gd name="connsiteY1" fmla="*/ 33 h 3276707"/>
              <a:gd name="connsiteX2" fmla="*/ 3408798 w 3408798"/>
              <a:gd name="connsiteY2" fmla="*/ 1356543 h 3276707"/>
              <a:gd name="connsiteX3" fmla="*/ 3408798 w 3408798"/>
              <a:gd name="connsiteY3" fmla="*/ 3276707 h 3276707"/>
              <a:gd name="connsiteX0" fmla="*/ 0 w 3225918"/>
              <a:gd name="connsiteY0" fmla="*/ 0 h 3286867"/>
              <a:gd name="connsiteX1" fmla="*/ 1875873 w 3225918"/>
              <a:gd name="connsiteY1" fmla="*/ 10193 h 3286867"/>
              <a:gd name="connsiteX2" fmla="*/ 3225918 w 3225918"/>
              <a:gd name="connsiteY2" fmla="*/ 1366703 h 3286867"/>
              <a:gd name="connsiteX3" fmla="*/ 3225918 w 3225918"/>
              <a:gd name="connsiteY3" fmla="*/ 3286867 h 3286867"/>
              <a:gd name="connsiteX0" fmla="*/ 0 w 3195438"/>
              <a:gd name="connsiteY0" fmla="*/ 0 h 3286867"/>
              <a:gd name="connsiteX1" fmla="*/ 1845393 w 3195438"/>
              <a:gd name="connsiteY1" fmla="*/ 10193 h 3286867"/>
              <a:gd name="connsiteX2" fmla="*/ 3195438 w 3195438"/>
              <a:gd name="connsiteY2" fmla="*/ 1366703 h 3286867"/>
              <a:gd name="connsiteX3" fmla="*/ 3195438 w 3195438"/>
              <a:gd name="connsiteY3" fmla="*/ 3286867 h 3286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5438" h="3286867">
                <a:moveTo>
                  <a:pt x="0" y="0"/>
                </a:moveTo>
                <a:lnTo>
                  <a:pt x="1845393" y="10193"/>
                </a:lnTo>
                <a:cubicBezTo>
                  <a:pt x="2591000" y="10193"/>
                  <a:pt x="3195438" y="617523"/>
                  <a:pt x="3195438" y="1366703"/>
                </a:cubicBezTo>
                <a:lnTo>
                  <a:pt x="3195438" y="3286867"/>
                </a:lnTo>
              </a:path>
            </a:pathLst>
          </a:custGeom>
          <a:noFill/>
          <a:ln w="510466" cap="sq">
            <a:solidFill>
              <a:srgbClr val="00AA59"/>
            </a:solidFill>
            <a:prstDash val="solid"/>
            <a:round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4" name="Freeform: Shape 23" hidden="1">
            <a:extLst>
              <a:ext uri="{FF2B5EF4-FFF2-40B4-BE49-F238E27FC236}">
                <a16:creationId xmlns:a16="http://schemas.microsoft.com/office/drawing/2014/main" id="{B09E8213-E4A1-3E30-9198-8B68ABEE82B8}"/>
              </a:ext>
            </a:extLst>
          </p:cNvPr>
          <p:cNvSpPr/>
          <p:nvPr/>
        </p:nvSpPr>
        <p:spPr>
          <a:xfrm>
            <a:off x="3429117" y="4725899"/>
            <a:ext cx="8510941" cy="1366196"/>
          </a:xfrm>
          <a:custGeom>
            <a:avLst/>
            <a:gdLst>
              <a:gd name="connsiteX0" fmla="*/ 10980107 w 10977893"/>
              <a:gd name="connsiteY0" fmla="*/ -650 h 1365979"/>
              <a:gd name="connsiteX1" fmla="*/ 10980107 w 10977893"/>
              <a:gd name="connsiteY1" fmla="*/ 789104 h 1365979"/>
              <a:gd name="connsiteX2" fmla="*/ 10357989 w 10977893"/>
              <a:gd name="connsiteY2" fmla="*/ 1365329 h 1365979"/>
              <a:gd name="connsiteX3" fmla="*/ 624331 w 10977893"/>
              <a:gd name="connsiteY3" fmla="*/ 1365329 h 1365979"/>
              <a:gd name="connsiteX4" fmla="*/ 2213 w 10977893"/>
              <a:gd name="connsiteY4" fmla="*/ 789104 h 1365979"/>
              <a:gd name="connsiteX5" fmla="*/ 2213 w 10977893"/>
              <a:gd name="connsiteY5" fmla="*/ -650 h 1365979"/>
              <a:gd name="connsiteX0" fmla="*/ 10977894 w 10977894"/>
              <a:gd name="connsiteY0" fmla="*/ 0 h 1365979"/>
              <a:gd name="connsiteX1" fmla="*/ 10977894 w 10977894"/>
              <a:gd name="connsiteY1" fmla="*/ 789754 h 1365979"/>
              <a:gd name="connsiteX2" fmla="*/ 10355776 w 10977894"/>
              <a:gd name="connsiteY2" fmla="*/ 1365979 h 1365979"/>
              <a:gd name="connsiteX3" fmla="*/ 8724301 w 10977894"/>
              <a:gd name="connsiteY3" fmla="*/ 1362386 h 1365979"/>
              <a:gd name="connsiteX4" fmla="*/ 622118 w 10977894"/>
              <a:gd name="connsiteY4" fmla="*/ 1365979 h 1365979"/>
              <a:gd name="connsiteX5" fmla="*/ 0 w 10977894"/>
              <a:gd name="connsiteY5" fmla="*/ 789754 h 1365979"/>
              <a:gd name="connsiteX6" fmla="*/ 0 w 10977894"/>
              <a:gd name="connsiteY6" fmla="*/ 0 h 1365979"/>
              <a:gd name="connsiteX0" fmla="*/ 10977894 w 10977894"/>
              <a:gd name="connsiteY0" fmla="*/ 789754 h 1365979"/>
              <a:gd name="connsiteX1" fmla="*/ 10355776 w 10977894"/>
              <a:gd name="connsiteY1" fmla="*/ 1365979 h 1365979"/>
              <a:gd name="connsiteX2" fmla="*/ 8724301 w 10977894"/>
              <a:gd name="connsiteY2" fmla="*/ 1362386 h 1365979"/>
              <a:gd name="connsiteX3" fmla="*/ 622118 w 10977894"/>
              <a:gd name="connsiteY3" fmla="*/ 1365979 h 1365979"/>
              <a:gd name="connsiteX4" fmla="*/ 0 w 10977894"/>
              <a:gd name="connsiteY4" fmla="*/ 789754 h 1365979"/>
              <a:gd name="connsiteX5" fmla="*/ 0 w 10977894"/>
              <a:gd name="connsiteY5" fmla="*/ 0 h 1365979"/>
              <a:gd name="connsiteX0" fmla="*/ 10355776 w 10355776"/>
              <a:gd name="connsiteY0" fmla="*/ 1365979 h 1365979"/>
              <a:gd name="connsiteX1" fmla="*/ 8724301 w 10355776"/>
              <a:gd name="connsiteY1" fmla="*/ 1362386 h 1365979"/>
              <a:gd name="connsiteX2" fmla="*/ 622118 w 10355776"/>
              <a:gd name="connsiteY2" fmla="*/ 1365979 h 1365979"/>
              <a:gd name="connsiteX3" fmla="*/ 0 w 10355776"/>
              <a:gd name="connsiteY3" fmla="*/ 789754 h 1365979"/>
              <a:gd name="connsiteX4" fmla="*/ 0 w 10355776"/>
              <a:gd name="connsiteY4" fmla="*/ 0 h 1365979"/>
              <a:gd name="connsiteX0" fmla="*/ 8724301 w 8724301"/>
              <a:gd name="connsiteY0" fmla="*/ 1362386 h 1365979"/>
              <a:gd name="connsiteX1" fmla="*/ 622118 w 8724301"/>
              <a:gd name="connsiteY1" fmla="*/ 1365979 h 1365979"/>
              <a:gd name="connsiteX2" fmla="*/ 0 w 8724301"/>
              <a:gd name="connsiteY2" fmla="*/ 789754 h 1365979"/>
              <a:gd name="connsiteX3" fmla="*/ 0 w 8724301"/>
              <a:gd name="connsiteY3" fmla="*/ 0 h 1365979"/>
              <a:gd name="connsiteX0" fmla="*/ 8510941 w 8510941"/>
              <a:gd name="connsiteY0" fmla="*/ 1366196 h 1366196"/>
              <a:gd name="connsiteX1" fmla="*/ 622118 w 8510941"/>
              <a:gd name="connsiteY1" fmla="*/ 1365979 h 1366196"/>
              <a:gd name="connsiteX2" fmla="*/ 0 w 8510941"/>
              <a:gd name="connsiteY2" fmla="*/ 789754 h 1366196"/>
              <a:gd name="connsiteX3" fmla="*/ 0 w 8510941"/>
              <a:gd name="connsiteY3" fmla="*/ 0 h 1366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10941" h="1366196">
                <a:moveTo>
                  <a:pt x="8510941" y="1366196"/>
                </a:moveTo>
                <a:lnTo>
                  <a:pt x="622118" y="1365979"/>
                </a:lnTo>
                <a:cubicBezTo>
                  <a:pt x="278520" y="1365979"/>
                  <a:pt x="0" y="1107979"/>
                  <a:pt x="0" y="789754"/>
                </a:cubicBezTo>
                <a:lnTo>
                  <a:pt x="0" y="0"/>
                </a:lnTo>
              </a:path>
            </a:pathLst>
          </a:custGeom>
          <a:noFill/>
          <a:ln w="510466" cap="sq">
            <a:solidFill>
              <a:srgbClr val="00AA59"/>
            </a:solidFill>
            <a:prstDash val="solid"/>
            <a:round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A67CFF6C-EDBA-8B95-5C93-0B4BB5939B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507" r="12032"/>
          <a:stretch/>
        </p:blipFill>
        <p:spPr>
          <a:xfrm>
            <a:off x="0" y="1779373"/>
            <a:ext cx="12192000" cy="4583992"/>
          </a:xfrm>
          <a:custGeom>
            <a:avLst/>
            <a:gdLst>
              <a:gd name="connsiteX0" fmla="*/ 0 w 12192000"/>
              <a:gd name="connsiteY0" fmla="*/ 0 h 4583992"/>
              <a:gd name="connsiteX1" fmla="*/ 12192000 w 12192000"/>
              <a:gd name="connsiteY1" fmla="*/ 0 h 4583992"/>
              <a:gd name="connsiteX2" fmla="*/ 12192000 w 12192000"/>
              <a:gd name="connsiteY2" fmla="*/ 2190264 h 4583992"/>
              <a:gd name="connsiteX3" fmla="*/ 12187938 w 12192000"/>
              <a:gd name="connsiteY3" fmla="*/ 2190264 h 4583992"/>
              <a:gd name="connsiteX4" fmla="*/ 12187938 w 12192000"/>
              <a:gd name="connsiteY4" fmla="*/ 4583992 h 4583992"/>
              <a:gd name="connsiteX5" fmla="*/ 0 w 12192000"/>
              <a:gd name="connsiteY5" fmla="*/ 4583992 h 4583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583992">
                <a:moveTo>
                  <a:pt x="0" y="0"/>
                </a:moveTo>
                <a:lnTo>
                  <a:pt x="12192000" y="0"/>
                </a:lnTo>
                <a:lnTo>
                  <a:pt x="12192000" y="2190264"/>
                </a:lnTo>
                <a:lnTo>
                  <a:pt x="12187938" y="2190264"/>
                </a:lnTo>
                <a:lnTo>
                  <a:pt x="12187938" y="4583992"/>
                </a:lnTo>
                <a:lnTo>
                  <a:pt x="0" y="4583992"/>
                </a:lnTo>
                <a:close/>
              </a:path>
            </a:pathLst>
          </a:cu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1FEFD686-81C7-A517-F1C0-0C3D3EF340F2}"/>
              </a:ext>
            </a:extLst>
          </p:cNvPr>
          <p:cNvSpPr/>
          <p:nvPr/>
        </p:nvSpPr>
        <p:spPr>
          <a:xfrm>
            <a:off x="767250" y="3628115"/>
            <a:ext cx="1628275" cy="1628275"/>
          </a:xfrm>
          <a:prstGeom prst="ellipse">
            <a:avLst/>
          </a:prstGeom>
          <a:solidFill>
            <a:schemeClr val="accent4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032612E-888F-3F52-2DF9-1A7FC1C338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707"/>
          <a:stretch>
            <a:fillRect/>
          </a:stretch>
        </p:blipFill>
        <p:spPr>
          <a:xfrm>
            <a:off x="5315713" y="5020135"/>
            <a:ext cx="6718341" cy="1871772"/>
          </a:xfrm>
          <a:custGeom>
            <a:avLst/>
            <a:gdLst>
              <a:gd name="connsiteX0" fmla="*/ 0 w 6718341"/>
              <a:gd name="connsiteY0" fmla="*/ 0 h 1871772"/>
              <a:gd name="connsiteX1" fmla="*/ 6718341 w 6718341"/>
              <a:gd name="connsiteY1" fmla="*/ 0 h 1871772"/>
              <a:gd name="connsiteX2" fmla="*/ 6718341 w 6718341"/>
              <a:gd name="connsiteY2" fmla="*/ 1871772 h 1871772"/>
              <a:gd name="connsiteX3" fmla="*/ 0 w 6718341"/>
              <a:gd name="connsiteY3" fmla="*/ 1871772 h 1871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18341" h="1871772">
                <a:moveTo>
                  <a:pt x="0" y="0"/>
                </a:moveTo>
                <a:lnTo>
                  <a:pt x="6718341" y="0"/>
                </a:lnTo>
                <a:lnTo>
                  <a:pt x="6718341" y="1871772"/>
                </a:lnTo>
                <a:lnTo>
                  <a:pt x="0" y="1871772"/>
                </a:lnTo>
                <a:close/>
              </a:path>
            </a:pathLst>
          </a:cu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3CA6479C-DB58-C182-DA46-646A89A79A6F}"/>
              </a:ext>
            </a:extLst>
          </p:cNvPr>
          <p:cNvSpPr/>
          <p:nvPr/>
        </p:nvSpPr>
        <p:spPr>
          <a:xfrm>
            <a:off x="11469607" y="5904458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40F0BF7-907A-B0C3-5845-78EDA851891C}"/>
              </a:ext>
            </a:extLst>
          </p:cNvPr>
          <p:cNvSpPr/>
          <p:nvPr/>
        </p:nvSpPr>
        <p:spPr>
          <a:xfrm>
            <a:off x="3000866" y="2411479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5D287EAB-26E8-C8AF-6CB0-D37B7CB370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4165" t="77500"/>
          <a:stretch>
            <a:fillRect/>
          </a:stretch>
        </p:blipFill>
        <p:spPr>
          <a:xfrm flipH="1">
            <a:off x="7732665" y="0"/>
            <a:ext cx="4459335" cy="1543022"/>
          </a:xfrm>
          <a:custGeom>
            <a:avLst/>
            <a:gdLst>
              <a:gd name="connsiteX0" fmla="*/ 0 w 4459335"/>
              <a:gd name="connsiteY0" fmla="*/ 0 h 1543022"/>
              <a:gd name="connsiteX1" fmla="*/ 4459335 w 4459335"/>
              <a:gd name="connsiteY1" fmla="*/ 0 h 1543022"/>
              <a:gd name="connsiteX2" fmla="*/ 4459335 w 4459335"/>
              <a:gd name="connsiteY2" fmla="*/ 1543022 h 1543022"/>
              <a:gd name="connsiteX3" fmla="*/ 0 w 4459335"/>
              <a:gd name="connsiteY3" fmla="*/ 1543022 h 154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335" h="1543022">
                <a:moveTo>
                  <a:pt x="0" y="0"/>
                </a:moveTo>
                <a:lnTo>
                  <a:pt x="4459335" y="0"/>
                </a:lnTo>
                <a:lnTo>
                  <a:pt x="4459335" y="1543022"/>
                </a:lnTo>
                <a:lnTo>
                  <a:pt x="0" y="1543022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F5323F-6D74-29FA-F04C-027DF2809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744" y="2304288"/>
            <a:ext cx="5513832" cy="2432304"/>
          </a:xfrm>
        </p:spPr>
        <p:txBody>
          <a:bodyPr anchor="t">
            <a:no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54F95-4CC9-871D-2B3D-873AB0B21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52744" y="1885193"/>
            <a:ext cx="5943600" cy="41148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1099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722376"/>
            <a:ext cx="8870656" cy="76498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2404872"/>
            <a:ext cx="10716768" cy="3630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33A32FC-3A65-2B5F-2625-0FE903CD37D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DFD42C5-F2A8-2017-93FA-4A8F8A7CB7B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168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raphic 38">
            <a:extLst>
              <a:ext uri="{FF2B5EF4-FFF2-40B4-BE49-F238E27FC236}">
                <a16:creationId xmlns:a16="http://schemas.microsoft.com/office/drawing/2014/main" id="{0FA7F5A0-ECAD-A574-6649-C548018706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6427" r="82873"/>
          <a:stretch>
            <a:fillRect/>
          </a:stretch>
        </p:blipFill>
        <p:spPr>
          <a:xfrm>
            <a:off x="9233628" y="1"/>
            <a:ext cx="2958372" cy="6105105"/>
          </a:xfrm>
          <a:custGeom>
            <a:avLst/>
            <a:gdLst>
              <a:gd name="connsiteX0" fmla="*/ 0 w 2958372"/>
              <a:gd name="connsiteY0" fmla="*/ 0 h 6105105"/>
              <a:gd name="connsiteX1" fmla="*/ 2958372 w 2958372"/>
              <a:gd name="connsiteY1" fmla="*/ 0 h 6105105"/>
              <a:gd name="connsiteX2" fmla="*/ 2958372 w 2958372"/>
              <a:gd name="connsiteY2" fmla="*/ 6105105 h 6105105"/>
              <a:gd name="connsiteX3" fmla="*/ 0 w 2958372"/>
              <a:gd name="connsiteY3" fmla="*/ 6105105 h 6105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58372" h="6105105">
                <a:moveTo>
                  <a:pt x="0" y="0"/>
                </a:moveTo>
                <a:lnTo>
                  <a:pt x="2958372" y="0"/>
                </a:lnTo>
                <a:lnTo>
                  <a:pt x="2958372" y="6105105"/>
                </a:lnTo>
                <a:lnTo>
                  <a:pt x="0" y="6105105"/>
                </a:lnTo>
                <a:close/>
              </a:path>
            </a:pathLst>
          </a:cu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98CD520B-B465-7A6D-37C4-8A060446902D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C4684B3-A8D3-6A9A-C264-95DFAD1C3FCE}"/>
              </a:ext>
            </a:extLst>
          </p:cNvPr>
          <p:cNvSpPr/>
          <p:nvPr/>
        </p:nvSpPr>
        <p:spPr>
          <a:xfrm>
            <a:off x="9300014" y="2633978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722376"/>
            <a:ext cx="8870656" cy="76498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2221992"/>
            <a:ext cx="8284464" cy="3986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1E68FE-16F1-5C98-AEF6-0EAB9EA632CA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Footer Placeholder 39">
            <a:extLst>
              <a:ext uri="{FF2B5EF4-FFF2-40B4-BE49-F238E27FC236}">
                <a16:creationId xmlns:a16="http://schemas.microsoft.com/office/drawing/2014/main" id="{8727F01E-45EF-F70F-2A04-1EA69A24634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C388A650-32E8-11EC-26EE-D260D1953D5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136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raphic 76">
            <a:extLst>
              <a:ext uri="{FF2B5EF4-FFF2-40B4-BE49-F238E27FC236}">
                <a16:creationId xmlns:a16="http://schemas.microsoft.com/office/drawing/2014/main" id="{527CC80A-3410-5824-B06B-C4176A6BF4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145" t="-169" r="45423" b="28675"/>
          <a:stretch/>
        </p:blipFill>
        <p:spPr>
          <a:xfrm>
            <a:off x="-1" y="3467101"/>
            <a:ext cx="12192001" cy="3390899"/>
          </a:xfrm>
          <a:custGeom>
            <a:avLst/>
            <a:gdLst>
              <a:gd name="connsiteX0" fmla="*/ 0 w 12192001"/>
              <a:gd name="connsiteY0" fmla="*/ 0 h 3390899"/>
              <a:gd name="connsiteX1" fmla="*/ 12192001 w 12192001"/>
              <a:gd name="connsiteY1" fmla="*/ 0 h 3390899"/>
              <a:gd name="connsiteX2" fmla="*/ 12192001 w 12192001"/>
              <a:gd name="connsiteY2" fmla="*/ 2324100 h 3390899"/>
              <a:gd name="connsiteX3" fmla="*/ 12192001 w 12192001"/>
              <a:gd name="connsiteY3" fmla="*/ 3390899 h 3390899"/>
              <a:gd name="connsiteX4" fmla="*/ 0 w 12192001"/>
              <a:gd name="connsiteY4" fmla="*/ 3390899 h 3390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1" h="3390899">
                <a:moveTo>
                  <a:pt x="0" y="0"/>
                </a:moveTo>
                <a:lnTo>
                  <a:pt x="12192001" y="0"/>
                </a:lnTo>
                <a:lnTo>
                  <a:pt x="12192001" y="2324100"/>
                </a:lnTo>
                <a:lnTo>
                  <a:pt x="12192001" y="3390899"/>
                </a:lnTo>
                <a:lnTo>
                  <a:pt x="0" y="3390899"/>
                </a:lnTo>
                <a:close/>
              </a:path>
            </a:pathLst>
          </a:custGeom>
        </p:spPr>
      </p:pic>
      <p:sp>
        <p:nvSpPr>
          <p:cNvPr id="53" name="Title 1">
            <a:extLst>
              <a:ext uri="{FF2B5EF4-FFF2-40B4-BE49-F238E27FC236}">
                <a16:creationId xmlns:a16="http://schemas.microsoft.com/office/drawing/2014/main" id="{CB607447-86F1-863F-176B-E0B78D243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16152"/>
            <a:ext cx="8951976" cy="3191256"/>
          </a:xfrm>
        </p:spPr>
        <p:txBody>
          <a:bodyPr anchor="t">
            <a:noAutofit/>
          </a:bodyPr>
          <a:lstStyle>
            <a:lvl1pPr>
              <a:defRPr sz="5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7" name="Graphic 12">
            <a:extLst>
              <a:ext uri="{FF2B5EF4-FFF2-40B4-BE49-F238E27FC236}">
                <a16:creationId xmlns:a16="http://schemas.microsoft.com/office/drawing/2014/main" id="{E5105AB7-2E65-757B-FF2B-CFE19C5C87B7}"/>
              </a:ext>
            </a:extLst>
          </p:cNvPr>
          <p:cNvSpPr/>
          <p:nvPr userDrawn="1"/>
        </p:nvSpPr>
        <p:spPr>
          <a:xfrm rot="5400000" flipV="1">
            <a:off x="8634864" y="3426822"/>
            <a:ext cx="6355080" cy="2810"/>
          </a:xfrm>
          <a:custGeom>
            <a:avLst/>
            <a:gdLst>
              <a:gd name="connsiteX0" fmla="*/ 13912003 w 13911910"/>
              <a:gd name="connsiteY0" fmla="*/ 95 h 2810"/>
              <a:gd name="connsiteX1" fmla="*/ 93 w 13911910"/>
              <a:gd name="connsiteY1" fmla="*/ 95 h 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911910" h="2810">
                <a:moveTo>
                  <a:pt x="13912003" y="95"/>
                </a:moveTo>
                <a:lnTo>
                  <a:pt x="93" y="95"/>
                </a:lnTo>
              </a:path>
            </a:pathLst>
          </a:custGeom>
          <a:noFill/>
          <a:ln w="508812" cap="sq">
            <a:solidFill>
              <a:schemeClr val="accent3">
                <a:alpha val="84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9" name="Graphic 12">
            <a:extLst>
              <a:ext uri="{FF2B5EF4-FFF2-40B4-BE49-F238E27FC236}">
                <a16:creationId xmlns:a16="http://schemas.microsoft.com/office/drawing/2014/main" id="{ECA42036-662E-03F7-941F-EDA42BEA5EDE}"/>
              </a:ext>
            </a:extLst>
          </p:cNvPr>
          <p:cNvSpPr/>
          <p:nvPr userDrawn="1"/>
        </p:nvSpPr>
        <p:spPr>
          <a:xfrm rot="5400000" flipV="1">
            <a:off x="7913504" y="3426822"/>
            <a:ext cx="6355080" cy="2810"/>
          </a:xfrm>
          <a:custGeom>
            <a:avLst/>
            <a:gdLst>
              <a:gd name="connsiteX0" fmla="*/ 13912003 w 13911910"/>
              <a:gd name="connsiteY0" fmla="*/ 95 h 2810"/>
              <a:gd name="connsiteX1" fmla="*/ 93 w 13911910"/>
              <a:gd name="connsiteY1" fmla="*/ 95 h 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911910" h="2810">
                <a:moveTo>
                  <a:pt x="13912003" y="95"/>
                </a:moveTo>
                <a:lnTo>
                  <a:pt x="93" y="95"/>
                </a:lnTo>
              </a:path>
            </a:pathLst>
          </a:custGeom>
          <a:noFill/>
          <a:ln w="508812" cap="sq">
            <a:solidFill>
              <a:schemeClr val="accent3">
                <a:alpha val="84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Freeform 47">
            <a:extLst>
              <a:ext uri="{FF2B5EF4-FFF2-40B4-BE49-F238E27FC236}">
                <a16:creationId xmlns:a16="http://schemas.microsoft.com/office/drawing/2014/main" id="{B90A79D3-C4F3-1056-F590-BFED7F28BC72}"/>
              </a:ext>
            </a:extLst>
          </p:cNvPr>
          <p:cNvSpPr/>
          <p:nvPr/>
        </p:nvSpPr>
        <p:spPr>
          <a:xfrm>
            <a:off x="685799" y="5342013"/>
            <a:ext cx="2157098" cy="1515987"/>
          </a:xfrm>
          <a:custGeom>
            <a:avLst/>
            <a:gdLst>
              <a:gd name="connsiteX0" fmla="*/ 1078549 w 2157098"/>
              <a:gd name="connsiteY0" fmla="*/ 0 h 1515987"/>
              <a:gd name="connsiteX1" fmla="*/ 2157098 w 2157098"/>
              <a:gd name="connsiteY1" fmla="*/ 1078549 h 1515987"/>
              <a:gd name="connsiteX2" fmla="*/ 2072340 w 2157098"/>
              <a:gd name="connsiteY2" fmla="*/ 1498369 h 1515987"/>
              <a:gd name="connsiteX3" fmla="*/ 2062778 w 2157098"/>
              <a:gd name="connsiteY3" fmla="*/ 1515987 h 1515987"/>
              <a:gd name="connsiteX4" fmla="*/ 94321 w 2157098"/>
              <a:gd name="connsiteY4" fmla="*/ 1515987 h 1515987"/>
              <a:gd name="connsiteX5" fmla="*/ 84758 w 2157098"/>
              <a:gd name="connsiteY5" fmla="*/ 1498369 h 1515987"/>
              <a:gd name="connsiteX6" fmla="*/ 0 w 2157098"/>
              <a:gd name="connsiteY6" fmla="*/ 1078549 h 1515987"/>
              <a:gd name="connsiteX7" fmla="*/ 1078549 w 2157098"/>
              <a:gd name="connsiteY7" fmla="*/ 0 h 1515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57098" h="1515987">
                <a:moveTo>
                  <a:pt x="1078549" y="0"/>
                </a:moveTo>
                <a:cubicBezTo>
                  <a:pt x="1674215" y="0"/>
                  <a:pt x="2157098" y="482883"/>
                  <a:pt x="2157098" y="1078549"/>
                </a:cubicBezTo>
                <a:cubicBezTo>
                  <a:pt x="2157098" y="1227466"/>
                  <a:pt x="2126918" y="1369333"/>
                  <a:pt x="2072340" y="1498369"/>
                </a:cubicBezTo>
                <a:lnTo>
                  <a:pt x="2062778" y="1515987"/>
                </a:lnTo>
                <a:lnTo>
                  <a:pt x="94321" y="1515987"/>
                </a:lnTo>
                <a:lnTo>
                  <a:pt x="84758" y="1498369"/>
                </a:lnTo>
                <a:cubicBezTo>
                  <a:pt x="30180" y="1369333"/>
                  <a:pt x="0" y="1227466"/>
                  <a:pt x="0" y="1078549"/>
                </a:cubicBezTo>
                <a:cubicBezTo>
                  <a:pt x="0" y="482883"/>
                  <a:pt x="482883" y="0"/>
                  <a:pt x="1078549" y="0"/>
                </a:cubicBezTo>
                <a:close/>
              </a:path>
            </a:pathLst>
          </a:custGeom>
          <a:solidFill>
            <a:schemeClr val="accent4">
              <a:alpha val="8321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1FFE4B3-23C8-22B1-E231-C5753166B687}"/>
              </a:ext>
            </a:extLst>
          </p:cNvPr>
          <p:cNvSpPr/>
          <p:nvPr/>
        </p:nvSpPr>
        <p:spPr>
          <a:xfrm>
            <a:off x="10905848" y="1063062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Graphic 25" hidden="1">
            <a:extLst>
              <a:ext uri="{FF2B5EF4-FFF2-40B4-BE49-F238E27FC236}">
                <a16:creationId xmlns:a16="http://schemas.microsoft.com/office/drawing/2014/main" id="{422E8005-83A8-3555-6EFB-842E78C629D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162"/>
          <a:stretch/>
        </p:blipFill>
        <p:spPr>
          <a:xfrm>
            <a:off x="-6187440" y="1779373"/>
            <a:ext cx="20888725" cy="4583992"/>
          </a:xfrm>
          <a:custGeom>
            <a:avLst/>
            <a:gdLst>
              <a:gd name="connsiteX0" fmla="*/ 6153662 w 20854947"/>
              <a:gd name="connsiteY0" fmla="*/ 0 h 4583992"/>
              <a:gd name="connsiteX1" fmla="*/ 20854947 w 20854947"/>
              <a:gd name="connsiteY1" fmla="*/ 0 h 4583992"/>
              <a:gd name="connsiteX2" fmla="*/ 20854947 w 20854947"/>
              <a:gd name="connsiteY2" fmla="*/ 2190264 h 4583992"/>
              <a:gd name="connsiteX3" fmla="*/ 18345663 w 20854947"/>
              <a:gd name="connsiteY3" fmla="*/ 2190264 h 4583992"/>
              <a:gd name="connsiteX4" fmla="*/ 18345663 w 20854947"/>
              <a:gd name="connsiteY4" fmla="*/ 4583992 h 4583992"/>
              <a:gd name="connsiteX5" fmla="*/ 0 w 20854947"/>
              <a:gd name="connsiteY5" fmla="*/ 4583992 h 4583992"/>
              <a:gd name="connsiteX6" fmla="*/ 0 w 20854947"/>
              <a:gd name="connsiteY6" fmla="*/ 4313374 h 4583992"/>
              <a:gd name="connsiteX7" fmla="*/ 6153662 w 20854947"/>
              <a:gd name="connsiteY7" fmla="*/ 4313374 h 4583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54947" h="4583992">
                <a:moveTo>
                  <a:pt x="6153662" y="0"/>
                </a:moveTo>
                <a:lnTo>
                  <a:pt x="20854947" y="0"/>
                </a:lnTo>
                <a:lnTo>
                  <a:pt x="20854947" y="2190264"/>
                </a:lnTo>
                <a:lnTo>
                  <a:pt x="18345663" y="2190264"/>
                </a:lnTo>
                <a:lnTo>
                  <a:pt x="18345663" y="4583992"/>
                </a:lnTo>
                <a:lnTo>
                  <a:pt x="0" y="4583992"/>
                </a:lnTo>
                <a:lnTo>
                  <a:pt x="0" y="4313374"/>
                </a:lnTo>
                <a:lnTo>
                  <a:pt x="6153662" y="4313374"/>
                </a:lnTo>
                <a:close/>
              </a:path>
            </a:pathLst>
          </a:cu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54F95-4CC9-871D-2B3D-873AB0B21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4581144"/>
            <a:ext cx="6510528" cy="36576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76D8E3E3-8A4C-591F-3DAB-1D6E46AA4DB9}"/>
              </a:ext>
            </a:extLst>
          </p:cNvPr>
          <p:cNvSpPr/>
          <p:nvPr userDrawn="1"/>
        </p:nvSpPr>
        <p:spPr>
          <a:xfrm>
            <a:off x="11626517" y="1063062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267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-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EA91DE6-3A10-8EDA-34AB-D931B1792C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8116"/>
          <a:stretch>
            <a:fillRect/>
          </a:stretch>
        </p:blipFill>
        <p:spPr>
          <a:xfrm rot="5400000" flipH="1">
            <a:off x="9476084" y="1778851"/>
            <a:ext cx="4393983" cy="773351"/>
          </a:xfrm>
          <a:custGeom>
            <a:avLst/>
            <a:gdLst>
              <a:gd name="connsiteX0" fmla="*/ 4393983 w 4393983"/>
              <a:gd name="connsiteY0" fmla="*/ 773351 h 773351"/>
              <a:gd name="connsiteX1" fmla="*/ 4393983 w 4393983"/>
              <a:gd name="connsiteY1" fmla="*/ 0 h 773351"/>
              <a:gd name="connsiteX2" fmla="*/ 0 w 4393983"/>
              <a:gd name="connsiteY2" fmla="*/ 0 h 773351"/>
              <a:gd name="connsiteX3" fmla="*/ 0 w 4393983"/>
              <a:gd name="connsiteY3" fmla="*/ 773351 h 773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93983" h="773351">
                <a:moveTo>
                  <a:pt x="4393983" y="773351"/>
                </a:moveTo>
                <a:lnTo>
                  <a:pt x="4393983" y="0"/>
                </a:lnTo>
                <a:lnTo>
                  <a:pt x="0" y="0"/>
                </a:lnTo>
                <a:lnTo>
                  <a:pt x="0" y="773351"/>
                </a:lnTo>
                <a:close/>
              </a:path>
            </a:pathLst>
          </a:cu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06608174-ED17-1D4B-48DF-EA532646C797}"/>
              </a:ext>
            </a:extLst>
          </p:cNvPr>
          <p:cNvSpPr/>
          <p:nvPr userDrawn="1"/>
        </p:nvSpPr>
        <p:spPr>
          <a:xfrm>
            <a:off x="732271" y="723899"/>
            <a:ext cx="10727977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itle 74">
            <a:extLst>
              <a:ext uri="{FF2B5EF4-FFF2-40B4-BE49-F238E27FC236}">
                <a16:creationId xmlns:a16="http://schemas.microsoft.com/office/drawing/2014/main" id="{45C7CFA5-6EFF-944C-B5AF-967956876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41AE0A6-2671-E79C-548D-3AA4D5D9CB11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2152D0E-B03D-CC17-D0CC-650AE3953FCF}"/>
              </a:ext>
            </a:extLst>
          </p:cNvPr>
          <p:cNvCxnSpPr>
            <a:cxnSpLocks/>
          </p:cNvCxnSpPr>
          <p:nvPr userDrawn="1"/>
        </p:nvCxnSpPr>
        <p:spPr>
          <a:xfrm>
            <a:off x="1655064" y="722376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Graphic 82">
            <a:extLst>
              <a:ext uri="{FF2B5EF4-FFF2-40B4-BE49-F238E27FC236}">
                <a16:creationId xmlns:a16="http://schemas.microsoft.com/office/drawing/2014/main" id="{65438DF6-6622-6EE4-F01A-D199CAE96D9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3498771">
            <a:off x="868523" y="778989"/>
            <a:ext cx="660389" cy="660389"/>
          </a:xfrm>
          <a:prstGeom prst="rect">
            <a:avLst/>
          </a:prstGeom>
        </p:spPr>
      </p:pic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712EE3B-E131-C405-FCA7-8263094DF01B}"/>
              </a:ext>
            </a:extLst>
          </p:cNvPr>
          <p:cNvCxnSpPr>
            <a:cxnSpLocks/>
          </p:cNvCxnSpPr>
          <p:nvPr userDrawn="1"/>
        </p:nvCxnSpPr>
        <p:spPr>
          <a:xfrm>
            <a:off x="2593735" y="718779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3A3CEC7E-9097-B8E8-85C0-CDDB2AE614D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50956"/>
          <a:stretch>
            <a:fillRect/>
          </a:stretch>
        </p:blipFill>
        <p:spPr>
          <a:xfrm>
            <a:off x="6471911" y="2707661"/>
            <a:ext cx="5744279" cy="766881"/>
          </a:xfrm>
          <a:custGeom>
            <a:avLst/>
            <a:gdLst>
              <a:gd name="connsiteX0" fmla="*/ 0 w 5744279"/>
              <a:gd name="connsiteY0" fmla="*/ 0 h 766881"/>
              <a:gd name="connsiteX1" fmla="*/ 5744279 w 5744279"/>
              <a:gd name="connsiteY1" fmla="*/ 0 h 766881"/>
              <a:gd name="connsiteX2" fmla="*/ 5744279 w 5744279"/>
              <a:gd name="connsiteY2" fmla="*/ 766881 h 766881"/>
              <a:gd name="connsiteX3" fmla="*/ 0 w 5744279"/>
              <a:gd name="connsiteY3" fmla="*/ 766881 h 766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4279" h="766881">
                <a:moveTo>
                  <a:pt x="0" y="0"/>
                </a:moveTo>
                <a:lnTo>
                  <a:pt x="5744279" y="0"/>
                </a:lnTo>
                <a:lnTo>
                  <a:pt x="5744279" y="766881"/>
                </a:lnTo>
                <a:lnTo>
                  <a:pt x="0" y="766881"/>
                </a:lnTo>
                <a:close/>
              </a:path>
            </a:pathLst>
          </a:cu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6DCF26E-2BB7-CA60-73C4-CC02E6B54E8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55255"/>
          <a:stretch>
            <a:fillRect/>
          </a:stretch>
        </p:blipFill>
        <p:spPr>
          <a:xfrm>
            <a:off x="-50829" y="2707661"/>
            <a:ext cx="5240777" cy="766881"/>
          </a:xfrm>
          <a:custGeom>
            <a:avLst/>
            <a:gdLst>
              <a:gd name="connsiteX0" fmla="*/ 0 w 5240777"/>
              <a:gd name="connsiteY0" fmla="*/ 0 h 766881"/>
              <a:gd name="connsiteX1" fmla="*/ 5240777 w 5240777"/>
              <a:gd name="connsiteY1" fmla="*/ 0 h 766881"/>
              <a:gd name="connsiteX2" fmla="*/ 5240777 w 5240777"/>
              <a:gd name="connsiteY2" fmla="*/ 766881 h 766881"/>
              <a:gd name="connsiteX3" fmla="*/ 0 w 5240777"/>
              <a:gd name="connsiteY3" fmla="*/ 766881 h 766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40777" h="766881">
                <a:moveTo>
                  <a:pt x="0" y="0"/>
                </a:moveTo>
                <a:lnTo>
                  <a:pt x="5240777" y="0"/>
                </a:lnTo>
                <a:lnTo>
                  <a:pt x="5240777" y="766881"/>
                </a:lnTo>
                <a:lnTo>
                  <a:pt x="0" y="766881"/>
                </a:lnTo>
                <a:close/>
              </a:path>
            </a:pathLst>
          </a:cu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70074BFB-1FF4-E27D-E273-B30A1A926B24}"/>
              </a:ext>
            </a:extLst>
          </p:cNvPr>
          <p:cNvSpPr/>
          <p:nvPr userDrawn="1"/>
        </p:nvSpPr>
        <p:spPr>
          <a:xfrm>
            <a:off x="4032611" y="2039801"/>
            <a:ext cx="1989036" cy="19890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714380A-B062-A581-202E-A9250F901047}"/>
              </a:ext>
            </a:extLst>
          </p:cNvPr>
          <p:cNvSpPr/>
          <p:nvPr userDrawn="1"/>
        </p:nvSpPr>
        <p:spPr>
          <a:xfrm>
            <a:off x="6170354" y="2039801"/>
            <a:ext cx="1989036" cy="19890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72440E0-AFFD-74CD-6BF4-1208AAECF546}"/>
              </a:ext>
            </a:extLst>
          </p:cNvPr>
          <p:cNvSpPr/>
          <p:nvPr userDrawn="1"/>
        </p:nvSpPr>
        <p:spPr>
          <a:xfrm>
            <a:off x="6170354" y="4362518"/>
            <a:ext cx="1989036" cy="198903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DF24E9A-60F5-6DAB-FE7A-37F79F6F9AA9}"/>
              </a:ext>
            </a:extLst>
          </p:cNvPr>
          <p:cNvSpPr/>
          <p:nvPr userDrawn="1"/>
        </p:nvSpPr>
        <p:spPr>
          <a:xfrm>
            <a:off x="4032612" y="4362518"/>
            <a:ext cx="1989036" cy="19890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E4234E63-55EE-8BC8-D5B8-C9346AA39037}"/>
              </a:ext>
            </a:extLst>
          </p:cNvPr>
          <p:cNvSpPr/>
          <p:nvPr userDrawn="1"/>
        </p:nvSpPr>
        <p:spPr>
          <a:xfrm>
            <a:off x="624057" y="4000974"/>
            <a:ext cx="4046047" cy="1354794"/>
          </a:xfrm>
          <a:custGeom>
            <a:avLst/>
            <a:gdLst>
              <a:gd name="connsiteX0" fmla="*/ 0 w 4046047"/>
              <a:gd name="connsiteY0" fmla="*/ 0 h 1354794"/>
              <a:gd name="connsiteX1" fmla="*/ 4046047 w 4046047"/>
              <a:gd name="connsiteY1" fmla="*/ 530971 h 1354794"/>
              <a:gd name="connsiteX2" fmla="*/ 4046047 w 4046047"/>
              <a:gd name="connsiteY2" fmla="*/ 1354794 h 1354794"/>
              <a:gd name="connsiteX3" fmla="*/ 620191 w 4046047"/>
              <a:gd name="connsiteY3" fmla="*/ 1354794 h 1354794"/>
              <a:gd name="connsiteX4" fmla="*/ 0 w 4046047"/>
              <a:gd name="connsiteY4" fmla="*/ 783283 h 1354794"/>
              <a:gd name="connsiteX0" fmla="*/ 4046047 w 4137487"/>
              <a:gd name="connsiteY0" fmla="*/ 530971 h 1354794"/>
              <a:gd name="connsiteX1" fmla="*/ 4046047 w 4137487"/>
              <a:gd name="connsiteY1" fmla="*/ 1354794 h 1354794"/>
              <a:gd name="connsiteX2" fmla="*/ 620191 w 4137487"/>
              <a:gd name="connsiteY2" fmla="*/ 1354794 h 1354794"/>
              <a:gd name="connsiteX3" fmla="*/ 0 w 4137487"/>
              <a:gd name="connsiteY3" fmla="*/ 783283 h 1354794"/>
              <a:gd name="connsiteX4" fmla="*/ 0 w 4137487"/>
              <a:gd name="connsiteY4" fmla="*/ 0 h 1354794"/>
              <a:gd name="connsiteX5" fmla="*/ 4137487 w 4137487"/>
              <a:gd name="connsiteY5" fmla="*/ 622411 h 1354794"/>
              <a:gd name="connsiteX0" fmla="*/ 4046047 w 4137487"/>
              <a:gd name="connsiteY0" fmla="*/ 1354794 h 1354794"/>
              <a:gd name="connsiteX1" fmla="*/ 620191 w 4137487"/>
              <a:gd name="connsiteY1" fmla="*/ 1354794 h 1354794"/>
              <a:gd name="connsiteX2" fmla="*/ 0 w 4137487"/>
              <a:gd name="connsiteY2" fmla="*/ 783283 h 1354794"/>
              <a:gd name="connsiteX3" fmla="*/ 0 w 4137487"/>
              <a:gd name="connsiteY3" fmla="*/ 0 h 1354794"/>
              <a:gd name="connsiteX4" fmla="*/ 4137487 w 4137487"/>
              <a:gd name="connsiteY4" fmla="*/ 622411 h 1354794"/>
              <a:gd name="connsiteX0" fmla="*/ 4046047 w 4046047"/>
              <a:gd name="connsiteY0" fmla="*/ 1354794 h 1354794"/>
              <a:gd name="connsiteX1" fmla="*/ 620191 w 4046047"/>
              <a:gd name="connsiteY1" fmla="*/ 1354794 h 1354794"/>
              <a:gd name="connsiteX2" fmla="*/ 0 w 4046047"/>
              <a:gd name="connsiteY2" fmla="*/ 783283 h 1354794"/>
              <a:gd name="connsiteX3" fmla="*/ 0 w 4046047"/>
              <a:gd name="connsiteY3" fmla="*/ 0 h 13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6047" h="1354794">
                <a:moveTo>
                  <a:pt x="4046047" y="1354794"/>
                </a:moveTo>
                <a:lnTo>
                  <a:pt x="620191" y="1354794"/>
                </a:lnTo>
                <a:cubicBezTo>
                  <a:pt x="277669" y="1354794"/>
                  <a:pt x="0" y="1098920"/>
                  <a:pt x="0" y="783283"/>
                </a:cubicBezTo>
                <a:lnTo>
                  <a:pt x="0" y="0"/>
                </a:lnTo>
              </a:path>
            </a:pathLst>
          </a:custGeom>
          <a:noFill/>
          <a:ln w="762000" cap="rnd" cmpd="sng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529188"/>
                      <a:gd name="connsiteY0" fmla="*/ 588210 h 5854720"/>
                      <a:gd name="connsiteX1" fmla="*/ 588210 w 3529188"/>
                      <a:gd name="connsiteY1" fmla="*/ 0 h 5854720"/>
                      <a:gd name="connsiteX2" fmla="*/ 1223457 w 3529188"/>
                      <a:gd name="connsiteY2" fmla="*/ 0 h 5854720"/>
                      <a:gd name="connsiteX3" fmla="*/ 1788122 w 3529188"/>
                      <a:gd name="connsiteY3" fmla="*/ 0 h 5854720"/>
                      <a:gd name="connsiteX4" fmla="*/ 2329258 w 3529188"/>
                      <a:gd name="connsiteY4" fmla="*/ 0 h 5854720"/>
                      <a:gd name="connsiteX5" fmla="*/ 2940978 w 3529188"/>
                      <a:gd name="connsiteY5" fmla="*/ 0 h 5854720"/>
                      <a:gd name="connsiteX6" fmla="*/ 3529188 w 3529188"/>
                      <a:gd name="connsiteY6" fmla="*/ 588210 h 5854720"/>
                      <a:gd name="connsiteX7" fmla="*/ 3529188 w 3529188"/>
                      <a:gd name="connsiteY7" fmla="*/ 1172998 h 5854720"/>
                      <a:gd name="connsiteX8" fmla="*/ 3529188 w 3529188"/>
                      <a:gd name="connsiteY8" fmla="*/ 1851351 h 5854720"/>
                      <a:gd name="connsiteX9" fmla="*/ 3529188 w 3529188"/>
                      <a:gd name="connsiteY9" fmla="*/ 2295790 h 5854720"/>
                      <a:gd name="connsiteX10" fmla="*/ 3529188 w 3529188"/>
                      <a:gd name="connsiteY10" fmla="*/ 2880577 h 5854720"/>
                      <a:gd name="connsiteX11" fmla="*/ 3529188 w 3529188"/>
                      <a:gd name="connsiteY11" fmla="*/ 3465365 h 5854720"/>
                      <a:gd name="connsiteX12" fmla="*/ 3529188 w 3529188"/>
                      <a:gd name="connsiteY12" fmla="*/ 4003369 h 5854720"/>
                      <a:gd name="connsiteX13" fmla="*/ 3529188 w 3529188"/>
                      <a:gd name="connsiteY13" fmla="*/ 4681723 h 5854720"/>
                      <a:gd name="connsiteX14" fmla="*/ 3529188 w 3529188"/>
                      <a:gd name="connsiteY14" fmla="*/ 5266510 h 5854720"/>
                      <a:gd name="connsiteX15" fmla="*/ 2940978 w 3529188"/>
                      <a:gd name="connsiteY15" fmla="*/ 5854720 h 5854720"/>
                      <a:gd name="connsiteX16" fmla="*/ 2329258 w 3529188"/>
                      <a:gd name="connsiteY16" fmla="*/ 5854720 h 5854720"/>
                      <a:gd name="connsiteX17" fmla="*/ 1741066 w 3529188"/>
                      <a:gd name="connsiteY17" fmla="*/ 5854720 h 5854720"/>
                      <a:gd name="connsiteX18" fmla="*/ 1223457 w 3529188"/>
                      <a:gd name="connsiteY18" fmla="*/ 5854720 h 5854720"/>
                      <a:gd name="connsiteX19" fmla="*/ 588210 w 3529188"/>
                      <a:gd name="connsiteY19" fmla="*/ 5854720 h 5854720"/>
                      <a:gd name="connsiteX20" fmla="*/ 0 w 3529188"/>
                      <a:gd name="connsiteY20" fmla="*/ 5266510 h 5854720"/>
                      <a:gd name="connsiteX21" fmla="*/ 0 w 3529188"/>
                      <a:gd name="connsiteY21" fmla="*/ 4728506 h 5854720"/>
                      <a:gd name="connsiteX22" fmla="*/ 0 w 3529188"/>
                      <a:gd name="connsiteY22" fmla="*/ 4143718 h 5854720"/>
                      <a:gd name="connsiteX23" fmla="*/ 0 w 3529188"/>
                      <a:gd name="connsiteY23" fmla="*/ 3699280 h 5854720"/>
                      <a:gd name="connsiteX24" fmla="*/ 0 w 3529188"/>
                      <a:gd name="connsiteY24" fmla="*/ 3254841 h 5854720"/>
                      <a:gd name="connsiteX25" fmla="*/ 0 w 3529188"/>
                      <a:gd name="connsiteY25" fmla="*/ 2670054 h 5854720"/>
                      <a:gd name="connsiteX26" fmla="*/ 0 w 3529188"/>
                      <a:gd name="connsiteY26" fmla="*/ 2178832 h 5854720"/>
                      <a:gd name="connsiteX27" fmla="*/ 0 w 3529188"/>
                      <a:gd name="connsiteY27" fmla="*/ 1547262 h 5854720"/>
                      <a:gd name="connsiteX28" fmla="*/ 0 w 3529188"/>
                      <a:gd name="connsiteY28" fmla="*/ 588210 h 5854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529188" h="5854720" extrusionOk="0">
                        <a:moveTo>
                          <a:pt x="0" y="588210"/>
                        </a:moveTo>
                        <a:cubicBezTo>
                          <a:pt x="-21018" y="250387"/>
                          <a:pt x="217110" y="17355"/>
                          <a:pt x="588210" y="0"/>
                        </a:cubicBezTo>
                        <a:cubicBezTo>
                          <a:pt x="876112" y="-19041"/>
                          <a:pt x="1081758" y="40565"/>
                          <a:pt x="1223457" y="0"/>
                        </a:cubicBezTo>
                        <a:cubicBezTo>
                          <a:pt x="1365156" y="-40565"/>
                          <a:pt x="1510790" y="32361"/>
                          <a:pt x="1788122" y="0"/>
                        </a:cubicBezTo>
                        <a:cubicBezTo>
                          <a:pt x="2065454" y="-32361"/>
                          <a:pt x="2196286" y="39632"/>
                          <a:pt x="2329258" y="0"/>
                        </a:cubicBezTo>
                        <a:cubicBezTo>
                          <a:pt x="2462230" y="-39632"/>
                          <a:pt x="2683114" y="2257"/>
                          <a:pt x="2940978" y="0"/>
                        </a:cubicBezTo>
                        <a:cubicBezTo>
                          <a:pt x="3297966" y="-66121"/>
                          <a:pt x="3475164" y="255078"/>
                          <a:pt x="3529188" y="588210"/>
                        </a:cubicBezTo>
                        <a:cubicBezTo>
                          <a:pt x="3574272" y="863780"/>
                          <a:pt x="3523626" y="966106"/>
                          <a:pt x="3529188" y="1172998"/>
                        </a:cubicBezTo>
                        <a:cubicBezTo>
                          <a:pt x="3534750" y="1379890"/>
                          <a:pt x="3465933" y="1644977"/>
                          <a:pt x="3529188" y="1851351"/>
                        </a:cubicBezTo>
                        <a:cubicBezTo>
                          <a:pt x="3592443" y="2057725"/>
                          <a:pt x="3511454" y="2169708"/>
                          <a:pt x="3529188" y="2295790"/>
                        </a:cubicBezTo>
                        <a:cubicBezTo>
                          <a:pt x="3546922" y="2421872"/>
                          <a:pt x="3527136" y="2693707"/>
                          <a:pt x="3529188" y="2880577"/>
                        </a:cubicBezTo>
                        <a:cubicBezTo>
                          <a:pt x="3531240" y="3067447"/>
                          <a:pt x="3482987" y="3173559"/>
                          <a:pt x="3529188" y="3465365"/>
                        </a:cubicBezTo>
                        <a:cubicBezTo>
                          <a:pt x="3575389" y="3757171"/>
                          <a:pt x="3528527" y="3785537"/>
                          <a:pt x="3529188" y="4003369"/>
                        </a:cubicBezTo>
                        <a:cubicBezTo>
                          <a:pt x="3529849" y="4221201"/>
                          <a:pt x="3513745" y="4519491"/>
                          <a:pt x="3529188" y="4681723"/>
                        </a:cubicBezTo>
                        <a:cubicBezTo>
                          <a:pt x="3544631" y="4843955"/>
                          <a:pt x="3526290" y="5077457"/>
                          <a:pt x="3529188" y="5266510"/>
                        </a:cubicBezTo>
                        <a:cubicBezTo>
                          <a:pt x="3495511" y="5596899"/>
                          <a:pt x="3239177" y="5836325"/>
                          <a:pt x="2940978" y="5854720"/>
                        </a:cubicBezTo>
                        <a:cubicBezTo>
                          <a:pt x="2728639" y="5898033"/>
                          <a:pt x="2496727" y="5784306"/>
                          <a:pt x="2329258" y="5854720"/>
                        </a:cubicBezTo>
                        <a:cubicBezTo>
                          <a:pt x="2161789" y="5925134"/>
                          <a:pt x="1866325" y="5847030"/>
                          <a:pt x="1741066" y="5854720"/>
                        </a:cubicBezTo>
                        <a:cubicBezTo>
                          <a:pt x="1615807" y="5862410"/>
                          <a:pt x="1395638" y="5831161"/>
                          <a:pt x="1223457" y="5854720"/>
                        </a:cubicBezTo>
                        <a:cubicBezTo>
                          <a:pt x="1051276" y="5878279"/>
                          <a:pt x="874717" y="5821346"/>
                          <a:pt x="588210" y="5854720"/>
                        </a:cubicBezTo>
                        <a:cubicBezTo>
                          <a:pt x="295355" y="5835736"/>
                          <a:pt x="-41219" y="5656806"/>
                          <a:pt x="0" y="5266510"/>
                        </a:cubicBezTo>
                        <a:cubicBezTo>
                          <a:pt x="-62082" y="5061492"/>
                          <a:pt x="63114" y="4919165"/>
                          <a:pt x="0" y="4728506"/>
                        </a:cubicBezTo>
                        <a:cubicBezTo>
                          <a:pt x="-63114" y="4537847"/>
                          <a:pt x="67598" y="4416595"/>
                          <a:pt x="0" y="4143718"/>
                        </a:cubicBezTo>
                        <a:cubicBezTo>
                          <a:pt x="-67598" y="3870841"/>
                          <a:pt x="47971" y="3804176"/>
                          <a:pt x="0" y="3699280"/>
                        </a:cubicBezTo>
                        <a:cubicBezTo>
                          <a:pt x="-47971" y="3594384"/>
                          <a:pt x="18838" y="3384689"/>
                          <a:pt x="0" y="3254841"/>
                        </a:cubicBezTo>
                        <a:cubicBezTo>
                          <a:pt x="-18838" y="3124993"/>
                          <a:pt x="36295" y="2896233"/>
                          <a:pt x="0" y="2670054"/>
                        </a:cubicBezTo>
                        <a:cubicBezTo>
                          <a:pt x="-36295" y="2443875"/>
                          <a:pt x="12293" y="2283397"/>
                          <a:pt x="0" y="2178832"/>
                        </a:cubicBezTo>
                        <a:cubicBezTo>
                          <a:pt x="-12293" y="2074267"/>
                          <a:pt x="42881" y="1673819"/>
                          <a:pt x="0" y="1547262"/>
                        </a:cubicBezTo>
                        <a:cubicBezTo>
                          <a:pt x="-42881" y="1420705"/>
                          <a:pt x="2387" y="914777"/>
                          <a:pt x="0" y="58821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8">
            <a:extLst>
              <a:ext uri="{FF2B5EF4-FFF2-40B4-BE49-F238E27FC236}">
                <a16:creationId xmlns:a16="http://schemas.microsoft.com/office/drawing/2014/main" id="{9F752DEF-757A-19B9-7805-B7A70E94C5F2}"/>
              </a:ext>
            </a:extLst>
          </p:cNvPr>
          <p:cNvSpPr/>
          <p:nvPr userDrawn="1"/>
        </p:nvSpPr>
        <p:spPr>
          <a:xfrm flipH="1">
            <a:off x="544607" y="2735191"/>
            <a:ext cx="80439" cy="1697503"/>
          </a:xfrm>
          <a:custGeom>
            <a:avLst/>
            <a:gdLst>
              <a:gd name="connsiteX0" fmla="*/ 973027 w 5838044"/>
              <a:gd name="connsiteY0" fmla="*/ 0 h 7382204"/>
              <a:gd name="connsiteX1" fmla="*/ 4865018 w 5838044"/>
              <a:gd name="connsiteY1" fmla="*/ 0 h 7382204"/>
              <a:gd name="connsiteX2" fmla="*/ 5838044 w 5838044"/>
              <a:gd name="connsiteY2" fmla="*/ 973027 h 7382204"/>
              <a:gd name="connsiteX3" fmla="*/ 5838044 w 5838044"/>
              <a:gd name="connsiteY3" fmla="*/ 7382204 h 7382204"/>
              <a:gd name="connsiteX4" fmla="*/ 0 w 5838044"/>
              <a:gd name="connsiteY4" fmla="*/ 7382204 h 7382204"/>
              <a:gd name="connsiteX5" fmla="*/ 0 w 5838044"/>
              <a:gd name="connsiteY5" fmla="*/ 973027 h 7382204"/>
              <a:gd name="connsiteX6" fmla="*/ 973027 w 5838044"/>
              <a:gd name="connsiteY6" fmla="*/ 0 h 7382204"/>
              <a:gd name="connsiteX0" fmla="*/ 973027 w 5838044"/>
              <a:gd name="connsiteY0" fmla="*/ 0 h 7382204"/>
              <a:gd name="connsiteX1" fmla="*/ 4865018 w 5838044"/>
              <a:gd name="connsiteY1" fmla="*/ 0 h 7382204"/>
              <a:gd name="connsiteX2" fmla="*/ 5838044 w 5838044"/>
              <a:gd name="connsiteY2" fmla="*/ 973027 h 7382204"/>
              <a:gd name="connsiteX3" fmla="*/ 0 w 5838044"/>
              <a:gd name="connsiteY3" fmla="*/ 7382204 h 7382204"/>
              <a:gd name="connsiteX4" fmla="*/ 0 w 5838044"/>
              <a:gd name="connsiteY4" fmla="*/ 973027 h 7382204"/>
              <a:gd name="connsiteX5" fmla="*/ 973027 w 5838044"/>
              <a:gd name="connsiteY5" fmla="*/ 0 h 7382204"/>
              <a:gd name="connsiteX0" fmla="*/ 5838044 w 5929484"/>
              <a:gd name="connsiteY0" fmla="*/ 973027 h 7382204"/>
              <a:gd name="connsiteX1" fmla="*/ 0 w 5929484"/>
              <a:gd name="connsiteY1" fmla="*/ 7382204 h 7382204"/>
              <a:gd name="connsiteX2" fmla="*/ 0 w 5929484"/>
              <a:gd name="connsiteY2" fmla="*/ 973027 h 7382204"/>
              <a:gd name="connsiteX3" fmla="*/ 973027 w 5929484"/>
              <a:gd name="connsiteY3" fmla="*/ 0 h 7382204"/>
              <a:gd name="connsiteX4" fmla="*/ 4865018 w 5929484"/>
              <a:gd name="connsiteY4" fmla="*/ 0 h 7382204"/>
              <a:gd name="connsiteX5" fmla="*/ 5929484 w 5929484"/>
              <a:gd name="connsiteY5" fmla="*/ 1064467 h 7382204"/>
              <a:gd name="connsiteX0" fmla="*/ 5838044 w 5996391"/>
              <a:gd name="connsiteY0" fmla="*/ 973027 h 7382204"/>
              <a:gd name="connsiteX1" fmla="*/ 0 w 5996391"/>
              <a:gd name="connsiteY1" fmla="*/ 7382204 h 7382204"/>
              <a:gd name="connsiteX2" fmla="*/ 0 w 5996391"/>
              <a:gd name="connsiteY2" fmla="*/ 973027 h 7382204"/>
              <a:gd name="connsiteX3" fmla="*/ 973027 w 5996391"/>
              <a:gd name="connsiteY3" fmla="*/ 0 h 7382204"/>
              <a:gd name="connsiteX4" fmla="*/ 4865018 w 5996391"/>
              <a:gd name="connsiteY4" fmla="*/ 0 h 7382204"/>
              <a:gd name="connsiteX5" fmla="*/ 5996391 w 5996391"/>
              <a:gd name="connsiteY5" fmla="*/ 819140 h 7382204"/>
              <a:gd name="connsiteX0" fmla="*/ 5771136 w 5996391"/>
              <a:gd name="connsiteY0" fmla="*/ 4764441 h 7382204"/>
              <a:gd name="connsiteX1" fmla="*/ 0 w 5996391"/>
              <a:gd name="connsiteY1" fmla="*/ 7382204 h 7382204"/>
              <a:gd name="connsiteX2" fmla="*/ 0 w 5996391"/>
              <a:gd name="connsiteY2" fmla="*/ 973027 h 7382204"/>
              <a:gd name="connsiteX3" fmla="*/ 973027 w 5996391"/>
              <a:gd name="connsiteY3" fmla="*/ 0 h 7382204"/>
              <a:gd name="connsiteX4" fmla="*/ 4865018 w 5996391"/>
              <a:gd name="connsiteY4" fmla="*/ 0 h 7382204"/>
              <a:gd name="connsiteX5" fmla="*/ 5996391 w 5996391"/>
              <a:gd name="connsiteY5" fmla="*/ 819140 h 7382204"/>
              <a:gd name="connsiteX0" fmla="*/ 0 w 5996391"/>
              <a:gd name="connsiteY0" fmla="*/ 7382204 h 7382204"/>
              <a:gd name="connsiteX1" fmla="*/ 0 w 5996391"/>
              <a:gd name="connsiteY1" fmla="*/ 973027 h 7382204"/>
              <a:gd name="connsiteX2" fmla="*/ 973027 w 5996391"/>
              <a:gd name="connsiteY2" fmla="*/ 0 h 7382204"/>
              <a:gd name="connsiteX3" fmla="*/ 4865018 w 5996391"/>
              <a:gd name="connsiteY3" fmla="*/ 0 h 7382204"/>
              <a:gd name="connsiteX4" fmla="*/ 5996391 w 5996391"/>
              <a:gd name="connsiteY4" fmla="*/ 819140 h 7382204"/>
              <a:gd name="connsiteX0" fmla="*/ 0 w 4865018"/>
              <a:gd name="connsiteY0" fmla="*/ 7382204 h 7382204"/>
              <a:gd name="connsiteX1" fmla="*/ 0 w 4865018"/>
              <a:gd name="connsiteY1" fmla="*/ 973027 h 7382204"/>
              <a:gd name="connsiteX2" fmla="*/ 973027 w 4865018"/>
              <a:gd name="connsiteY2" fmla="*/ 0 h 7382204"/>
              <a:gd name="connsiteX3" fmla="*/ 4865018 w 4865018"/>
              <a:gd name="connsiteY3" fmla="*/ 0 h 7382204"/>
              <a:gd name="connsiteX0" fmla="*/ 0 w 973027"/>
              <a:gd name="connsiteY0" fmla="*/ 7382204 h 7382204"/>
              <a:gd name="connsiteX1" fmla="*/ 0 w 973027"/>
              <a:gd name="connsiteY1" fmla="*/ 973027 h 7382204"/>
              <a:gd name="connsiteX2" fmla="*/ 973027 w 973027"/>
              <a:gd name="connsiteY2" fmla="*/ 0 h 7382204"/>
              <a:gd name="connsiteX0" fmla="*/ 0 w 0"/>
              <a:gd name="connsiteY0" fmla="*/ 6409177 h 6409177"/>
              <a:gd name="connsiteX1" fmla="*/ 0 w 0"/>
              <a:gd name="connsiteY1" fmla="*/ 0 h 6409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6409177">
                <a:moveTo>
                  <a:pt x="0" y="6409177"/>
                </a:moveTo>
                <a:lnTo>
                  <a:pt x="0" y="0"/>
                </a:lnTo>
              </a:path>
            </a:pathLst>
          </a:custGeom>
          <a:noFill/>
          <a:ln w="762000" cap="rnd" cmpd="sng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529188"/>
                      <a:gd name="connsiteY0" fmla="*/ 588210 h 5854720"/>
                      <a:gd name="connsiteX1" fmla="*/ 588210 w 3529188"/>
                      <a:gd name="connsiteY1" fmla="*/ 0 h 5854720"/>
                      <a:gd name="connsiteX2" fmla="*/ 1223457 w 3529188"/>
                      <a:gd name="connsiteY2" fmla="*/ 0 h 5854720"/>
                      <a:gd name="connsiteX3" fmla="*/ 1788122 w 3529188"/>
                      <a:gd name="connsiteY3" fmla="*/ 0 h 5854720"/>
                      <a:gd name="connsiteX4" fmla="*/ 2329258 w 3529188"/>
                      <a:gd name="connsiteY4" fmla="*/ 0 h 5854720"/>
                      <a:gd name="connsiteX5" fmla="*/ 2940978 w 3529188"/>
                      <a:gd name="connsiteY5" fmla="*/ 0 h 5854720"/>
                      <a:gd name="connsiteX6" fmla="*/ 3529188 w 3529188"/>
                      <a:gd name="connsiteY6" fmla="*/ 588210 h 5854720"/>
                      <a:gd name="connsiteX7" fmla="*/ 3529188 w 3529188"/>
                      <a:gd name="connsiteY7" fmla="*/ 1172998 h 5854720"/>
                      <a:gd name="connsiteX8" fmla="*/ 3529188 w 3529188"/>
                      <a:gd name="connsiteY8" fmla="*/ 1851351 h 5854720"/>
                      <a:gd name="connsiteX9" fmla="*/ 3529188 w 3529188"/>
                      <a:gd name="connsiteY9" fmla="*/ 2295790 h 5854720"/>
                      <a:gd name="connsiteX10" fmla="*/ 3529188 w 3529188"/>
                      <a:gd name="connsiteY10" fmla="*/ 2880577 h 5854720"/>
                      <a:gd name="connsiteX11" fmla="*/ 3529188 w 3529188"/>
                      <a:gd name="connsiteY11" fmla="*/ 3465365 h 5854720"/>
                      <a:gd name="connsiteX12" fmla="*/ 3529188 w 3529188"/>
                      <a:gd name="connsiteY12" fmla="*/ 4003369 h 5854720"/>
                      <a:gd name="connsiteX13" fmla="*/ 3529188 w 3529188"/>
                      <a:gd name="connsiteY13" fmla="*/ 4681723 h 5854720"/>
                      <a:gd name="connsiteX14" fmla="*/ 3529188 w 3529188"/>
                      <a:gd name="connsiteY14" fmla="*/ 5266510 h 5854720"/>
                      <a:gd name="connsiteX15" fmla="*/ 2940978 w 3529188"/>
                      <a:gd name="connsiteY15" fmla="*/ 5854720 h 5854720"/>
                      <a:gd name="connsiteX16" fmla="*/ 2329258 w 3529188"/>
                      <a:gd name="connsiteY16" fmla="*/ 5854720 h 5854720"/>
                      <a:gd name="connsiteX17" fmla="*/ 1741066 w 3529188"/>
                      <a:gd name="connsiteY17" fmla="*/ 5854720 h 5854720"/>
                      <a:gd name="connsiteX18" fmla="*/ 1223457 w 3529188"/>
                      <a:gd name="connsiteY18" fmla="*/ 5854720 h 5854720"/>
                      <a:gd name="connsiteX19" fmla="*/ 588210 w 3529188"/>
                      <a:gd name="connsiteY19" fmla="*/ 5854720 h 5854720"/>
                      <a:gd name="connsiteX20" fmla="*/ 0 w 3529188"/>
                      <a:gd name="connsiteY20" fmla="*/ 5266510 h 5854720"/>
                      <a:gd name="connsiteX21" fmla="*/ 0 w 3529188"/>
                      <a:gd name="connsiteY21" fmla="*/ 4728506 h 5854720"/>
                      <a:gd name="connsiteX22" fmla="*/ 0 w 3529188"/>
                      <a:gd name="connsiteY22" fmla="*/ 4143718 h 5854720"/>
                      <a:gd name="connsiteX23" fmla="*/ 0 w 3529188"/>
                      <a:gd name="connsiteY23" fmla="*/ 3699280 h 5854720"/>
                      <a:gd name="connsiteX24" fmla="*/ 0 w 3529188"/>
                      <a:gd name="connsiteY24" fmla="*/ 3254841 h 5854720"/>
                      <a:gd name="connsiteX25" fmla="*/ 0 w 3529188"/>
                      <a:gd name="connsiteY25" fmla="*/ 2670054 h 5854720"/>
                      <a:gd name="connsiteX26" fmla="*/ 0 w 3529188"/>
                      <a:gd name="connsiteY26" fmla="*/ 2178832 h 5854720"/>
                      <a:gd name="connsiteX27" fmla="*/ 0 w 3529188"/>
                      <a:gd name="connsiteY27" fmla="*/ 1547262 h 5854720"/>
                      <a:gd name="connsiteX28" fmla="*/ 0 w 3529188"/>
                      <a:gd name="connsiteY28" fmla="*/ 588210 h 5854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529188" h="5854720" extrusionOk="0">
                        <a:moveTo>
                          <a:pt x="0" y="588210"/>
                        </a:moveTo>
                        <a:cubicBezTo>
                          <a:pt x="-21018" y="250387"/>
                          <a:pt x="217110" y="17355"/>
                          <a:pt x="588210" y="0"/>
                        </a:cubicBezTo>
                        <a:cubicBezTo>
                          <a:pt x="876112" y="-19041"/>
                          <a:pt x="1081758" y="40565"/>
                          <a:pt x="1223457" y="0"/>
                        </a:cubicBezTo>
                        <a:cubicBezTo>
                          <a:pt x="1365156" y="-40565"/>
                          <a:pt x="1510790" y="32361"/>
                          <a:pt x="1788122" y="0"/>
                        </a:cubicBezTo>
                        <a:cubicBezTo>
                          <a:pt x="2065454" y="-32361"/>
                          <a:pt x="2196286" y="39632"/>
                          <a:pt x="2329258" y="0"/>
                        </a:cubicBezTo>
                        <a:cubicBezTo>
                          <a:pt x="2462230" y="-39632"/>
                          <a:pt x="2683114" y="2257"/>
                          <a:pt x="2940978" y="0"/>
                        </a:cubicBezTo>
                        <a:cubicBezTo>
                          <a:pt x="3297966" y="-66121"/>
                          <a:pt x="3475164" y="255078"/>
                          <a:pt x="3529188" y="588210"/>
                        </a:cubicBezTo>
                        <a:cubicBezTo>
                          <a:pt x="3574272" y="863780"/>
                          <a:pt x="3523626" y="966106"/>
                          <a:pt x="3529188" y="1172998"/>
                        </a:cubicBezTo>
                        <a:cubicBezTo>
                          <a:pt x="3534750" y="1379890"/>
                          <a:pt x="3465933" y="1644977"/>
                          <a:pt x="3529188" y="1851351"/>
                        </a:cubicBezTo>
                        <a:cubicBezTo>
                          <a:pt x="3592443" y="2057725"/>
                          <a:pt x="3511454" y="2169708"/>
                          <a:pt x="3529188" y="2295790"/>
                        </a:cubicBezTo>
                        <a:cubicBezTo>
                          <a:pt x="3546922" y="2421872"/>
                          <a:pt x="3527136" y="2693707"/>
                          <a:pt x="3529188" y="2880577"/>
                        </a:cubicBezTo>
                        <a:cubicBezTo>
                          <a:pt x="3531240" y="3067447"/>
                          <a:pt x="3482987" y="3173559"/>
                          <a:pt x="3529188" y="3465365"/>
                        </a:cubicBezTo>
                        <a:cubicBezTo>
                          <a:pt x="3575389" y="3757171"/>
                          <a:pt x="3528527" y="3785537"/>
                          <a:pt x="3529188" y="4003369"/>
                        </a:cubicBezTo>
                        <a:cubicBezTo>
                          <a:pt x="3529849" y="4221201"/>
                          <a:pt x="3513745" y="4519491"/>
                          <a:pt x="3529188" y="4681723"/>
                        </a:cubicBezTo>
                        <a:cubicBezTo>
                          <a:pt x="3544631" y="4843955"/>
                          <a:pt x="3526290" y="5077457"/>
                          <a:pt x="3529188" y="5266510"/>
                        </a:cubicBezTo>
                        <a:cubicBezTo>
                          <a:pt x="3495511" y="5596899"/>
                          <a:pt x="3239177" y="5836325"/>
                          <a:pt x="2940978" y="5854720"/>
                        </a:cubicBezTo>
                        <a:cubicBezTo>
                          <a:pt x="2728639" y="5898033"/>
                          <a:pt x="2496727" y="5784306"/>
                          <a:pt x="2329258" y="5854720"/>
                        </a:cubicBezTo>
                        <a:cubicBezTo>
                          <a:pt x="2161789" y="5925134"/>
                          <a:pt x="1866325" y="5847030"/>
                          <a:pt x="1741066" y="5854720"/>
                        </a:cubicBezTo>
                        <a:cubicBezTo>
                          <a:pt x="1615807" y="5862410"/>
                          <a:pt x="1395638" y="5831161"/>
                          <a:pt x="1223457" y="5854720"/>
                        </a:cubicBezTo>
                        <a:cubicBezTo>
                          <a:pt x="1051276" y="5878279"/>
                          <a:pt x="874717" y="5821346"/>
                          <a:pt x="588210" y="5854720"/>
                        </a:cubicBezTo>
                        <a:cubicBezTo>
                          <a:pt x="295355" y="5835736"/>
                          <a:pt x="-41219" y="5656806"/>
                          <a:pt x="0" y="5266510"/>
                        </a:cubicBezTo>
                        <a:cubicBezTo>
                          <a:pt x="-62082" y="5061492"/>
                          <a:pt x="63114" y="4919165"/>
                          <a:pt x="0" y="4728506"/>
                        </a:cubicBezTo>
                        <a:cubicBezTo>
                          <a:pt x="-63114" y="4537847"/>
                          <a:pt x="67598" y="4416595"/>
                          <a:pt x="0" y="4143718"/>
                        </a:cubicBezTo>
                        <a:cubicBezTo>
                          <a:pt x="-67598" y="3870841"/>
                          <a:pt x="47971" y="3804176"/>
                          <a:pt x="0" y="3699280"/>
                        </a:cubicBezTo>
                        <a:cubicBezTo>
                          <a:pt x="-47971" y="3594384"/>
                          <a:pt x="18838" y="3384689"/>
                          <a:pt x="0" y="3254841"/>
                        </a:cubicBezTo>
                        <a:cubicBezTo>
                          <a:pt x="-18838" y="3124993"/>
                          <a:pt x="36295" y="2896233"/>
                          <a:pt x="0" y="2670054"/>
                        </a:cubicBezTo>
                        <a:cubicBezTo>
                          <a:pt x="-36295" y="2443875"/>
                          <a:pt x="12293" y="2283397"/>
                          <a:pt x="0" y="2178832"/>
                        </a:cubicBezTo>
                        <a:cubicBezTo>
                          <a:pt x="-12293" y="2074267"/>
                          <a:pt x="42881" y="1673819"/>
                          <a:pt x="0" y="1547262"/>
                        </a:cubicBezTo>
                        <a:cubicBezTo>
                          <a:pt x="-42881" y="1420705"/>
                          <a:pt x="2387" y="914777"/>
                          <a:pt x="0" y="58821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20">
            <a:extLst>
              <a:ext uri="{FF2B5EF4-FFF2-40B4-BE49-F238E27FC236}">
                <a16:creationId xmlns:a16="http://schemas.microsoft.com/office/drawing/2014/main" id="{6010C008-0418-12FF-A80A-05ECF85F5EB6}"/>
              </a:ext>
            </a:extLst>
          </p:cNvPr>
          <p:cNvSpPr/>
          <p:nvPr userDrawn="1"/>
        </p:nvSpPr>
        <p:spPr>
          <a:xfrm flipH="1">
            <a:off x="7620566" y="3973595"/>
            <a:ext cx="4046047" cy="1354794"/>
          </a:xfrm>
          <a:custGeom>
            <a:avLst/>
            <a:gdLst>
              <a:gd name="connsiteX0" fmla="*/ 0 w 4046047"/>
              <a:gd name="connsiteY0" fmla="*/ 0 h 1354794"/>
              <a:gd name="connsiteX1" fmla="*/ 4046047 w 4046047"/>
              <a:gd name="connsiteY1" fmla="*/ 530971 h 1354794"/>
              <a:gd name="connsiteX2" fmla="*/ 4046047 w 4046047"/>
              <a:gd name="connsiteY2" fmla="*/ 1354794 h 1354794"/>
              <a:gd name="connsiteX3" fmla="*/ 620191 w 4046047"/>
              <a:gd name="connsiteY3" fmla="*/ 1354794 h 1354794"/>
              <a:gd name="connsiteX4" fmla="*/ 0 w 4046047"/>
              <a:gd name="connsiteY4" fmla="*/ 783283 h 1354794"/>
              <a:gd name="connsiteX0" fmla="*/ 4046047 w 4137487"/>
              <a:gd name="connsiteY0" fmla="*/ 530971 h 1354794"/>
              <a:gd name="connsiteX1" fmla="*/ 4046047 w 4137487"/>
              <a:gd name="connsiteY1" fmla="*/ 1354794 h 1354794"/>
              <a:gd name="connsiteX2" fmla="*/ 620191 w 4137487"/>
              <a:gd name="connsiteY2" fmla="*/ 1354794 h 1354794"/>
              <a:gd name="connsiteX3" fmla="*/ 0 w 4137487"/>
              <a:gd name="connsiteY3" fmla="*/ 783283 h 1354794"/>
              <a:gd name="connsiteX4" fmla="*/ 0 w 4137487"/>
              <a:gd name="connsiteY4" fmla="*/ 0 h 1354794"/>
              <a:gd name="connsiteX5" fmla="*/ 4137487 w 4137487"/>
              <a:gd name="connsiteY5" fmla="*/ 622411 h 1354794"/>
              <a:gd name="connsiteX0" fmla="*/ 4046047 w 4137487"/>
              <a:gd name="connsiteY0" fmla="*/ 1354794 h 1354794"/>
              <a:gd name="connsiteX1" fmla="*/ 620191 w 4137487"/>
              <a:gd name="connsiteY1" fmla="*/ 1354794 h 1354794"/>
              <a:gd name="connsiteX2" fmla="*/ 0 w 4137487"/>
              <a:gd name="connsiteY2" fmla="*/ 783283 h 1354794"/>
              <a:gd name="connsiteX3" fmla="*/ 0 w 4137487"/>
              <a:gd name="connsiteY3" fmla="*/ 0 h 1354794"/>
              <a:gd name="connsiteX4" fmla="*/ 4137487 w 4137487"/>
              <a:gd name="connsiteY4" fmla="*/ 622411 h 1354794"/>
              <a:gd name="connsiteX0" fmla="*/ 4046047 w 4046047"/>
              <a:gd name="connsiteY0" fmla="*/ 1354794 h 1354794"/>
              <a:gd name="connsiteX1" fmla="*/ 620191 w 4046047"/>
              <a:gd name="connsiteY1" fmla="*/ 1354794 h 1354794"/>
              <a:gd name="connsiteX2" fmla="*/ 0 w 4046047"/>
              <a:gd name="connsiteY2" fmla="*/ 783283 h 1354794"/>
              <a:gd name="connsiteX3" fmla="*/ 0 w 4046047"/>
              <a:gd name="connsiteY3" fmla="*/ 0 h 13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6047" h="1354794">
                <a:moveTo>
                  <a:pt x="4046047" y="1354794"/>
                </a:moveTo>
                <a:lnTo>
                  <a:pt x="620191" y="1354794"/>
                </a:lnTo>
                <a:cubicBezTo>
                  <a:pt x="277669" y="1354794"/>
                  <a:pt x="0" y="1098920"/>
                  <a:pt x="0" y="783283"/>
                </a:cubicBezTo>
                <a:lnTo>
                  <a:pt x="0" y="0"/>
                </a:lnTo>
              </a:path>
            </a:pathLst>
          </a:custGeom>
          <a:noFill/>
          <a:ln w="762000" cap="rnd" cmpd="sng">
            <a:solidFill>
              <a:schemeClr val="accent4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529188"/>
                      <a:gd name="connsiteY0" fmla="*/ 588210 h 5854720"/>
                      <a:gd name="connsiteX1" fmla="*/ 588210 w 3529188"/>
                      <a:gd name="connsiteY1" fmla="*/ 0 h 5854720"/>
                      <a:gd name="connsiteX2" fmla="*/ 1223457 w 3529188"/>
                      <a:gd name="connsiteY2" fmla="*/ 0 h 5854720"/>
                      <a:gd name="connsiteX3" fmla="*/ 1788122 w 3529188"/>
                      <a:gd name="connsiteY3" fmla="*/ 0 h 5854720"/>
                      <a:gd name="connsiteX4" fmla="*/ 2329258 w 3529188"/>
                      <a:gd name="connsiteY4" fmla="*/ 0 h 5854720"/>
                      <a:gd name="connsiteX5" fmla="*/ 2940978 w 3529188"/>
                      <a:gd name="connsiteY5" fmla="*/ 0 h 5854720"/>
                      <a:gd name="connsiteX6" fmla="*/ 3529188 w 3529188"/>
                      <a:gd name="connsiteY6" fmla="*/ 588210 h 5854720"/>
                      <a:gd name="connsiteX7" fmla="*/ 3529188 w 3529188"/>
                      <a:gd name="connsiteY7" fmla="*/ 1172998 h 5854720"/>
                      <a:gd name="connsiteX8" fmla="*/ 3529188 w 3529188"/>
                      <a:gd name="connsiteY8" fmla="*/ 1851351 h 5854720"/>
                      <a:gd name="connsiteX9" fmla="*/ 3529188 w 3529188"/>
                      <a:gd name="connsiteY9" fmla="*/ 2295790 h 5854720"/>
                      <a:gd name="connsiteX10" fmla="*/ 3529188 w 3529188"/>
                      <a:gd name="connsiteY10" fmla="*/ 2880577 h 5854720"/>
                      <a:gd name="connsiteX11" fmla="*/ 3529188 w 3529188"/>
                      <a:gd name="connsiteY11" fmla="*/ 3465365 h 5854720"/>
                      <a:gd name="connsiteX12" fmla="*/ 3529188 w 3529188"/>
                      <a:gd name="connsiteY12" fmla="*/ 4003369 h 5854720"/>
                      <a:gd name="connsiteX13" fmla="*/ 3529188 w 3529188"/>
                      <a:gd name="connsiteY13" fmla="*/ 4681723 h 5854720"/>
                      <a:gd name="connsiteX14" fmla="*/ 3529188 w 3529188"/>
                      <a:gd name="connsiteY14" fmla="*/ 5266510 h 5854720"/>
                      <a:gd name="connsiteX15" fmla="*/ 2940978 w 3529188"/>
                      <a:gd name="connsiteY15" fmla="*/ 5854720 h 5854720"/>
                      <a:gd name="connsiteX16" fmla="*/ 2329258 w 3529188"/>
                      <a:gd name="connsiteY16" fmla="*/ 5854720 h 5854720"/>
                      <a:gd name="connsiteX17" fmla="*/ 1741066 w 3529188"/>
                      <a:gd name="connsiteY17" fmla="*/ 5854720 h 5854720"/>
                      <a:gd name="connsiteX18" fmla="*/ 1223457 w 3529188"/>
                      <a:gd name="connsiteY18" fmla="*/ 5854720 h 5854720"/>
                      <a:gd name="connsiteX19" fmla="*/ 588210 w 3529188"/>
                      <a:gd name="connsiteY19" fmla="*/ 5854720 h 5854720"/>
                      <a:gd name="connsiteX20" fmla="*/ 0 w 3529188"/>
                      <a:gd name="connsiteY20" fmla="*/ 5266510 h 5854720"/>
                      <a:gd name="connsiteX21" fmla="*/ 0 w 3529188"/>
                      <a:gd name="connsiteY21" fmla="*/ 4728506 h 5854720"/>
                      <a:gd name="connsiteX22" fmla="*/ 0 w 3529188"/>
                      <a:gd name="connsiteY22" fmla="*/ 4143718 h 5854720"/>
                      <a:gd name="connsiteX23" fmla="*/ 0 w 3529188"/>
                      <a:gd name="connsiteY23" fmla="*/ 3699280 h 5854720"/>
                      <a:gd name="connsiteX24" fmla="*/ 0 w 3529188"/>
                      <a:gd name="connsiteY24" fmla="*/ 3254841 h 5854720"/>
                      <a:gd name="connsiteX25" fmla="*/ 0 w 3529188"/>
                      <a:gd name="connsiteY25" fmla="*/ 2670054 h 5854720"/>
                      <a:gd name="connsiteX26" fmla="*/ 0 w 3529188"/>
                      <a:gd name="connsiteY26" fmla="*/ 2178832 h 5854720"/>
                      <a:gd name="connsiteX27" fmla="*/ 0 w 3529188"/>
                      <a:gd name="connsiteY27" fmla="*/ 1547262 h 5854720"/>
                      <a:gd name="connsiteX28" fmla="*/ 0 w 3529188"/>
                      <a:gd name="connsiteY28" fmla="*/ 588210 h 5854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529188" h="5854720" extrusionOk="0">
                        <a:moveTo>
                          <a:pt x="0" y="588210"/>
                        </a:moveTo>
                        <a:cubicBezTo>
                          <a:pt x="-21018" y="250387"/>
                          <a:pt x="217110" y="17355"/>
                          <a:pt x="588210" y="0"/>
                        </a:cubicBezTo>
                        <a:cubicBezTo>
                          <a:pt x="876112" y="-19041"/>
                          <a:pt x="1081758" y="40565"/>
                          <a:pt x="1223457" y="0"/>
                        </a:cubicBezTo>
                        <a:cubicBezTo>
                          <a:pt x="1365156" y="-40565"/>
                          <a:pt x="1510790" y="32361"/>
                          <a:pt x="1788122" y="0"/>
                        </a:cubicBezTo>
                        <a:cubicBezTo>
                          <a:pt x="2065454" y="-32361"/>
                          <a:pt x="2196286" y="39632"/>
                          <a:pt x="2329258" y="0"/>
                        </a:cubicBezTo>
                        <a:cubicBezTo>
                          <a:pt x="2462230" y="-39632"/>
                          <a:pt x="2683114" y="2257"/>
                          <a:pt x="2940978" y="0"/>
                        </a:cubicBezTo>
                        <a:cubicBezTo>
                          <a:pt x="3297966" y="-66121"/>
                          <a:pt x="3475164" y="255078"/>
                          <a:pt x="3529188" y="588210"/>
                        </a:cubicBezTo>
                        <a:cubicBezTo>
                          <a:pt x="3574272" y="863780"/>
                          <a:pt x="3523626" y="966106"/>
                          <a:pt x="3529188" y="1172998"/>
                        </a:cubicBezTo>
                        <a:cubicBezTo>
                          <a:pt x="3534750" y="1379890"/>
                          <a:pt x="3465933" y="1644977"/>
                          <a:pt x="3529188" y="1851351"/>
                        </a:cubicBezTo>
                        <a:cubicBezTo>
                          <a:pt x="3592443" y="2057725"/>
                          <a:pt x="3511454" y="2169708"/>
                          <a:pt x="3529188" y="2295790"/>
                        </a:cubicBezTo>
                        <a:cubicBezTo>
                          <a:pt x="3546922" y="2421872"/>
                          <a:pt x="3527136" y="2693707"/>
                          <a:pt x="3529188" y="2880577"/>
                        </a:cubicBezTo>
                        <a:cubicBezTo>
                          <a:pt x="3531240" y="3067447"/>
                          <a:pt x="3482987" y="3173559"/>
                          <a:pt x="3529188" y="3465365"/>
                        </a:cubicBezTo>
                        <a:cubicBezTo>
                          <a:pt x="3575389" y="3757171"/>
                          <a:pt x="3528527" y="3785537"/>
                          <a:pt x="3529188" y="4003369"/>
                        </a:cubicBezTo>
                        <a:cubicBezTo>
                          <a:pt x="3529849" y="4221201"/>
                          <a:pt x="3513745" y="4519491"/>
                          <a:pt x="3529188" y="4681723"/>
                        </a:cubicBezTo>
                        <a:cubicBezTo>
                          <a:pt x="3544631" y="4843955"/>
                          <a:pt x="3526290" y="5077457"/>
                          <a:pt x="3529188" y="5266510"/>
                        </a:cubicBezTo>
                        <a:cubicBezTo>
                          <a:pt x="3495511" y="5596899"/>
                          <a:pt x="3239177" y="5836325"/>
                          <a:pt x="2940978" y="5854720"/>
                        </a:cubicBezTo>
                        <a:cubicBezTo>
                          <a:pt x="2728639" y="5898033"/>
                          <a:pt x="2496727" y="5784306"/>
                          <a:pt x="2329258" y="5854720"/>
                        </a:cubicBezTo>
                        <a:cubicBezTo>
                          <a:pt x="2161789" y="5925134"/>
                          <a:pt x="1866325" y="5847030"/>
                          <a:pt x="1741066" y="5854720"/>
                        </a:cubicBezTo>
                        <a:cubicBezTo>
                          <a:pt x="1615807" y="5862410"/>
                          <a:pt x="1395638" y="5831161"/>
                          <a:pt x="1223457" y="5854720"/>
                        </a:cubicBezTo>
                        <a:cubicBezTo>
                          <a:pt x="1051276" y="5878279"/>
                          <a:pt x="874717" y="5821346"/>
                          <a:pt x="588210" y="5854720"/>
                        </a:cubicBezTo>
                        <a:cubicBezTo>
                          <a:pt x="295355" y="5835736"/>
                          <a:pt x="-41219" y="5656806"/>
                          <a:pt x="0" y="5266510"/>
                        </a:cubicBezTo>
                        <a:cubicBezTo>
                          <a:pt x="-62082" y="5061492"/>
                          <a:pt x="63114" y="4919165"/>
                          <a:pt x="0" y="4728506"/>
                        </a:cubicBezTo>
                        <a:cubicBezTo>
                          <a:pt x="-63114" y="4537847"/>
                          <a:pt x="67598" y="4416595"/>
                          <a:pt x="0" y="4143718"/>
                        </a:cubicBezTo>
                        <a:cubicBezTo>
                          <a:pt x="-67598" y="3870841"/>
                          <a:pt x="47971" y="3804176"/>
                          <a:pt x="0" y="3699280"/>
                        </a:cubicBezTo>
                        <a:cubicBezTo>
                          <a:pt x="-47971" y="3594384"/>
                          <a:pt x="18838" y="3384689"/>
                          <a:pt x="0" y="3254841"/>
                        </a:cubicBezTo>
                        <a:cubicBezTo>
                          <a:pt x="-18838" y="3124993"/>
                          <a:pt x="36295" y="2896233"/>
                          <a:pt x="0" y="2670054"/>
                        </a:cubicBezTo>
                        <a:cubicBezTo>
                          <a:pt x="-36295" y="2443875"/>
                          <a:pt x="12293" y="2283397"/>
                          <a:pt x="0" y="2178832"/>
                        </a:cubicBezTo>
                        <a:cubicBezTo>
                          <a:pt x="-12293" y="2074267"/>
                          <a:pt x="42881" y="1673819"/>
                          <a:pt x="0" y="1547262"/>
                        </a:cubicBezTo>
                        <a:cubicBezTo>
                          <a:pt x="-42881" y="1420705"/>
                          <a:pt x="2387" y="914777"/>
                          <a:pt x="0" y="58821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59EEBCDC-BA3F-5868-75D6-7EB2B87115CB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59986"/>
          <a:stretch>
            <a:fillRect/>
          </a:stretch>
        </p:blipFill>
        <p:spPr>
          <a:xfrm>
            <a:off x="0" y="1420643"/>
            <a:ext cx="1014082" cy="1648983"/>
          </a:xfrm>
          <a:custGeom>
            <a:avLst/>
            <a:gdLst>
              <a:gd name="connsiteX0" fmla="*/ 0 w 1014082"/>
              <a:gd name="connsiteY0" fmla="*/ 0 h 1648983"/>
              <a:gd name="connsiteX1" fmla="*/ 1014082 w 1014082"/>
              <a:gd name="connsiteY1" fmla="*/ 0 h 1648983"/>
              <a:gd name="connsiteX2" fmla="*/ 1014082 w 1014082"/>
              <a:gd name="connsiteY2" fmla="*/ 1648983 h 1648983"/>
              <a:gd name="connsiteX3" fmla="*/ 0 w 1014082"/>
              <a:gd name="connsiteY3" fmla="*/ 1648983 h 1648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4082" h="1648983">
                <a:moveTo>
                  <a:pt x="0" y="0"/>
                </a:moveTo>
                <a:lnTo>
                  <a:pt x="1014082" y="0"/>
                </a:lnTo>
                <a:lnTo>
                  <a:pt x="1014082" y="1648983"/>
                </a:lnTo>
                <a:lnTo>
                  <a:pt x="0" y="1648983"/>
                </a:lnTo>
                <a:close/>
              </a:path>
            </a:pathLst>
          </a:cu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5" name="Picture Placeholder 42">
            <a:extLst>
              <a:ext uri="{FF2B5EF4-FFF2-40B4-BE49-F238E27FC236}">
                <a16:creationId xmlns:a16="http://schemas.microsoft.com/office/drawing/2014/main" id="{085DE0BA-CA08-ED26-0A53-02D6FB61978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30203" y="2337393"/>
            <a:ext cx="1389888" cy="138988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42">
            <a:extLst>
              <a:ext uri="{FF2B5EF4-FFF2-40B4-BE49-F238E27FC236}">
                <a16:creationId xmlns:a16="http://schemas.microsoft.com/office/drawing/2014/main" id="{70F05177-1747-10FB-B022-0A36F8F9193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69928" y="2339375"/>
            <a:ext cx="1389888" cy="138988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47">
            <a:extLst>
              <a:ext uri="{FF2B5EF4-FFF2-40B4-BE49-F238E27FC236}">
                <a16:creationId xmlns:a16="http://schemas.microsoft.com/office/drawing/2014/main" id="{485E5AFC-758F-34A6-2FEC-6042921AB73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26514" y="5064875"/>
            <a:ext cx="2788920" cy="365760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47">
            <a:extLst>
              <a:ext uri="{FF2B5EF4-FFF2-40B4-BE49-F238E27FC236}">
                <a16:creationId xmlns:a16="http://schemas.microsoft.com/office/drawing/2014/main" id="{298713CC-F6D5-ED75-901B-4121FEC843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71823" y="5032014"/>
            <a:ext cx="2788920" cy="3657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47">
            <a:extLst>
              <a:ext uri="{FF2B5EF4-FFF2-40B4-BE49-F238E27FC236}">
                <a16:creationId xmlns:a16="http://schemas.microsoft.com/office/drawing/2014/main" id="{FD30C172-4265-C1CA-4368-B347D34C9F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26515" y="2795265"/>
            <a:ext cx="2788920" cy="365760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47">
            <a:extLst>
              <a:ext uri="{FF2B5EF4-FFF2-40B4-BE49-F238E27FC236}">
                <a16:creationId xmlns:a16="http://schemas.microsoft.com/office/drawing/2014/main" id="{E6400DD4-A698-8FC3-4A8E-02EA10BB4B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71823" y="2794678"/>
            <a:ext cx="2788920" cy="3657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47">
            <a:extLst>
              <a:ext uri="{FF2B5EF4-FFF2-40B4-BE49-F238E27FC236}">
                <a16:creationId xmlns:a16="http://schemas.microsoft.com/office/drawing/2014/main" id="{630E151D-3E22-BE90-7A51-5ED7C9AD7C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98143" y="3085049"/>
            <a:ext cx="2816352" cy="310896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6A448965-125C-6EED-07B0-E98A656BBF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80067" y="3086146"/>
            <a:ext cx="2816352" cy="310896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Picture Placeholder 42">
            <a:extLst>
              <a:ext uri="{FF2B5EF4-FFF2-40B4-BE49-F238E27FC236}">
                <a16:creationId xmlns:a16="http://schemas.microsoft.com/office/drawing/2014/main" id="{9BD10ABF-0CBA-9D6F-30D9-4C5B717D2F6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332186" y="4662092"/>
            <a:ext cx="1389888" cy="138988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3" name="Picture Placeholder 42">
            <a:extLst>
              <a:ext uri="{FF2B5EF4-FFF2-40B4-BE49-F238E27FC236}">
                <a16:creationId xmlns:a16="http://schemas.microsoft.com/office/drawing/2014/main" id="{BA07108E-6273-D8A7-4270-9E51F53721B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469928" y="4662092"/>
            <a:ext cx="1389888" cy="138988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Text Placeholder 47">
            <a:extLst>
              <a:ext uri="{FF2B5EF4-FFF2-40B4-BE49-F238E27FC236}">
                <a16:creationId xmlns:a16="http://schemas.microsoft.com/office/drawing/2014/main" id="{6E2529DA-6F13-4B74-5C48-2FDB0911FF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284732" y="5337865"/>
            <a:ext cx="2816352" cy="310896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47">
            <a:extLst>
              <a:ext uri="{FF2B5EF4-FFF2-40B4-BE49-F238E27FC236}">
                <a16:creationId xmlns:a16="http://schemas.microsoft.com/office/drawing/2014/main" id="{DDB95F67-F2A0-C836-D292-8E7A6E4B1C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07814" y="5335932"/>
            <a:ext cx="2816352" cy="310896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C414FD-C705-79D9-78A9-63DB36DC2A3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DD574B-2DC0-07BF-5573-0917979F78E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780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-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15B61940-E61B-59FA-753F-E3122D288C5B}"/>
              </a:ext>
            </a:extLst>
          </p:cNvPr>
          <p:cNvSpPr/>
          <p:nvPr userDrawn="1"/>
        </p:nvSpPr>
        <p:spPr>
          <a:xfrm>
            <a:off x="1314365" y="1922787"/>
            <a:ext cx="1591489" cy="15914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48AA701-7A67-C49D-4314-407AF753DDE7}"/>
              </a:ext>
            </a:extLst>
          </p:cNvPr>
          <p:cNvSpPr/>
          <p:nvPr userDrawn="1"/>
        </p:nvSpPr>
        <p:spPr>
          <a:xfrm>
            <a:off x="3895640" y="1922787"/>
            <a:ext cx="1591489" cy="159148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CC8E6E4-F551-385C-FB82-E0DC1F41683A}"/>
              </a:ext>
            </a:extLst>
          </p:cNvPr>
          <p:cNvSpPr/>
          <p:nvPr userDrawn="1"/>
        </p:nvSpPr>
        <p:spPr>
          <a:xfrm>
            <a:off x="6476915" y="1922787"/>
            <a:ext cx="1591489" cy="159148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29C42C5-603C-FCCB-D730-0AD61CFA4CC2}"/>
              </a:ext>
            </a:extLst>
          </p:cNvPr>
          <p:cNvSpPr/>
          <p:nvPr userDrawn="1"/>
        </p:nvSpPr>
        <p:spPr>
          <a:xfrm>
            <a:off x="9058190" y="1922787"/>
            <a:ext cx="1591489" cy="159148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6608174-ED17-1D4B-48DF-EA532646C797}"/>
              </a:ext>
            </a:extLst>
          </p:cNvPr>
          <p:cNvSpPr/>
          <p:nvPr userDrawn="1"/>
        </p:nvSpPr>
        <p:spPr>
          <a:xfrm>
            <a:off x="732271" y="723899"/>
            <a:ext cx="10727977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41AE0A6-2671-E79C-548D-3AA4D5D9CB11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2152D0E-B03D-CC17-D0CC-650AE3953FCF}"/>
              </a:ext>
            </a:extLst>
          </p:cNvPr>
          <p:cNvCxnSpPr>
            <a:cxnSpLocks/>
          </p:cNvCxnSpPr>
          <p:nvPr userDrawn="1"/>
        </p:nvCxnSpPr>
        <p:spPr>
          <a:xfrm>
            <a:off x="1655064" y="722376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Graphic 82">
            <a:extLst>
              <a:ext uri="{FF2B5EF4-FFF2-40B4-BE49-F238E27FC236}">
                <a16:creationId xmlns:a16="http://schemas.microsoft.com/office/drawing/2014/main" id="{65438DF6-6622-6EE4-F01A-D199CAE96D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3498771">
            <a:off x="868523" y="778989"/>
            <a:ext cx="660389" cy="660389"/>
          </a:xfrm>
          <a:prstGeom prst="rect">
            <a:avLst/>
          </a:prstGeom>
        </p:spPr>
      </p:pic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712EE3B-E131-C405-FCA7-8263094DF01B}"/>
              </a:ext>
            </a:extLst>
          </p:cNvPr>
          <p:cNvCxnSpPr>
            <a:cxnSpLocks/>
          </p:cNvCxnSpPr>
          <p:nvPr userDrawn="1"/>
        </p:nvCxnSpPr>
        <p:spPr>
          <a:xfrm>
            <a:off x="2593735" y="718779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5" name="Picture Placeholder 42">
            <a:extLst>
              <a:ext uri="{FF2B5EF4-FFF2-40B4-BE49-F238E27FC236}">
                <a16:creationId xmlns:a16="http://schemas.microsoft.com/office/drawing/2014/main" id="{085DE0BA-CA08-ED26-0A53-02D6FB619788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524893" y="2133315"/>
            <a:ext cx="1170432" cy="117043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42">
            <a:extLst>
              <a:ext uri="{FF2B5EF4-FFF2-40B4-BE49-F238E27FC236}">
                <a16:creationId xmlns:a16="http://schemas.microsoft.com/office/drawing/2014/main" id="{70F05177-1747-10FB-B022-0A36F8F91931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4106168" y="2133315"/>
            <a:ext cx="1170432" cy="117043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47">
            <a:extLst>
              <a:ext uri="{FF2B5EF4-FFF2-40B4-BE49-F238E27FC236}">
                <a16:creationId xmlns:a16="http://schemas.microsoft.com/office/drawing/2014/main" id="{485E5AFC-758F-34A6-2FEC-6042921AB73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53328" y="3575304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47">
            <a:extLst>
              <a:ext uri="{FF2B5EF4-FFF2-40B4-BE49-F238E27FC236}">
                <a16:creationId xmlns:a16="http://schemas.microsoft.com/office/drawing/2014/main" id="{298713CC-F6D5-ED75-901B-4121FEC843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31936" y="3575304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47">
            <a:extLst>
              <a:ext uri="{FF2B5EF4-FFF2-40B4-BE49-F238E27FC236}">
                <a16:creationId xmlns:a16="http://schemas.microsoft.com/office/drawing/2014/main" id="{FD30C172-4265-C1CA-4368-B347D34C9F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86968" y="3575304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47">
            <a:extLst>
              <a:ext uri="{FF2B5EF4-FFF2-40B4-BE49-F238E27FC236}">
                <a16:creationId xmlns:a16="http://schemas.microsoft.com/office/drawing/2014/main" id="{E6400DD4-A698-8FC3-4A8E-02EA10BB4B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74720" y="3575304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47">
            <a:extLst>
              <a:ext uri="{FF2B5EF4-FFF2-40B4-BE49-F238E27FC236}">
                <a16:creationId xmlns:a16="http://schemas.microsoft.com/office/drawing/2014/main" id="{630E151D-3E22-BE90-7A51-5ED7C9AD7C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86968" y="3867912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6A448965-125C-6EED-07B0-E98A656BBF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74720" y="3867912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Picture Placeholder 42">
            <a:extLst>
              <a:ext uri="{FF2B5EF4-FFF2-40B4-BE49-F238E27FC236}">
                <a16:creationId xmlns:a16="http://schemas.microsoft.com/office/drawing/2014/main" id="{9BD10ABF-0CBA-9D6F-30D9-4C5B717D2F65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6687443" y="2133315"/>
            <a:ext cx="1170432" cy="117043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3" name="Picture Placeholder 42">
            <a:extLst>
              <a:ext uri="{FF2B5EF4-FFF2-40B4-BE49-F238E27FC236}">
                <a16:creationId xmlns:a16="http://schemas.microsoft.com/office/drawing/2014/main" id="{BA07108E-6273-D8A7-4270-9E51F53721B6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9268718" y="2133315"/>
            <a:ext cx="1170432" cy="117043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Text Placeholder 47">
            <a:extLst>
              <a:ext uri="{FF2B5EF4-FFF2-40B4-BE49-F238E27FC236}">
                <a16:creationId xmlns:a16="http://schemas.microsoft.com/office/drawing/2014/main" id="{6E2529DA-6F13-4B74-5C48-2FDB0911FF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31936" y="3867912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47">
            <a:extLst>
              <a:ext uri="{FF2B5EF4-FFF2-40B4-BE49-F238E27FC236}">
                <a16:creationId xmlns:a16="http://schemas.microsoft.com/office/drawing/2014/main" id="{DDB95F67-F2A0-C836-D292-8E7A6E4B1C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053328" y="3867912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itle 74">
            <a:extLst>
              <a:ext uri="{FF2B5EF4-FFF2-40B4-BE49-F238E27FC236}">
                <a16:creationId xmlns:a16="http://schemas.microsoft.com/office/drawing/2014/main" id="{45C7CFA5-6EFF-944C-B5AF-967956876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CCCB2D5-E906-485E-2E26-F407AF7990EE}"/>
              </a:ext>
            </a:extLst>
          </p:cNvPr>
          <p:cNvSpPr/>
          <p:nvPr userDrawn="1"/>
        </p:nvSpPr>
        <p:spPr>
          <a:xfrm>
            <a:off x="1314365" y="4348233"/>
            <a:ext cx="1591489" cy="159148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08273C2-3AD4-6120-E47A-26DB07BBD95D}"/>
              </a:ext>
            </a:extLst>
          </p:cNvPr>
          <p:cNvSpPr/>
          <p:nvPr userDrawn="1"/>
        </p:nvSpPr>
        <p:spPr>
          <a:xfrm>
            <a:off x="3895640" y="4348233"/>
            <a:ext cx="1591489" cy="159148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2F43D3C-5856-8C0F-0F96-72BD06ABE36F}"/>
              </a:ext>
            </a:extLst>
          </p:cNvPr>
          <p:cNvSpPr/>
          <p:nvPr userDrawn="1"/>
        </p:nvSpPr>
        <p:spPr>
          <a:xfrm>
            <a:off x="6476915" y="4348233"/>
            <a:ext cx="1591489" cy="159148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185EECC-2E1F-A706-B285-3F50DE4E325D}"/>
              </a:ext>
            </a:extLst>
          </p:cNvPr>
          <p:cNvSpPr/>
          <p:nvPr userDrawn="1"/>
        </p:nvSpPr>
        <p:spPr>
          <a:xfrm>
            <a:off x="9058190" y="4348233"/>
            <a:ext cx="1591489" cy="15914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1" name="Picture Placeholder 42">
            <a:extLst>
              <a:ext uri="{FF2B5EF4-FFF2-40B4-BE49-F238E27FC236}">
                <a16:creationId xmlns:a16="http://schemas.microsoft.com/office/drawing/2014/main" id="{68BB68C2-C6BF-C6F9-8006-0D20E4119CDC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1524893" y="4558761"/>
            <a:ext cx="1170432" cy="117043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42">
            <a:extLst>
              <a:ext uri="{FF2B5EF4-FFF2-40B4-BE49-F238E27FC236}">
                <a16:creationId xmlns:a16="http://schemas.microsoft.com/office/drawing/2014/main" id="{7ED2CB41-D537-2DB4-7393-38B54A68A24F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4106168" y="4558761"/>
            <a:ext cx="1170432" cy="117043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47">
            <a:extLst>
              <a:ext uri="{FF2B5EF4-FFF2-40B4-BE49-F238E27FC236}">
                <a16:creationId xmlns:a16="http://schemas.microsoft.com/office/drawing/2014/main" id="{BBFB738A-B417-1ECD-CD63-3482F41BC56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53328" y="6000750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7">
            <a:extLst>
              <a:ext uri="{FF2B5EF4-FFF2-40B4-BE49-F238E27FC236}">
                <a16:creationId xmlns:a16="http://schemas.microsoft.com/office/drawing/2014/main" id="{2D5357B5-C3E2-7F93-1D38-5A371EEEF56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631936" y="6000750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7">
            <a:extLst>
              <a:ext uri="{FF2B5EF4-FFF2-40B4-BE49-F238E27FC236}">
                <a16:creationId xmlns:a16="http://schemas.microsoft.com/office/drawing/2014/main" id="{F3A2EC5D-9943-7E84-56FB-B58A67C0550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86968" y="6000750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47">
            <a:extLst>
              <a:ext uri="{FF2B5EF4-FFF2-40B4-BE49-F238E27FC236}">
                <a16:creationId xmlns:a16="http://schemas.microsoft.com/office/drawing/2014/main" id="{DE78D7B0-18B2-66C2-EA4E-90629F60BFA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74720" y="6000750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7">
            <a:extLst>
              <a:ext uri="{FF2B5EF4-FFF2-40B4-BE49-F238E27FC236}">
                <a16:creationId xmlns:a16="http://schemas.microsoft.com/office/drawing/2014/main" id="{A171817E-40B4-8D03-2F00-07A0200ABC8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86968" y="6293358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47">
            <a:extLst>
              <a:ext uri="{FF2B5EF4-FFF2-40B4-BE49-F238E27FC236}">
                <a16:creationId xmlns:a16="http://schemas.microsoft.com/office/drawing/2014/main" id="{7CB4D57A-D57F-A9A7-E242-62A0EFB9034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474720" y="6293358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42">
            <a:extLst>
              <a:ext uri="{FF2B5EF4-FFF2-40B4-BE49-F238E27FC236}">
                <a16:creationId xmlns:a16="http://schemas.microsoft.com/office/drawing/2014/main" id="{CABD2581-C1DD-BCD8-B303-D442E2826A57}"/>
              </a:ext>
            </a:extLst>
          </p:cNvPr>
          <p:cNvSpPr>
            <a:spLocks noGrp="1" noChangeAspect="1"/>
          </p:cNvSpPr>
          <p:nvPr>
            <p:ph type="pic" sz="quarter" idx="34"/>
          </p:nvPr>
        </p:nvSpPr>
        <p:spPr>
          <a:xfrm>
            <a:off x="6687443" y="4558761"/>
            <a:ext cx="1170432" cy="117043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42">
            <a:extLst>
              <a:ext uri="{FF2B5EF4-FFF2-40B4-BE49-F238E27FC236}">
                <a16:creationId xmlns:a16="http://schemas.microsoft.com/office/drawing/2014/main" id="{69C46305-033A-D1D0-006B-CA534D171213}"/>
              </a:ext>
            </a:extLst>
          </p:cNvPr>
          <p:cNvSpPr>
            <a:spLocks noGrp="1" noChangeAspect="1"/>
          </p:cNvSpPr>
          <p:nvPr>
            <p:ph type="pic" sz="quarter" idx="35"/>
          </p:nvPr>
        </p:nvSpPr>
        <p:spPr>
          <a:xfrm>
            <a:off x="9268718" y="4558761"/>
            <a:ext cx="1170432" cy="117043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Text Placeholder 47">
            <a:extLst>
              <a:ext uri="{FF2B5EF4-FFF2-40B4-BE49-F238E27FC236}">
                <a16:creationId xmlns:a16="http://schemas.microsoft.com/office/drawing/2014/main" id="{8A2F0738-422D-8670-FFDD-4DD9CC8579D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631936" y="6293358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47">
            <a:extLst>
              <a:ext uri="{FF2B5EF4-FFF2-40B4-BE49-F238E27FC236}">
                <a16:creationId xmlns:a16="http://schemas.microsoft.com/office/drawing/2014/main" id="{83236D35-4927-EB6F-1700-660A0790337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053328" y="6293358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F9D1D0-8763-3145-447C-B59E4A8FC6EC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818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5732" y="1825625"/>
            <a:ext cx="886053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6D563D3-0A67-7027-7E6A-4A1CC1EFC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253299D-623D-C544-F0BB-1CFBDADB60B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4DFB546-9FE5-4620-5D33-4097901B71B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279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CEF658BC-1431-0DE4-1239-3174304231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4763BC-4E08-292A-DD60-96BE96D0C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60985-1AA1-7560-41A6-84310DD64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0E0AF6-58A8-48DB-1F46-476F080F61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EC9D58-970F-C9CA-292B-CD8C17FCE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52D850-95FE-4444-3630-18B4E2855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1933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068D4647-BE09-FD84-9BD2-6303C6683A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55064" y="2926080"/>
            <a:ext cx="1801368" cy="502920"/>
          </a:xfrm>
          <a:solidFill>
            <a:schemeClr val="accent1"/>
          </a:solidFill>
        </p:spPr>
        <p:txBody>
          <a:bodyPr>
            <a:noAutofit/>
          </a:bodyPr>
          <a:lstStyle>
            <a:lvl1pPr marL="0" indent="0">
              <a:buNone/>
              <a:defRPr sz="12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31">
            <a:extLst>
              <a:ext uri="{FF2B5EF4-FFF2-40B4-BE49-F238E27FC236}">
                <a16:creationId xmlns:a16="http://schemas.microsoft.com/office/drawing/2014/main" id="{AB9EB1AC-FF5A-36FF-E4EC-C3F6EDF04BE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995928" y="2926080"/>
            <a:ext cx="1801368" cy="502920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12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1">
            <a:extLst>
              <a:ext uri="{FF2B5EF4-FFF2-40B4-BE49-F238E27FC236}">
                <a16:creationId xmlns:a16="http://schemas.microsoft.com/office/drawing/2014/main" id="{919FA078-A6CC-4C6E-BB4E-70AA4ECA801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45936" y="2926080"/>
            <a:ext cx="1801368" cy="502920"/>
          </a:xfrm>
          <a:solidFill>
            <a:schemeClr val="accent4"/>
          </a:solidFill>
        </p:spPr>
        <p:txBody>
          <a:bodyPr>
            <a:noAutofit/>
          </a:bodyPr>
          <a:lstStyle>
            <a:lvl1pPr marL="0" indent="0">
              <a:buNone/>
              <a:defRPr sz="12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31">
            <a:extLst>
              <a:ext uri="{FF2B5EF4-FFF2-40B4-BE49-F238E27FC236}">
                <a16:creationId xmlns:a16="http://schemas.microsoft.com/office/drawing/2014/main" id="{B0730A45-AC46-DF6D-F56B-76A81490918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695944" y="2926080"/>
            <a:ext cx="1987296" cy="502920"/>
          </a:xfrm>
          <a:solidFill>
            <a:schemeClr val="accent3"/>
          </a:solidFill>
        </p:spPr>
        <p:txBody>
          <a:bodyPr>
            <a:noAutofit/>
          </a:bodyPr>
          <a:lstStyle>
            <a:lvl1pPr marL="0" indent="0">
              <a:buNone/>
              <a:defRPr sz="12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EF48E5-0EF0-3977-79C2-820662F06DA9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AAF462-6D82-EBE1-069E-7DBC32F1CC5D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11A54-748F-71FD-8701-AE68B04A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4041648"/>
            <a:ext cx="182270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FF5B42-8E52-2B78-7C88-39A811D7A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054096" y="4041648"/>
            <a:ext cx="182270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B569F4F-40C0-2BAE-2F80-0B6BF70B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F862698-31B6-3C3C-7B04-A5AB06659947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722376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MMM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12F0E6AE-7B40-CC7A-BAB7-B5963027CE13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3163824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MMM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F19DE03C-9C3C-ED9E-7938-68DC59591962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5596128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MMM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D15E2928-BFA0-AA75-6EC4-69EFDD615540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8028432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MMM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B1000C26-BF38-857C-8EB7-C84E4425628C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10460736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MMM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7A3AFB34-A509-98A0-B6AB-3BC35F16DDD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04688" y="4041648"/>
            <a:ext cx="182270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B4CAD471-FB12-ACCA-9D4A-E01322DC61A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918704" y="4041648"/>
            <a:ext cx="182270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B7FF2DDC-689F-CE60-97C8-8575DBB2C06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369296" y="4041648"/>
            <a:ext cx="156362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Footer Placeholder 35">
            <a:extLst>
              <a:ext uri="{FF2B5EF4-FFF2-40B4-BE49-F238E27FC236}">
                <a16:creationId xmlns:a16="http://schemas.microsoft.com/office/drawing/2014/main" id="{A2666B74-0A69-6162-5AD3-4561A8EE5514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78FC7A6E-EB75-1109-AB97-8091F2C9FF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3882992B-56C1-1B1D-6308-47369A0DF03F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651903" y="809244"/>
            <a:ext cx="941832" cy="621792"/>
          </a:xfrm>
        </p:spPr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0248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9F44A91D-CC57-69D8-3CC1-3538FCB6BB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7662" b="48541"/>
          <a:stretch>
            <a:fillRect/>
          </a:stretch>
        </p:blipFill>
        <p:spPr>
          <a:xfrm flipV="1">
            <a:off x="10376194" y="1"/>
            <a:ext cx="1815806" cy="3829511"/>
          </a:xfrm>
          <a:custGeom>
            <a:avLst/>
            <a:gdLst>
              <a:gd name="connsiteX0" fmla="*/ 0 w 1815806"/>
              <a:gd name="connsiteY0" fmla="*/ 3829511 h 3829511"/>
              <a:gd name="connsiteX1" fmla="*/ 1815806 w 1815806"/>
              <a:gd name="connsiteY1" fmla="*/ 3829511 h 3829511"/>
              <a:gd name="connsiteX2" fmla="*/ 1815806 w 1815806"/>
              <a:gd name="connsiteY2" fmla="*/ 0 h 3829511"/>
              <a:gd name="connsiteX3" fmla="*/ 0 w 1815806"/>
              <a:gd name="connsiteY3" fmla="*/ 0 h 382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5806" h="3829511">
                <a:moveTo>
                  <a:pt x="0" y="3829511"/>
                </a:moveTo>
                <a:lnTo>
                  <a:pt x="1815806" y="3829511"/>
                </a:lnTo>
                <a:lnTo>
                  <a:pt x="1815806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AB0AC87-A4CD-F667-74B2-52047C1E6FB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85638" b="45150"/>
          <a:stretch>
            <a:fillRect/>
          </a:stretch>
        </p:blipFill>
        <p:spPr>
          <a:xfrm flipV="1">
            <a:off x="10887888" y="1"/>
            <a:ext cx="1304112" cy="3289795"/>
          </a:xfrm>
          <a:custGeom>
            <a:avLst/>
            <a:gdLst>
              <a:gd name="connsiteX0" fmla="*/ 0 w 1304112"/>
              <a:gd name="connsiteY0" fmla="*/ 3289795 h 3289795"/>
              <a:gd name="connsiteX1" fmla="*/ 1304112 w 1304112"/>
              <a:gd name="connsiteY1" fmla="*/ 3289795 h 3289795"/>
              <a:gd name="connsiteX2" fmla="*/ 1304112 w 1304112"/>
              <a:gd name="connsiteY2" fmla="*/ 0 h 3289795"/>
              <a:gd name="connsiteX3" fmla="*/ 0 w 1304112"/>
              <a:gd name="connsiteY3" fmla="*/ 0 h 3289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04112" h="3289795">
                <a:moveTo>
                  <a:pt x="0" y="3289795"/>
                </a:moveTo>
                <a:lnTo>
                  <a:pt x="1304112" y="3289795"/>
                </a:lnTo>
                <a:lnTo>
                  <a:pt x="1304112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BEF48E5-0EF0-3977-79C2-820662F06DA9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AAF462-6D82-EBE1-069E-7DBC32F1CC5D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 55">
            <a:extLst>
              <a:ext uri="{FF2B5EF4-FFF2-40B4-BE49-F238E27FC236}">
                <a16:creationId xmlns:a16="http://schemas.microsoft.com/office/drawing/2014/main" id="{5DF0CA69-CF45-9850-4F85-B4C3BF2141B4}"/>
              </a:ext>
            </a:extLst>
          </p:cNvPr>
          <p:cNvSpPr/>
          <p:nvPr userDrawn="1"/>
        </p:nvSpPr>
        <p:spPr>
          <a:xfrm>
            <a:off x="-7736" y="6082871"/>
            <a:ext cx="12199737" cy="493110"/>
          </a:xfrm>
          <a:custGeom>
            <a:avLst/>
            <a:gdLst>
              <a:gd name="connsiteX0" fmla="*/ 25897 w 12199737"/>
              <a:gd name="connsiteY0" fmla="*/ 0 h 493110"/>
              <a:gd name="connsiteX1" fmla="*/ 12199737 w 12199737"/>
              <a:gd name="connsiteY1" fmla="*/ 0 h 493110"/>
              <a:gd name="connsiteX2" fmla="*/ 12199737 w 12199737"/>
              <a:gd name="connsiteY2" fmla="*/ 493110 h 493110"/>
              <a:gd name="connsiteX3" fmla="*/ 25897 w 12199737"/>
              <a:gd name="connsiteY3" fmla="*/ 493109 h 493110"/>
              <a:gd name="connsiteX4" fmla="*/ 0 w 12199737"/>
              <a:gd name="connsiteY4" fmla="*/ 490499 h 493110"/>
              <a:gd name="connsiteX5" fmla="*/ 0 w 12199737"/>
              <a:gd name="connsiteY5" fmla="*/ 2611 h 493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9737" h="493110">
                <a:moveTo>
                  <a:pt x="25897" y="0"/>
                </a:moveTo>
                <a:lnTo>
                  <a:pt x="12199737" y="0"/>
                </a:lnTo>
                <a:lnTo>
                  <a:pt x="12199737" y="493110"/>
                </a:lnTo>
                <a:lnTo>
                  <a:pt x="25897" y="493109"/>
                </a:lnTo>
                <a:lnTo>
                  <a:pt x="0" y="490499"/>
                </a:lnTo>
                <a:lnTo>
                  <a:pt x="0" y="261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FE865D6-FFF0-8547-C225-4EA40D12981C}"/>
              </a:ext>
            </a:extLst>
          </p:cNvPr>
          <p:cNvSpPr/>
          <p:nvPr userDrawn="1"/>
        </p:nvSpPr>
        <p:spPr>
          <a:xfrm>
            <a:off x="10745496" y="2712720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C43A4F4-14CD-C1BC-076B-D3EC524E9072}"/>
              </a:ext>
            </a:extLst>
          </p:cNvPr>
          <p:cNvSpPr/>
          <p:nvPr userDrawn="1"/>
        </p:nvSpPr>
        <p:spPr>
          <a:xfrm>
            <a:off x="11336726" y="2288311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59C9BF2-FA96-FBA2-CC60-3024E983F26F}"/>
              </a:ext>
            </a:extLst>
          </p:cNvPr>
          <p:cNvSpPr/>
          <p:nvPr userDrawn="1"/>
        </p:nvSpPr>
        <p:spPr>
          <a:xfrm>
            <a:off x="825032" y="6142636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11A54-748F-71FD-8701-AE68B04A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2768" y="2148840"/>
            <a:ext cx="3566160" cy="649224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8F8E6-CFD8-798A-9C2F-F6AC42544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8448" y="2788920"/>
            <a:ext cx="4352544" cy="2002536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FF5B42-8E52-2B78-7C88-39A811D7A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35040" y="2148840"/>
            <a:ext cx="3566160" cy="649224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0AB633-C7A8-E90B-901E-7E3FCE2D5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60720" y="2788920"/>
            <a:ext cx="4352544" cy="2002536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B569F4F-40C0-2BAE-2F80-0B6BF70B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F38E5EFA-258F-AF45-F3FE-029FC10676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D44511B0-E2E3-43E3-E867-BD59B58CA9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FE5CA81-EC6E-7E1A-302A-32C7DC50B8A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8128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BEF48E5-0EF0-3977-79C2-820662F06DA9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AAF462-6D82-EBE1-069E-7DBC32F1CC5D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11A54-748F-71FD-8701-AE68B04A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2768" y="2148840"/>
            <a:ext cx="3218688" cy="36576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8F8E6-CFD8-798A-9C2F-F6AC42544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8448" y="2788920"/>
            <a:ext cx="3163824" cy="329184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FF5B42-8E52-2B78-7C88-39A811D7A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349240" y="2148840"/>
            <a:ext cx="3218688" cy="36576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0AB633-C7A8-E90B-901E-7E3FCE2D5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74920" y="2788920"/>
            <a:ext cx="3163824" cy="329184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B569F4F-40C0-2BAE-2F80-0B6BF70B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F38E5EFA-258F-AF45-F3FE-029FC10676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D44511B0-E2E3-43E3-E867-BD59B58CA9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FE5CA81-EC6E-7E1A-302A-32C7DC50B8A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38DCAB8-FF04-8225-502A-9415422E45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165" t="86663"/>
          <a:stretch/>
        </p:blipFill>
        <p:spPr>
          <a:xfrm flipH="1" flipV="1">
            <a:off x="7732664" y="5943369"/>
            <a:ext cx="4459335" cy="914630"/>
          </a:xfrm>
          <a:custGeom>
            <a:avLst/>
            <a:gdLst>
              <a:gd name="connsiteX0" fmla="*/ 0 w 4459335"/>
              <a:gd name="connsiteY0" fmla="*/ 0 h 1543022"/>
              <a:gd name="connsiteX1" fmla="*/ 4459335 w 4459335"/>
              <a:gd name="connsiteY1" fmla="*/ 0 h 1543022"/>
              <a:gd name="connsiteX2" fmla="*/ 4459335 w 4459335"/>
              <a:gd name="connsiteY2" fmla="*/ 1543022 h 1543022"/>
              <a:gd name="connsiteX3" fmla="*/ 0 w 4459335"/>
              <a:gd name="connsiteY3" fmla="*/ 1543022 h 154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335" h="1543022">
                <a:moveTo>
                  <a:pt x="0" y="0"/>
                </a:moveTo>
                <a:lnTo>
                  <a:pt x="4459335" y="0"/>
                </a:lnTo>
                <a:lnTo>
                  <a:pt x="4459335" y="1543022"/>
                </a:lnTo>
                <a:lnTo>
                  <a:pt x="0" y="1543022"/>
                </a:lnTo>
                <a:close/>
              </a:path>
            </a:pathLst>
          </a:cu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D37B56B1-1773-120E-5DF7-ADC768615C86}"/>
              </a:ext>
            </a:extLst>
          </p:cNvPr>
          <p:cNvSpPr/>
          <p:nvPr userDrawn="1"/>
        </p:nvSpPr>
        <p:spPr>
          <a:xfrm>
            <a:off x="10012200" y="5977940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A05B6D8-31AC-001B-57B4-132C0A9BED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851392" y="2148840"/>
            <a:ext cx="3218688" cy="36576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56DC4DB0-B5C2-72F4-A891-0281DDB80FC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567928" y="2788920"/>
            <a:ext cx="3163824" cy="329184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35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raphic 22">
            <a:extLst>
              <a:ext uri="{FF2B5EF4-FFF2-40B4-BE49-F238E27FC236}">
                <a16:creationId xmlns:a16="http://schemas.microsoft.com/office/drawing/2014/main" id="{8508C9A2-89A3-8585-F561-54AF27E76C2E}"/>
              </a:ext>
            </a:extLst>
          </p:cNvPr>
          <p:cNvSpPr/>
          <p:nvPr/>
        </p:nvSpPr>
        <p:spPr>
          <a:xfrm>
            <a:off x="8963354" y="3545840"/>
            <a:ext cx="2556181" cy="2641600"/>
          </a:xfrm>
          <a:custGeom>
            <a:avLst/>
            <a:gdLst>
              <a:gd name="connsiteX0" fmla="*/ 11417928 w 11417635"/>
              <a:gd name="connsiteY0" fmla="*/ 16489276 h 17685280"/>
              <a:gd name="connsiteX1" fmla="*/ 10219543 w 11417635"/>
              <a:gd name="connsiteY1" fmla="*/ 17687536 h 17685280"/>
              <a:gd name="connsiteX2" fmla="*/ 1198684 w 11417635"/>
              <a:gd name="connsiteY2" fmla="*/ 17687536 h 17685280"/>
              <a:gd name="connsiteX3" fmla="*/ 293 w 11417635"/>
              <a:gd name="connsiteY3" fmla="*/ 16489276 h 17685280"/>
              <a:gd name="connsiteX4" fmla="*/ 293 w 11417635"/>
              <a:gd name="connsiteY4" fmla="*/ 1200514 h 17685280"/>
              <a:gd name="connsiteX5" fmla="*/ 1198684 w 11417635"/>
              <a:gd name="connsiteY5" fmla="*/ 2255 h 17685280"/>
              <a:gd name="connsiteX6" fmla="*/ 10219543 w 11417635"/>
              <a:gd name="connsiteY6" fmla="*/ 2255 h 17685280"/>
              <a:gd name="connsiteX7" fmla="*/ 11417928 w 11417635"/>
              <a:gd name="connsiteY7" fmla="*/ 1200514 h 17685280"/>
              <a:gd name="connsiteX0" fmla="*/ 11417635 w 11417635"/>
              <a:gd name="connsiteY0" fmla="*/ 16501248 h 17699508"/>
              <a:gd name="connsiteX1" fmla="*/ 10219250 w 11417635"/>
              <a:gd name="connsiteY1" fmla="*/ 17699508 h 17699508"/>
              <a:gd name="connsiteX2" fmla="*/ 1198391 w 11417635"/>
              <a:gd name="connsiteY2" fmla="*/ 17699508 h 17699508"/>
              <a:gd name="connsiteX3" fmla="*/ 0 w 11417635"/>
              <a:gd name="connsiteY3" fmla="*/ 16501248 h 17699508"/>
              <a:gd name="connsiteX4" fmla="*/ 0 w 11417635"/>
              <a:gd name="connsiteY4" fmla="*/ 1212486 h 17699508"/>
              <a:gd name="connsiteX5" fmla="*/ 1198391 w 11417635"/>
              <a:gd name="connsiteY5" fmla="*/ 14227 h 17699508"/>
              <a:gd name="connsiteX6" fmla="*/ 3548686 w 11417635"/>
              <a:gd name="connsiteY6" fmla="*/ 0 h 17699508"/>
              <a:gd name="connsiteX7" fmla="*/ 10219250 w 11417635"/>
              <a:gd name="connsiteY7" fmla="*/ 14227 h 17699508"/>
              <a:gd name="connsiteX8" fmla="*/ 11417635 w 11417635"/>
              <a:gd name="connsiteY8" fmla="*/ 1212486 h 17699508"/>
              <a:gd name="connsiteX9" fmla="*/ 11417635 w 11417635"/>
              <a:gd name="connsiteY9" fmla="*/ 16501248 h 17699508"/>
              <a:gd name="connsiteX0" fmla="*/ 11417635 w 11509075"/>
              <a:gd name="connsiteY0" fmla="*/ 1212486 h 17699508"/>
              <a:gd name="connsiteX1" fmla="*/ 11417635 w 11509075"/>
              <a:gd name="connsiteY1" fmla="*/ 16501248 h 17699508"/>
              <a:gd name="connsiteX2" fmla="*/ 10219250 w 11509075"/>
              <a:gd name="connsiteY2" fmla="*/ 17699508 h 17699508"/>
              <a:gd name="connsiteX3" fmla="*/ 1198391 w 11509075"/>
              <a:gd name="connsiteY3" fmla="*/ 17699508 h 17699508"/>
              <a:gd name="connsiteX4" fmla="*/ 0 w 11509075"/>
              <a:gd name="connsiteY4" fmla="*/ 16501248 h 17699508"/>
              <a:gd name="connsiteX5" fmla="*/ 0 w 11509075"/>
              <a:gd name="connsiteY5" fmla="*/ 1212486 h 17699508"/>
              <a:gd name="connsiteX6" fmla="*/ 1198391 w 11509075"/>
              <a:gd name="connsiteY6" fmla="*/ 14227 h 17699508"/>
              <a:gd name="connsiteX7" fmla="*/ 3548686 w 11509075"/>
              <a:gd name="connsiteY7" fmla="*/ 0 h 17699508"/>
              <a:gd name="connsiteX8" fmla="*/ 10219250 w 11509075"/>
              <a:gd name="connsiteY8" fmla="*/ 14227 h 17699508"/>
              <a:gd name="connsiteX9" fmla="*/ 11509075 w 11509075"/>
              <a:gd name="connsiteY9" fmla="*/ 1303926 h 17699508"/>
              <a:gd name="connsiteX0" fmla="*/ 11417635 w 11417635"/>
              <a:gd name="connsiteY0" fmla="*/ 1212486 h 17699508"/>
              <a:gd name="connsiteX1" fmla="*/ 11417635 w 11417635"/>
              <a:gd name="connsiteY1" fmla="*/ 16501248 h 17699508"/>
              <a:gd name="connsiteX2" fmla="*/ 10219250 w 11417635"/>
              <a:gd name="connsiteY2" fmla="*/ 17699508 h 17699508"/>
              <a:gd name="connsiteX3" fmla="*/ 1198391 w 11417635"/>
              <a:gd name="connsiteY3" fmla="*/ 17699508 h 17699508"/>
              <a:gd name="connsiteX4" fmla="*/ 0 w 11417635"/>
              <a:gd name="connsiteY4" fmla="*/ 16501248 h 17699508"/>
              <a:gd name="connsiteX5" fmla="*/ 0 w 11417635"/>
              <a:gd name="connsiteY5" fmla="*/ 1212486 h 17699508"/>
              <a:gd name="connsiteX6" fmla="*/ 1198391 w 11417635"/>
              <a:gd name="connsiteY6" fmla="*/ 14227 h 17699508"/>
              <a:gd name="connsiteX7" fmla="*/ 3548686 w 11417635"/>
              <a:gd name="connsiteY7" fmla="*/ 0 h 17699508"/>
              <a:gd name="connsiteX8" fmla="*/ 10219250 w 11417635"/>
              <a:gd name="connsiteY8" fmla="*/ 14227 h 17699508"/>
              <a:gd name="connsiteX0" fmla="*/ 11417635 w 11417635"/>
              <a:gd name="connsiteY0" fmla="*/ 1212486 h 17699508"/>
              <a:gd name="connsiteX1" fmla="*/ 11417635 w 11417635"/>
              <a:gd name="connsiteY1" fmla="*/ 16501248 h 17699508"/>
              <a:gd name="connsiteX2" fmla="*/ 10219250 w 11417635"/>
              <a:gd name="connsiteY2" fmla="*/ 17699508 h 17699508"/>
              <a:gd name="connsiteX3" fmla="*/ 1198391 w 11417635"/>
              <a:gd name="connsiteY3" fmla="*/ 17699508 h 17699508"/>
              <a:gd name="connsiteX4" fmla="*/ 0 w 11417635"/>
              <a:gd name="connsiteY4" fmla="*/ 16501248 h 17699508"/>
              <a:gd name="connsiteX5" fmla="*/ 0 w 11417635"/>
              <a:gd name="connsiteY5" fmla="*/ 1212486 h 17699508"/>
              <a:gd name="connsiteX6" fmla="*/ 1198391 w 11417635"/>
              <a:gd name="connsiteY6" fmla="*/ 14227 h 17699508"/>
              <a:gd name="connsiteX7" fmla="*/ 3548686 w 11417635"/>
              <a:gd name="connsiteY7" fmla="*/ 0 h 17699508"/>
              <a:gd name="connsiteX0" fmla="*/ 11417635 w 11417635"/>
              <a:gd name="connsiteY0" fmla="*/ 16501248 h 17699508"/>
              <a:gd name="connsiteX1" fmla="*/ 10219250 w 11417635"/>
              <a:gd name="connsiteY1" fmla="*/ 17699508 h 17699508"/>
              <a:gd name="connsiteX2" fmla="*/ 1198391 w 11417635"/>
              <a:gd name="connsiteY2" fmla="*/ 17699508 h 17699508"/>
              <a:gd name="connsiteX3" fmla="*/ 0 w 11417635"/>
              <a:gd name="connsiteY3" fmla="*/ 16501248 h 17699508"/>
              <a:gd name="connsiteX4" fmla="*/ 0 w 11417635"/>
              <a:gd name="connsiteY4" fmla="*/ 1212486 h 17699508"/>
              <a:gd name="connsiteX5" fmla="*/ 1198391 w 11417635"/>
              <a:gd name="connsiteY5" fmla="*/ 14227 h 17699508"/>
              <a:gd name="connsiteX6" fmla="*/ 3548686 w 11417635"/>
              <a:gd name="connsiteY6" fmla="*/ 0 h 17699508"/>
              <a:gd name="connsiteX0" fmla="*/ 11419870 w 11419870"/>
              <a:gd name="connsiteY0" fmla="*/ 16501248 h 17699508"/>
              <a:gd name="connsiteX1" fmla="*/ 10221485 w 11419870"/>
              <a:gd name="connsiteY1" fmla="*/ 17699508 h 17699508"/>
              <a:gd name="connsiteX2" fmla="*/ 1200626 w 11419870"/>
              <a:gd name="connsiteY2" fmla="*/ 17699508 h 17699508"/>
              <a:gd name="connsiteX3" fmla="*/ 2235 w 11419870"/>
              <a:gd name="connsiteY3" fmla="*/ 16501248 h 17699508"/>
              <a:gd name="connsiteX4" fmla="*/ 0 w 11419870"/>
              <a:gd name="connsiteY4" fmla="*/ 3002280 h 17699508"/>
              <a:gd name="connsiteX5" fmla="*/ 2235 w 11419870"/>
              <a:gd name="connsiteY5" fmla="*/ 1212486 h 17699508"/>
              <a:gd name="connsiteX6" fmla="*/ 1200626 w 11419870"/>
              <a:gd name="connsiteY6" fmla="*/ 14227 h 17699508"/>
              <a:gd name="connsiteX7" fmla="*/ 3550921 w 11419870"/>
              <a:gd name="connsiteY7" fmla="*/ 0 h 17699508"/>
              <a:gd name="connsiteX0" fmla="*/ 11419870 w 11419870"/>
              <a:gd name="connsiteY0" fmla="*/ 16501248 h 17699508"/>
              <a:gd name="connsiteX1" fmla="*/ 10221485 w 11419870"/>
              <a:gd name="connsiteY1" fmla="*/ 17699508 h 17699508"/>
              <a:gd name="connsiteX2" fmla="*/ 1200626 w 11419870"/>
              <a:gd name="connsiteY2" fmla="*/ 17699508 h 17699508"/>
              <a:gd name="connsiteX3" fmla="*/ 2235 w 11419870"/>
              <a:gd name="connsiteY3" fmla="*/ 16501248 h 17699508"/>
              <a:gd name="connsiteX4" fmla="*/ 0 w 11419870"/>
              <a:gd name="connsiteY4" fmla="*/ 3947160 h 17699508"/>
              <a:gd name="connsiteX5" fmla="*/ 0 w 11419870"/>
              <a:gd name="connsiteY5" fmla="*/ 3002280 h 17699508"/>
              <a:gd name="connsiteX6" fmla="*/ 2235 w 11419870"/>
              <a:gd name="connsiteY6" fmla="*/ 1212486 h 17699508"/>
              <a:gd name="connsiteX7" fmla="*/ 1200626 w 11419870"/>
              <a:gd name="connsiteY7" fmla="*/ 14227 h 17699508"/>
              <a:gd name="connsiteX8" fmla="*/ 3550921 w 11419870"/>
              <a:gd name="connsiteY8" fmla="*/ 0 h 17699508"/>
              <a:gd name="connsiteX0" fmla="*/ 10221485 w 10221485"/>
              <a:gd name="connsiteY0" fmla="*/ 17699508 h 17699508"/>
              <a:gd name="connsiteX1" fmla="*/ 1200626 w 10221485"/>
              <a:gd name="connsiteY1" fmla="*/ 17699508 h 17699508"/>
              <a:gd name="connsiteX2" fmla="*/ 2235 w 10221485"/>
              <a:gd name="connsiteY2" fmla="*/ 16501248 h 17699508"/>
              <a:gd name="connsiteX3" fmla="*/ 0 w 10221485"/>
              <a:gd name="connsiteY3" fmla="*/ 3947160 h 17699508"/>
              <a:gd name="connsiteX4" fmla="*/ 0 w 10221485"/>
              <a:gd name="connsiteY4" fmla="*/ 3002280 h 17699508"/>
              <a:gd name="connsiteX5" fmla="*/ 2235 w 10221485"/>
              <a:gd name="connsiteY5" fmla="*/ 1212486 h 17699508"/>
              <a:gd name="connsiteX6" fmla="*/ 1200626 w 10221485"/>
              <a:gd name="connsiteY6" fmla="*/ 14227 h 17699508"/>
              <a:gd name="connsiteX7" fmla="*/ 3550921 w 10221485"/>
              <a:gd name="connsiteY7" fmla="*/ 0 h 17699508"/>
              <a:gd name="connsiteX0" fmla="*/ 1200626 w 3550921"/>
              <a:gd name="connsiteY0" fmla="*/ 17699508 h 17699508"/>
              <a:gd name="connsiteX1" fmla="*/ 2235 w 3550921"/>
              <a:gd name="connsiteY1" fmla="*/ 16501248 h 17699508"/>
              <a:gd name="connsiteX2" fmla="*/ 0 w 3550921"/>
              <a:gd name="connsiteY2" fmla="*/ 3947160 h 17699508"/>
              <a:gd name="connsiteX3" fmla="*/ 0 w 3550921"/>
              <a:gd name="connsiteY3" fmla="*/ 3002280 h 17699508"/>
              <a:gd name="connsiteX4" fmla="*/ 2235 w 3550921"/>
              <a:gd name="connsiteY4" fmla="*/ 1212486 h 17699508"/>
              <a:gd name="connsiteX5" fmla="*/ 1200626 w 3550921"/>
              <a:gd name="connsiteY5" fmla="*/ 14227 h 17699508"/>
              <a:gd name="connsiteX6" fmla="*/ 3550921 w 3550921"/>
              <a:gd name="connsiteY6" fmla="*/ 0 h 17699508"/>
              <a:gd name="connsiteX0" fmla="*/ 2235 w 3550921"/>
              <a:gd name="connsiteY0" fmla="*/ 16501248 h 16501248"/>
              <a:gd name="connsiteX1" fmla="*/ 0 w 3550921"/>
              <a:gd name="connsiteY1" fmla="*/ 3947160 h 16501248"/>
              <a:gd name="connsiteX2" fmla="*/ 0 w 3550921"/>
              <a:gd name="connsiteY2" fmla="*/ 3002280 h 16501248"/>
              <a:gd name="connsiteX3" fmla="*/ 2235 w 3550921"/>
              <a:gd name="connsiteY3" fmla="*/ 1212486 h 16501248"/>
              <a:gd name="connsiteX4" fmla="*/ 1200626 w 3550921"/>
              <a:gd name="connsiteY4" fmla="*/ 14227 h 16501248"/>
              <a:gd name="connsiteX5" fmla="*/ 3550921 w 3550921"/>
              <a:gd name="connsiteY5" fmla="*/ 0 h 16501248"/>
              <a:gd name="connsiteX0" fmla="*/ 0 w 3550921"/>
              <a:gd name="connsiteY0" fmla="*/ 3947160 h 3947160"/>
              <a:gd name="connsiteX1" fmla="*/ 0 w 3550921"/>
              <a:gd name="connsiteY1" fmla="*/ 3002280 h 3947160"/>
              <a:gd name="connsiteX2" fmla="*/ 2235 w 3550921"/>
              <a:gd name="connsiteY2" fmla="*/ 1212486 h 3947160"/>
              <a:gd name="connsiteX3" fmla="*/ 1200626 w 3550921"/>
              <a:gd name="connsiteY3" fmla="*/ 14227 h 3947160"/>
              <a:gd name="connsiteX4" fmla="*/ 3550921 w 3550921"/>
              <a:gd name="connsiteY4" fmla="*/ 0 h 3947160"/>
              <a:gd name="connsiteX0" fmla="*/ 0 w 3550921"/>
              <a:gd name="connsiteY0" fmla="*/ 3002280 h 3002280"/>
              <a:gd name="connsiteX1" fmla="*/ 2235 w 3550921"/>
              <a:gd name="connsiteY1" fmla="*/ 1212486 h 3002280"/>
              <a:gd name="connsiteX2" fmla="*/ 1200626 w 3550921"/>
              <a:gd name="connsiteY2" fmla="*/ 14227 h 3002280"/>
              <a:gd name="connsiteX3" fmla="*/ 3550921 w 3550921"/>
              <a:gd name="connsiteY3" fmla="*/ 0 h 3002280"/>
              <a:gd name="connsiteX0" fmla="*/ 2845 w 3548686"/>
              <a:gd name="connsiteY0" fmla="*/ 2799080 h 2799080"/>
              <a:gd name="connsiteX1" fmla="*/ 0 w 3548686"/>
              <a:gd name="connsiteY1" fmla="*/ 1212486 h 2799080"/>
              <a:gd name="connsiteX2" fmla="*/ 1198391 w 3548686"/>
              <a:gd name="connsiteY2" fmla="*/ 14227 h 2799080"/>
              <a:gd name="connsiteX3" fmla="*/ 3548686 w 3548686"/>
              <a:gd name="connsiteY3" fmla="*/ 0 h 2799080"/>
              <a:gd name="connsiteX0" fmla="*/ 2845 w 3548686"/>
              <a:gd name="connsiteY0" fmla="*/ 2707640 h 2707640"/>
              <a:gd name="connsiteX1" fmla="*/ 0 w 3548686"/>
              <a:gd name="connsiteY1" fmla="*/ 1212486 h 2707640"/>
              <a:gd name="connsiteX2" fmla="*/ 1198391 w 3548686"/>
              <a:gd name="connsiteY2" fmla="*/ 14227 h 2707640"/>
              <a:gd name="connsiteX3" fmla="*/ 3548686 w 3548686"/>
              <a:gd name="connsiteY3" fmla="*/ 0 h 2707640"/>
              <a:gd name="connsiteX0" fmla="*/ 2845 w 3548686"/>
              <a:gd name="connsiteY0" fmla="*/ 2667000 h 2667000"/>
              <a:gd name="connsiteX1" fmla="*/ 0 w 3548686"/>
              <a:gd name="connsiteY1" fmla="*/ 1212486 h 2667000"/>
              <a:gd name="connsiteX2" fmla="*/ 1198391 w 3548686"/>
              <a:gd name="connsiteY2" fmla="*/ 14227 h 2667000"/>
              <a:gd name="connsiteX3" fmla="*/ 3548686 w 3548686"/>
              <a:gd name="connsiteY3" fmla="*/ 0 h 2667000"/>
              <a:gd name="connsiteX0" fmla="*/ 2845 w 3548686"/>
              <a:gd name="connsiteY0" fmla="*/ 2651760 h 2651760"/>
              <a:gd name="connsiteX1" fmla="*/ 0 w 3548686"/>
              <a:gd name="connsiteY1" fmla="*/ 1212486 h 2651760"/>
              <a:gd name="connsiteX2" fmla="*/ 1198391 w 3548686"/>
              <a:gd name="connsiteY2" fmla="*/ 14227 h 2651760"/>
              <a:gd name="connsiteX3" fmla="*/ 3548686 w 3548686"/>
              <a:gd name="connsiteY3" fmla="*/ 0 h 2651760"/>
              <a:gd name="connsiteX0" fmla="*/ 2845 w 3020366"/>
              <a:gd name="connsiteY0" fmla="*/ 2651760 h 2651760"/>
              <a:gd name="connsiteX1" fmla="*/ 0 w 3020366"/>
              <a:gd name="connsiteY1" fmla="*/ 1212486 h 2651760"/>
              <a:gd name="connsiteX2" fmla="*/ 1198391 w 3020366"/>
              <a:gd name="connsiteY2" fmla="*/ 14227 h 2651760"/>
              <a:gd name="connsiteX3" fmla="*/ 3020366 w 3020366"/>
              <a:gd name="connsiteY3" fmla="*/ 0 h 2651760"/>
              <a:gd name="connsiteX0" fmla="*/ 2845 w 2883206"/>
              <a:gd name="connsiteY0" fmla="*/ 2651760 h 2651760"/>
              <a:gd name="connsiteX1" fmla="*/ 0 w 2883206"/>
              <a:gd name="connsiteY1" fmla="*/ 1212486 h 2651760"/>
              <a:gd name="connsiteX2" fmla="*/ 1198391 w 2883206"/>
              <a:gd name="connsiteY2" fmla="*/ 14227 h 2651760"/>
              <a:gd name="connsiteX3" fmla="*/ 2883206 w 2883206"/>
              <a:gd name="connsiteY3" fmla="*/ 0 h 2651760"/>
              <a:gd name="connsiteX0" fmla="*/ 2845 w 2796846"/>
              <a:gd name="connsiteY0" fmla="*/ 2651760 h 2651760"/>
              <a:gd name="connsiteX1" fmla="*/ 0 w 2796846"/>
              <a:gd name="connsiteY1" fmla="*/ 1212486 h 2651760"/>
              <a:gd name="connsiteX2" fmla="*/ 1198391 w 2796846"/>
              <a:gd name="connsiteY2" fmla="*/ 14227 h 2651760"/>
              <a:gd name="connsiteX3" fmla="*/ 2796846 w 2796846"/>
              <a:gd name="connsiteY3" fmla="*/ 0 h 2651760"/>
              <a:gd name="connsiteX0" fmla="*/ 2845 w 2735886"/>
              <a:gd name="connsiteY0" fmla="*/ 2656840 h 2656840"/>
              <a:gd name="connsiteX1" fmla="*/ 0 w 2735886"/>
              <a:gd name="connsiteY1" fmla="*/ 1217566 h 2656840"/>
              <a:gd name="connsiteX2" fmla="*/ 1198391 w 2735886"/>
              <a:gd name="connsiteY2" fmla="*/ 19307 h 2656840"/>
              <a:gd name="connsiteX3" fmla="*/ 2735886 w 2735886"/>
              <a:gd name="connsiteY3" fmla="*/ 0 h 2656840"/>
              <a:gd name="connsiteX0" fmla="*/ 2845 w 2674926"/>
              <a:gd name="connsiteY0" fmla="*/ 2651760 h 2651760"/>
              <a:gd name="connsiteX1" fmla="*/ 0 w 2674926"/>
              <a:gd name="connsiteY1" fmla="*/ 1212486 h 2651760"/>
              <a:gd name="connsiteX2" fmla="*/ 1198391 w 2674926"/>
              <a:gd name="connsiteY2" fmla="*/ 14227 h 2651760"/>
              <a:gd name="connsiteX3" fmla="*/ 2674926 w 2674926"/>
              <a:gd name="connsiteY3" fmla="*/ 0 h 2651760"/>
              <a:gd name="connsiteX0" fmla="*/ 2845 w 2674926"/>
              <a:gd name="connsiteY0" fmla="*/ 2651760 h 2651760"/>
              <a:gd name="connsiteX1" fmla="*/ 0 w 2674926"/>
              <a:gd name="connsiteY1" fmla="*/ 1212486 h 2651760"/>
              <a:gd name="connsiteX2" fmla="*/ 1198391 w 2674926"/>
              <a:gd name="connsiteY2" fmla="*/ 14227 h 2651760"/>
              <a:gd name="connsiteX3" fmla="*/ 2674926 w 2674926"/>
              <a:gd name="connsiteY3" fmla="*/ 0 h 2651760"/>
              <a:gd name="connsiteX0" fmla="*/ 2845 w 2644446"/>
              <a:gd name="connsiteY0" fmla="*/ 2651760 h 2651760"/>
              <a:gd name="connsiteX1" fmla="*/ 0 w 2644446"/>
              <a:gd name="connsiteY1" fmla="*/ 1212486 h 2651760"/>
              <a:gd name="connsiteX2" fmla="*/ 1198391 w 2644446"/>
              <a:gd name="connsiteY2" fmla="*/ 14227 h 2651760"/>
              <a:gd name="connsiteX3" fmla="*/ 2644446 w 2644446"/>
              <a:gd name="connsiteY3" fmla="*/ 0 h 2651760"/>
              <a:gd name="connsiteX0" fmla="*/ 2845 w 2608886"/>
              <a:gd name="connsiteY0" fmla="*/ 2651760 h 2651760"/>
              <a:gd name="connsiteX1" fmla="*/ 0 w 2608886"/>
              <a:gd name="connsiteY1" fmla="*/ 1212486 h 2651760"/>
              <a:gd name="connsiteX2" fmla="*/ 1198391 w 2608886"/>
              <a:gd name="connsiteY2" fmla="*/ 14227 h 2651760"/>
              <a:gd name="connsiteX3" fmla="*/ 2608886 w 2608886"/>
              <a:gd name="connsiteY3" fmla="*/ 0 h 2651760"/>
              <a:gd name="connsiteX0" fmla="*/ 2845 w 2598726"/>
              <a:gd name="connsiteY0" fmla="*/ 2646680 h 2646680"/>
              <a:gd name="connsiteX1" fmla="*/ 0 w 2598726"/>
              <a:gd name="connsiteY1" fmla="*/ 1207406 h 2646680"/>
              <a:gd name="connsiteX2" fmla="*/ 1198391 w 2598726"/>
              <a:gd name="connsiteY2" fmla="*/ 9147 h 2646680"/>
              <a:gd name="connsiteX3" fmla="*/ 2598726 w 2598726"/>
              <a:gd name="connsiteY3" fmla="*/ 0 h 2646680"/>
              <a:gd name="connsiteX0" fmla="*/ 2845 w 2558086"/>
              <a:gd name="connsiteY0" fmla="*/ 2641600 h 2641600"/>
              <a:gd name="connsiteX1" fmla="*/ 0 w 2558086"/>
              <a:gd name="connsiteY1" fmla="*/ 1202326 h 2641600"/>
              <a:gd name="connsiteX2" fmla="*/ 1198391 w 2558086"/>
              <a:gd name="connsiteY2" fmla="*/ 4067 h 2641600"/>
              <a:gd name="connsiteX3" fmla="*/ 2558086 w 2558086"/>
              <a:gd name="connsiteY3" fmla="*/ 0 h 2641600"/>
              <a:gd name="connsiteX0" fmla="*/ 2845 w 2556181"/>
              <a:gd name="connsiteY0" fmla="*/ 2641600 h 2641600"/>
              <a:gd name="connsiteX1" fmla="*/ 0 w 2556181"/>
              <a:gd name="connsiteY1" fmla="*/ 1202326 h 2641600"/>
              <a:gd name="connsiteX2" fmla="*/ 1198391 w 2556181"/>
              <a:gd name="connsiteY2" fmla="*/ 4067 h 2641600"/>
              <a:gd name="connsiteX3" fmla="*/ 2556181 w 2556181"/>
              <a:gd name="connsiteY3" fmla="*/ 0 h 264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6181" h="2641600">
                <a:moveTo>
                  <a:pt x="2845" y="2641600"/>
                </a:moveTo>
                <a:cubicBezTo>
                  <a:pt x="1897" y="2112735"/>
                  <a:pt x="948" y="1731191"/>
                  <a:pt x="0" y="1202326"/>
                </a:cubicBezTo>
                <a:cubicBezTo>
                  <a:pt x="0" y="540519"/>
                  <a:pt x="536541" y="4067"/>
                  <a:pt x="1198391" y="4067"/>
                </a:cubicBezTo>
                <a:lnTo>
                  <a:pt x="2556181" y="0"/>
                </a:lnTo>
              </a:path>
            </a:pathLst>
          </a:custGeom>
          <a:noFill/>
          <a:ln w="1356897" cap="sq">
            <a:solidFill>
              <a:schemeClr val="accent4">
                <a:alpha val="89000"/>
              </a:schemeClr>
            </a:solidFill>
            <a:prstDash val="solid"/>
            <a:round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2121408"/>
            <a:ext cx="6510528" cy="3578352"/>
          </a:xfrm>
        </p:spPr>
        <p:txBody>
          <a:bodyPr/>
          <a:lstStyle>
            <a:lvl1pPr marL="0" indent="0">
              <a:buNone/>
              <a:defRPr sz="1800"/>
            </a:lvl1pPr>
            <a:lvl2pPr marL="283464">
              <a:defRPr sz="1800"/>
            </a:lvl2pPr>
            <a:lvl3pPr marL="566928">
              <a:defRPr sz="1600"/>
            </a:lvl3pPr>
            <a:lvl4pPr marL="758952">
              <a:defRPr sz="1400"/>
            </a:lvl4pPr>
            <a:lvl5pPr marL="1042416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3602100-4B1B-08F9-3FE3-A39515512D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5" name="Graphic 24">
            <a:extLst>
              <a:ext uri="{FF2B5EF4-FFF2-40B4-BE49-F238E27FC236}">
                <a16:creationId xmlns:a16="http://schemas.microsoft.com/office/drawing/2014/main" id="{3A387C14-96A1-A53F-B0C4-8C320C0E434B}"/>
              </a:ext>
            </a:extLst>
          </p:cNvPr>
          <p:cNvSpPr/>
          <p:nvPr/>
        </p:nvSpPr>
        <p:spPr>
          <a:xfrm>
            <a:off x="8928734" y="3558489"/>
            <a:ext cx="3162299" cy="3196641"/>
          </a:xfrm>
          <a:custGeom>
            <a:avLst/>
            <a:gdLst>
              <a:gd name="connsiteX0" fmla="*/ -3730 w 9166847"/>
              <a:gd name="connsiteY0" fmla="*/ 5764965 h 5765688"/>
              <a:gd name="connsiteX1" fmla="*/ -3730 w 9166847"/>
              <a:gd name="connsiteY1" fmla="*/ 1152444 h 5765688"/>
              <a:gd name="connsiteX2" fmla="*/ 1189314 w 9166847"/>
              <a:gd name="connsiteY2" fmla="*/ -724 h 5765688"/>
              <a:gd name="connsiteX3" fmla="*/ 9163118 w 9166847"/>
              <a:gd name="connsiteY3" fmla="*/ 36857 h 5765688"/>
              <a:gd name="connsiteX0" fmla="*/ 0 w 9166848"/>
              <a:gd name="connsiteY0" fmla="*/ 5765689 h 5765689"/>
              <a:gd name="connsiteX1" fmla="*/ 0 w 9166848"/>
              <a:gd name="connsiteY1" fmla="*/ 1153168 h 5765689"/>
              <a:gd name="connsiteX2" fmla="*/ 1193044 w 9166848"/>
              <a:gd name="connsiteY2" fmla="*/ 0 h 5765689"/>
              <a:gd name="connsiteX3" fmla="*/ 2736923 w 9166848"/>
              <a:gd name="connsiteY3" fmla="*/ 1574 h 5765689"/>
              <a:gd name="connsiteX4" fmla="*/ 9166848 w 9166848"/>
              <a:gd name="connsiteY4" fmla="*/ 37581 h 5765689"/>
              <a:gd name="connsiteX0" fmla="*/ 0 w 9166848"/>
              <a:gd name="connsiteY0" fmla="*/ 5765689 h 5765689"/>
              <a:gd name="connsiteX1" fmla="*/ 0 w 9166848"/>
              <a:gd name="connsiteY1" fmla="*/ 1153168 h 5765689"/>
              <a:gd name="connsiteX2" fmla="*/ 1193044 w 9166848"/>
              <a:gd name="connsiteY2" fmla="*/ 0 h 5765689"/>
              <a:gd name="connsiteX3" fmla="*/ 2736923 w 9166848"/>
              <a:gd name="connsiteY3" fmla="*/ 1574 h 5765689"/>
              <a:gd name="connsiteX4" fmla="*/ 3169739 w 9166848"/>
              <a:gd name="connsiteY4" fmla="*/ 7671 h 5765689"/>
              <a:gd name="connsiteX5" fmla="*/ 9166848 w 9166848"/>
              <a:gd name="connsiteY5" fmla="*/ 37581 h 5765689"/>
              <a:gd name="connsiteX0" fmla="*/ 0 w 3169739"/>
              <a:gd name="connsiteY0" fmla="*/ 5765689 h 5765689"/>
              <a:gd name="connsiteX1" fmla="*/ 0 w 3169739"/>
              <a:gd name="connsiteY1" fmla="*/ 1153168 h 5765689"/>
              <a:gd name="connsiteX2" fmla="*/ 1193044 w 3169739"/>
              <a:gd name="connsiteY2" fmla="*/ 0 h 5765689"/>
              <a:gd name="connsiteX3" fmla="*/ 2736923 w 3169739"/>
              <a:gd name="connsiteY3" fmla="*/ 1574 h 5765689"/>
              <a:gd name="connsiteX4" fmla="*/ 3169739 w 3169739"/>
              <a:gd name="connsiteY4" fmla="*/ 7671 h 5765689"/>
              <a:gd name="connsiteX0" fmla="*/ 0 w 3160214"/>
              <a:gd name="connsiteY0" fmla="*/ 5765689 h 5765689"/>
              <a:gd name="connsiteX1" fmla="*/ 0 w 3160214"/>
              <a:gd name="connsiteY1" fmla="*/ 1153168 h 5765689"/>
              <a:gd name="connsiteX2" fmla="*/ 1193044 w 3160214"/>
              <a:gd name="connsiteY2" fmla="*/ 0 h 5765689"/>
              <a:gd name="connsiteX3" fmla="*/ 2736923 w 3160214"/>
              <a:gd name="connsiteY3" fmla="*/ 1574 h 5765689"/>
              <a:gd name="connsiteX4" fmla="*/ 3160214 w 3160214"/>
              <a:gd name="connsiteY4" fmla="*/ 7671 h 5765689"/>
              <a:gd name="connsiteX0" fmla="*/ 2085 w 3162299"/>
              <a:gd name="connsiteY0" fmla="*/ 5765689 h 5765689"/>
              <a:gd name="connsiteX1" fmla="*/ 0 w 3162299"/>
              <a:gd name="connsiteY1" fmla="*/ 3173781 h 5765689"/>
              <a:gd name="connsiteX2" fmla="*/ 2085 w 3162299"/>
              <a:gd name="connsiteY2" fmla="*/ 1153168 h 5765689"/>
              <a:gd name="connsiteX3" fmla="*/ 1195129 w 3162299"/>
              <a:gd name="connsiteY3" fmla="*/ 0 h 5765689"/>
              <a:gd name="connsiteX4" fmla="*/ 2739008 w 3162299"/>
              <a:gd name="connsiteY4" fmla="*/ 1574 h 5765689"/>
              <a:gd name="connsiteX5" fmla="*/ 3162299 w 3162299"/>
              <a:gd name="connsiteY5" fmla="*/ 7671 h 5765689"/>
              <a:gd name="connsiteX0" fmla="*/ 0 w 3162299"/>
              <a:gd name="connsiteY0" fmla="*/ 3173781 h 3173781"/>
              <a:gd name="connsiteX1" fmla="*/ 2085 w 3162299"/>
              <a:gd name="connsiteY1" fmla="*/ 1153168 h 3173781"/>
              <a:gd name="connsiteX2" fmla="*/ 1195129 w 3162299"/>
              <a:gd name="connsiteY2" fmla="*/ 0 h 3173781"/>
              <a:gd name="connsiteX3" fmla="*/ 2739008 w 3162299"/>
              <a:gd name="connsiteY3" fmla="*/ 1574 h 3173781"/>
              <a:gd name="connsiteX4" fmla="*/ 3162299 w 3162299"/>
              <a:gd name="connsiteY4" fmla="*/ 7671 h 3173781"/>
              <a:gd name="connsiteX0" fmla="*/ 0 w 3162299"/>
              <a:gd name="connsiteY0" fmla="*/ 3196641 h 3196641"/>
              <a:gd name="connsiteX1" fmla="*/ 2085 w 3162299"/>
              <a:gd name="connsiteY1" fmla="*/ 1153168 h 3196641"/>
              <a:gd name="connsiteX2" fmla="*/ 1195129 w 3162299"/>
              <a:gd name="connsiteY2" fmla="*/ 0 h 3196641"/>
              <a:gd name="connsiteX3" fmla="*/ 2739008 w 3162299"/>
              <a:gd name="connsiteY3" fmla="*/ 1574 h 3196641"/>
              <a:gd name="connsiteX4" fmla="*/ 3162299 w 3162299"/>
              <a:gd name="connsiteY4" fmla="*/ 7671 h 3196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62299" h="3196641">
                <a:moveTo>
                  <a:pt x="0" y="3196641"/>
                </a:moveTo>
                <a:lnTo>
                  <a:pt x="2085" y="1153168"/>
                </a:lnTo>
                <a:cubicBezTo>
                  <a:pt x="2085" y="516291"/>
                  <a:pt x="536218" y="0"/>
                  <a:pt x="1195129" y="0"/>
                </a:cubicBezTo>
                <a:lnTo>
                  <a:pt x="2739008" y="1574"/>
                </a:lnTo>
                <a:lnTo>
                  <a:pt x="3162299" y="7671"/>
                </a:lnTo>
              </a:path>
            </a:pathLst>
          </a:custGeom>
          <a:noFill/>
          <a:ln w="225588" cap="sq">
            <a:solidFill>
              <a:srgbClr val="FDF9E2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9E9B68F-058D-E637-2550-5DA70E3D0D41}"/>
              </a:ext>
            </a:extLst>
          </p:cNvPr>
          <p:cNvSpPr/>
          <p:nvPr userDrawn="1"/>
        </p:nvSpPr>
        <p:spPr>
          <a:xfrm>
            <a:off x="10310340" y="2011478"/>
            <a:ext cx="1628275" cy="1628275"/>
          </a:xfrm>
          <a:prstGeom prst="ellipse">
            <a:avLst/>
          </a:prstGeom>
          <a:solidFill>
            <a:schemeClr val="accent6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6188A037-6B9F-861E-36A7-10311D6127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0972" r="31496"/>
          <a:stretch>
            <a:fillRect/>
          </a:stretch>
        </p:blipFill>
        <p:spPr>
          <a:xfrm>
            <a:off x="12700" y="6051321"/>
            <a:ext cx="12192000" cy="528377"/>
          </a:xfrm>
          <a:custGeom>
            <a:avLst/>
            <a:gdLst>
              <a:gd name="connsiteX0" fmla="*/ 0 w 6858000"/>
              <a:gd name="connsiteY0" fmla="*/ 400156 h 400156"/>
              <a:gd name="connsiteX1" fmla="*/ 0 w 6858000"/>
              <a:gd name="connsiteY1" fmla="*/ 0 h 400156"/>
              <a:gd name="connsiteX2" fmla="*/ 6858000 w 6858000"/>
              <a:gd name="connsiteY2" fmla="*/ 0 h 400156"/>
              <a:gd name="connsiteX3" fmla="*/ 6858000 w 6858000"/>
              <a:gd name="connsiteY3" fmla="*/ 400156 h 400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400156">
                <a:moveTo>
                  <a:pt x="0" y="400156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400156"/>
                </a:lnTo>
                <a:close/>
              </a:path>
            </a:pathLst>
          </a:cu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1C9183AD-9166-27E4-F8C4-4AAE1C7F0BB9}"/>
              </a:ext>
            </a:extLst>
          </p:cNvPr>
          <p:cNvSpPr/>
          <p:nvPr userDrawn="1"/>
        </p:nvSpPr>
        <p:spPr>
          <a:xfrm>
            <a:off x="9130046" y="6134101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FED6151-9FDE-FB42-89FC-0347B6A3276D}"/>
              </a:ext>
            </a:extLst>
          </p:cNvPr>
          <p:cNvSpPr/>
          <p:nvPr userDrawn="1"/>
        </p:nvSpPr>
        <p:spPr>
          <a:xfrm>
            <a:off x="8385329" y="6134101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Footer Placeholder 45">
            <a:extLst>
              <a:ext uri="{FF2B5EF4-FFF2-40B4-BE49-F238E27FC236}">
                <a16:creationId xmlns:a16="http://schemas.microsoft.com/office/drawing/2014/main" id="{41E6D8BC-2E14-B95F-1E2F-30FF6EE3AE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7" name="Slide Number Placeholder 46">
            <a:extLst>
              <a:ext uri="{FF2B5EF4-FFF2-40B4-BE49-F238E27FC236}">
                <a16:creationId xmlns:a16="http://schemas.microsoft.com/office/drawing/2014/main" id="{89B6F428-7A93-4AA9-C12A-2A93DFEAF0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8116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raphic 43">
            <a:extLst>
              <a:ext uri="{FF2B5EF4-FFF2-40B4-BE49-F238E27FC236}">
                <a16:creationId xmlns:a16="http://schemas.microsoft.com/office/drawing/2014/main" id="{94240F9C-F2B6-6263-0817-7E0809D9DF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85327"/>
          <a:stretch>
            <a:fillRect/>
          </a:stretch>
        </p:blipFill>
        <p:spPr>
          <a:xfrm rot="16200000">
            <a:off x="8348893" y="2856018"/>
            <a:ext cx="6718341" cy="1006304"/>
          </a:xfrm>
          <a:custGeom>
            <a:avLst/>
            <a:gdLst>
              <a:gd name="connsiteX0" fmla="*/ 0 w 6718341"/>
              <a:gd name="connsiteY0" fmla="*/ 0 h 1006304"/>
              <a:gd name="connsiteX1" fmla="*/ 6718341 w 6718341"/>
              <a:gd name="connsiteY1" fmla="*/ 0 h 1006304"/>
              <a:gd name="connsiteX2" fmla="*/ 6718341 w 6718341"/>
              <a:gd name="connsiteY2" fmla="*/ 1006304 h 1006304"/>
              <a:gd name="connsiteX3" fmla="*/ 0 w 6718341"/>
              <a:gd name="connsiteY3" fmla="*/ 1006304 h 1006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18341" h="1006304">
                <a:moveTo>
                  <a:pt x="0" y="0"/>
                </a:moveTo>
                <a:lnTo>
                  <a:pt x="6718341" y="0"/>
                </a:lnTo>
                <a:lnTo>
                  <a:pt x="6718341" y="1006304"/>
                </a:lnTo>
                <a:lnTo>
                  <a:pt x="0" y="1006304"/>
                </a:lnTo>
                <a:close/>
              </a:path>
            </a:pathLst>
          </a:custGeom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024F3BA7-5767-DA19-90B2-79087CCD234A}"/>
              </a:ext>
            </a:extLst>
          </p:cNvPr>
          <p:cNvSpPr/>
          <p:nvPr userDrawn="1"/>
        </p:nvSpPr>
        <p:spPr>
          <a:xfrm>
            <a:off x="11280648" y="1079982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5941C3B-69D9-2131-DE98-77882C6B492E}"/>
              </a:ext>
            </a:extLst>
          </p:cNvPr>
          <p:cNvSpPr/>
          <p:nvPr userDrawn="1"/>
        </p:nvSpPr>
        <p:spPr>
          <a:xfrm>
            <a:off x="9885091" y="4608699"/>
            <a:ext cx="1628275" cy="1628275"/>
          </a:xfrm>
          <a:prstGeom prst="ellipse">
            <a:avLst/>
          </a:prstGeom>
          <a:solidFill>
            <a:schemeClr val="accent3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pic>
        <p:nvPicPr>
          <p:cNvPr id="72" name="Graphic 71">
            <a:extLst>
              <a:ext uri="{FF2B5EF4-FFF2-40B4-BE49-F238E27FC236}">
                <a16:creationId xmlns:a16="http://schemas.microsoft.com/office/drawing/2014/main" id="{F2C371ED-FE8B-10E6-6B09-AB1AF954AA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4820" t="41526" b="3152"/>
          <a:stretch/>
        </p:blipFill>
        <p:spPr>
          <a:xfrm>
            <a:off x="-63921" y="5642"/>
            <a:ext cx="3769859" cy="6852356"/>
          </a:xfrm>
          <a:custGeom>
            <a:avLst/>
            <a:gdLst>
              <a:gd name="connsiteX0" fmla="*/ 0 w 3769859"/>
              <a:gd name="connsiteY0" fmla="*/ 0 h 6852356"/>
              <a:gd name="connsiteX1" fmla="*/ 3769859 w 3769859"/>
              <a:gd name="connsiteY1" fmla="*/ 0 h 6852356"/>
              <a:gd name="connsiteX2" fmla="*/ 3769859 w 3769859"/>
              <a:gd name="connsiteY2" fmla="*/ 6852356 h 6852356"/>
              <a:gd name="connsiteX3" fmla="*/ 0 w 3769859"/>
              <a:gd name="connsiteY3" fmla="*/ 6852356 h 6852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859" h="6852356">
                <a:moveTo>
                  <a:pt x="0" y="0"/>
                </a:moveTo>
                <a:lnTo>
                  <a:pt x="3769859" y="0"/>
                </a:lnTo>
                <a:lnTo>
                  <a:pt x="3769859" y="6852356"/>
                </a:lnTo>
                <a:lnTo>
                  <a:pt x="0" y="6852356"/>
                </a:lnTo>
                <a:close/>
              </a:path>
            </a:pathLst>
          </a:cu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E6DDC0DD-511A-395D-6DF6-B3EBA937EF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0633" b="65821"/>
          <a:stretch>
            <a:fillRect/>
          </a:stretch>
        </p:blipFill>
        <p:spPr>
          <a:xfrm flipV="1">
            <a:off x="5869" y="1"/>
            <a:ext cx="5332115" cy="2343995"/>
          </a:xfrm>
          <a:custGeom>
            <a:avLst/>
            <a:gdLst>
              <a:gd name="connsiteX0" fmla="*/ 0 w 5332115"/>
              <a:gd name="connsiteY0" fmla="*/ 2343995 h 2343995"/>
              <a:gd name="connsiteX1" fmla="*/ 5332115 w 5332115"/>
              <a:gd name="connsiteY1" fmla="*/ 2343995 h 2343995"/>
              <a:gd name="connsiteX2" fmla="*/ 5332115 w 5332115"/>
              <a:gd name="connsiteY2" fmla="*/ 0 h 2343995"/>
              <a:gd name="connsiteX3" fmla="*/ 0 w 5332115"/>
              <a:gd name="connsiteY3" fmla="*/ 0 h 2343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32115" h="2343995">
                <a:moveTo>
                  <a:pt x="0" y="2343995"/>
                </a:moveTo>
                <a:lnTo>
                  <a:pt x="5332115" y="2343995"/>
                </a:lnTo>
                <a:lnTo>
                  <a:pt x="5332115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A03A29F6-2DC7-B284-F21B-10BBEECC052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4165" t="77500"/>
          <a:stretch>
            <a:fillRect/>
          </a:stretch>
        </p:blipFill>
        <p:spPr>
          <a:xfrm>
            <a:off x="-16872" y="-29980"/>
            <a:ext cx="4459335" cy="1601124"/>
          </a:xfrm>
          <a:custGeom>
            <a:avLst/>
            <a:gdLst>
              <a:gd name="connsiteX0" fmla="*/ 0 w 4459335"/>
              <a:gd name="connsiteY0" fmla="*/ 0 h 1543022"/>
              <a:gd name="connsiteX1" fmla="*/ 4459335 w 4459335"/>
              <a:gd name="connsiteY1" fmla="*/ 0 h 1543022"/>
              <a:gd name="connsiteX2" fmla="*/ 4459335 w 4459335"/>
              <a:gd name="connsiteY2" fmla="*/ 1543022 h 1543022"/>
              <a:gd name="connsiteX3" fmla="*/ 0 w 4459335"/>
              <a:gd name="connsiteY3" fmla="*/ 1543022 h 154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335" h="1543022">
                <a:moveTo>
                  <a:pt x="0" y="0"/>
                </a:moveTo>
                <a:lnTo>
                  <a:pt x="4459335" y="0"/>
                </a:lnTo>
                <a:lnTo>
                  <a:pt x="4459335" y="1543022"/>
                </a:lnTo>
                <a:lnTo>
                  <a:pt x="0" y="1543022"/>
                </a:lnTo>
                <a:close/>
              </a:path>
            </a:pathLst>
          </a:custGeom>
        </p:spPr>
      </p:pic>
      <p:sp>
        <p:nvSpPr>
          <p:cNvPr id="64" name="Oval 63">
            <a:extLst>
              <a:ext uri="{FF2B5EF4-FFF2-40B4-BE49-F238E27FC236}">
                <a16:creationId xmlns:a16="http://schemas.microsoft.com/office/drawing/2014/main" id="{5E42667F-7399-2294-D94B-CB84510A0E95}"/>
              </a:ext>
            </a:extLst>
          </p:cNvPr>
          <p:cNvSpPr/>
          <p:nvPr userDrawn="1"/>
        </p:nvSpPr>
        <p:spPr>
          <a:xfrm>
            <a:off x="3261092" y="1890018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Graphic 25" hidden="1">
            <a:extLst>
              <a:ext uri="{FF2B5EF4-FFF2-40B4-BE49-F238E27FC236}">
                <a16:creationId xmlns:a16="http://schemas.microsoft.com/office/drawing/2014/main" id="{422E8005-83A8-3555-6EFB-842E78C629DF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162"/>
          <a:stretch/>
        </p:blipFill>
        <p:spPr>
          <a:xfrm>
            <a:off x="-6187440" y="1779373"/>
            <a:ext cx="20888725" cy="4583992"/>
          </a:xfrm>
          <a:custGeom>
            <a:avLst/>
            <a:gdLst>
              <a:gd name="connsiteX0" fmla="*/ 6153662 w 20854947"/>
              <a:gd name="connsiteY0" fmla="*/ 0 h 4583992"/>
              <a:gd name="connsiteX1" fmla="*/ 20854947 w 20854947"/>
              <a:gd name="connsiteY1" fmla="*/ 0 h 4583992"/>
              <a:gd name="connsiteX2" fmla="*/ 20854947 w 20854947"/>
              <a:gd name="connsiteY2" fmla="*/ 2190264 h 4583992"/>
              <a:gd name="connsiteX3" fmla="*/ 18345663 w 20854947"/>
              <a:gd name="connsiteY3" fmla="*/ 2190264 h 4583992"/>
              <a:gd name="connsiteX4" fmla="*/ 18345663 w 20854947"/>
              <a:gd name="connsiteY4" fmla="*/ 4583992 h 4583992"/>
              <a:gd name="connsiteX5" fmla="*/ 0 w 20854947"/>
              <a:gd name="connsiteY5" fmla="*/ 4583992 h 4583992"/>
              <a:gd name="connsiteX6" fmla="*/ 0 w 20854947"/>
              <a:gd name="connsiteY6" fmla="*/ 4313374 h 4583992"/>
              <a:gd name="connsiteX7" fmla="*/ 6153662 w 20854947"/>
              <a:gd name="connsiteY7" fmla="*/ 4313374 h 4583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54947" h="4583992">
                <a:moveTo>
                  <a:pt x="6153662" y="0"/>
                </a:moveTo>
                <a:lnTo>
                  <a:pt x="20854947" y="0"/>
                </a:lnTo>
                <a:lnTo>
                  <a:pt x="20854947" y="2190264"/>
                </a:lnTo>
                <a:lnTo>
                  <a:pt x="18345663" y="2190264"/>
                </a:lnTo>
                <a:lnTo>
                  <a:pt x="18345663" y="4583992"/>
                </a:lnTo>
                <a:lnTo>
                  <a:pt x="0" y="4583992"/>
                </a:lnTo>
                <a:lnTo>
                  <a:pt x="0" y="4313374"/>
                </a:lnTo>
                <a:lnTo>
                  <a:pt x="6153662" y="4313374"/>
                </a:lnTo>
                <a:close/>
              </a:path>
            </a:pathLst>
          </a:custGeom>
        </p:spPr>
      </p:pic>
      <p:sp>
        <p:nvSpPr>
          <p:cNvPr id="73" name="Title 1">
            <a:extLst>
              <a:ext uri="{FF2B5EF4-FFF2-40B4-BE49-F238E27FC236}">
                <a16:creationId xmlns:a16="http://schemas.microsoft.com/office/drawing/2014/main" id="{11BE7A0F-8563-C84F-54DB-CF04C6DAD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583" y="2214823"/>
            <a:ext cx="3769859" cy="1975104"/>
          </a:xfrm>
        </p:spPr>
        <p:txBody>
          <a:bodyPr anchor="b">
            <a:no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54F95-4CC9-871D-2B3D-873AB0B21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6231" y="4278235"/>
            <a:ext cx="3081528" cy="1170432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727608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F45380E4-4280-4D6A-412C-BEC95C8CA7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E2DEC6B-E418-F7FA-5D06-66914BE64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CDBC6FA3-472C-62C4-429A-28029D228DD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F0B4C4FF-8EF1-767D-7C77-03D625E4B32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3964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A48C42A6-E4A3-57E4-DBFE-86C89D6D36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272D4-D364-93D2-A948-9DD478627E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DD4E5-F3CE-6199-31DD-1C03C409E0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1291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3FA20FC2-E959-7E20-4647-E505BD8BE4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56E61-4EF1-44C9-6CC9-6876765A7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057400"/>
            <a:ext cx="6172200" cy="40690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7802A7-DF1B-DE1B-4EA4-055C59350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40690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B2F4222-9F0A-A7FE-DFA4-39F2D1A27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9174264-0D17-CF28-8778-3DD02FD42C4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FFFA002-049D-7794-5114-044DA2B571D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54A2A46-C45B-ED08-EE41-CEC7D35473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A4EA03-DC7A-CC5C-0E56-20FDFBD152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0012" y="1725930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A30CC9-5F1C-933D-A4C9-7DCE2F039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304BF9-EDC8-7868-84C1-6CCB690381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FE0970-0DB3-2D10-BEAE-54A52070A1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C668391-E0E0-74A5-F96F-B67ECAE86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11728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E197C-8454-08AA-A652-357480D98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30FAC-6DFA-F32C-E62D-5C32C06A02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2271" y="62344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B62FF-DCC3-B0E5-E9C3-736A708235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51903" y="809244"/>
            <a:ext cx="941832" cy="621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>
                <a:solidFill>
                  <a:schemeClr val="bg2"/>
                </a:solidFill>
              </a:defRPr>
            </a:lvl1pPr>
          </a:lstStyle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EEFFBFB-5A27-2D81-3931-C98447651EF4}"/>
              </a:ext>
            </a:extLst>
          </p:cNvPr>
          <p:cNvSpPr/>
          <p:nvPr userDrawn="1"/>
        </p:nvSpPr>
        <p:spPr>
          <a:xfrm>
            <a:off x="732271" y="723899"/>
            <a:ext cx="10727977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495E283-E2C6-EE8C-5FC9-96FD9B2DC537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EB7FA7-6E9C-81BB-8E55-A22BFF734E24}"/>
              </a:ext>
            </a:extLst>
          </p:cNvPr>
          <p:cNvCxnSpPr>
            <a:cxnSpLocks/>
          </p:cNvCxnSpPr>
          <p:nvPr userDrawn="1"/>
        </p:nvCxnSpPr>
        <p:spPr>
          <a:xfrm>
            <a:off x="1655064" y="722376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Graphic 28">
            <a:extLst>
              <a:ext uri="{FF2B5EF4-FFF2-40B4-BE49-F238E27FC236}">
                <a16:creationId xmlns:a16="http://schemas.microsoft.com/office/drawing/2014/main" id="{77E78B78-C9C0-6811-5C24-BA7F4E612036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13498771">
            <a:off x="868523" y="778989"/>
            <a:ext cx="660389" cy="660389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F9C8F7F-2A36-A3D8-7C9C-CFDFFF47B82A}"/>
              </a:ext>
            </a:extLst>
          </p:cNvPr>
          <p:cNvCxnSpPr>
            <a:cxnSpLocks/>
          </p:cNvCxnSpPr>
          <p:nvPr userDrawn="1"/>
        </p:nvCxnSpPr>
        <p:spPr>
          <a:xfrm>
            <a:off x="2593735" y="718779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59602F-1B68-185F-6DA7-FDDA1F06A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7480" y="731520"/>
            <a:ext cx="8762246" cy="777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48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51" r:id="rId4"/>
    <p:sldLayoutId id="2147483658" r:id="rId5"/>
    <p:sldLayoutId id="2147483663" r:id="rId6"/>
    <p:sldLayoutId id="2147483664" r:id="rId7"/>
    <p:sldLayoutId id="2147483659" r:id="rId8"/>
    <p:sldLayoutId id="2147483660" r:id="rId9"/>
    <p:sldLayoutId id="2147483661" r:id="rId10"/>
    <p:sldLayoutId id="2147483652" r:id="rId11"/>
    <p:sldLayoutId id="2147483667" r:id="rId12"/>
    <p:sldLayoutId id="2147483653" r:id="rId13"/>
    <p:sldLayoutId id="2147483668" r:id="rId14"/>
    <p:sldLayoutId id="2147483665" r:id="rId15"/>
    <p:sldLayoutId id="2147483666" r:id="rId16"/>
    <p:sldLayoutId id="2147483654" r:id="rId17"/>
    <p:sldLayoutId id="2147483655" r:id="rId18"/>
    <p:sldLayoutId id="2147483656" r:id="rId19"/>
    <p:sldLayoutId id="2147483657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3464" indent="-283464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66928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28762-BFD9-B53C-F438-D440DBFDD2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99370" y="2576865"/>
            <a:ext cx="6593259" cy="206770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Zomato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EB19201-8F1F-5341-86AC-F656544035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86" b="96578" l="9962" r="89847">
                        <a14:foregroundMark x1="45019" y1="76046" x2="34866" y2="77567"/>
                        <a14:foregroundMark x1="34866" y1="77567" x2="40613" y2="96578"/>
                        <a14:foregroundMark x1="40613" y1="96578" x2="48659" y2="81369"/>
                        <a14:foregroundMark x1="48659" y1="81369" x2="45977" y2="7528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78953" y="3116185"/>
            <a:ext cx="4103961" cy="206770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9A4C90B-C3DB-BA8B-6F6C-E23AC64758B5}"/>
              </a:ext>
            </a:extLst>
          </p:cNvPr>
          <p:cNvSpPr txBox="1"/>
          <p:nvPr/>
        </p:nvSpPr>
        <p:spPr>
          <a:xfrm>
            <a:off x="0" y="6119336"/>
            <a:ext cx="51670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Data set – </a:t>
            </a:r>
            <a:r>
              <a:rPr lang="en-GB" sz="1400" dirty="0" err="1"/>
              <a:t>Indian_restaurant</a:t>
            </a:r>
            <a:endParaRPr lang="en-GB" sz="1400" dirty="0"/>
          </a:p>
          <a:p>
            <a:endParaRPr lang="en-GB" sz="1400" dirty="0"/>
          </a:p>
          <a:p>
            <a:r>
              <a:rPr lang="en-GB" sz="1400" dirty="0"/>
              <a:t>Prepared by - </a:t>
            </a:r>
            <a:r>
              <a:rPr lang="en-GB" sz="1400" dirty="0" err="1"/>
              <a:t>Mohitt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827593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0BA60034-9E02-4BFF-D46B-98C157D63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Executive Summary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A91497-60EB-6CC6-BE1A-11323E8A9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2121408"/>
            <a:ext cx="6727874" cy="3744820"/>
          </a:xfrm>
        </p:spPr>
        <p:txBody>
          <a:bodyPr/>
          <a:lstStyle/>
          <a:p>
            <a:r>
              <a:rPr lang="en-GB" dirty="0"/>
              <a:t>This </a:t>
            </a:r>
            <a:r>
              <a:rPr lang="en-GB" dirty="0" err="1"/>
              <a:t>zomato</a:t>
            </a:r>
            <a:r>
              <a:rPr lang="en-GB" dirty="0"/>
              <a:t> dataset provides a comprehensive overview of </a:t>
            </a:r>
            <a:r>
              <a:rPr lang="en-GB" b="1" dirty="0"/>
              <a:t>over 2.1 lakh (211,944) restaurants</a:t>
            </a:r>
            <a:r>
              <a:rPr lang="en-GB" dirty="0"/>
              <a:t> across multiple cities in India. It contains </a:t>
            </a:r>
            <a:r>
              <a:rPr lang="en-GB" b="1" dirty="0"/>
              <a:t>26 features</a:t>
            </a:r>
            <a:r>
              <a:rPr lang="en-GB" dirty="0"/>
              <a:t> capturing detailed information about restaurant identity, location, pricing, services, and customer feedback.</a:t>
            </a:r>
            <a:endParaRPr lang="en-US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09EE273-65DC-EBC2-149C-7BB5726CEB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00E35B6-58C6-ABFD-1333-AA1B7702D18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43223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814038-DE91-ECB8-02D7-21EA14BB7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DAC1DF83-128A-20A0-66D8-4B225445D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 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F8ADC574-2560-9097-16E7-B6D9ED00FB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CF15C51B-2752-1D34-6906-8459EED43DF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19C87E4-E9CD-1648-084E-E2744A0BB3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252350"/>
              </p:ext>
            </p:extLst>
          </p:nvPr>
        </p:nvGraphicFramePr>
        <p:xfrm>
          <a:off x="2222695" y="2112367"/>
          <a:ext cx="6879103" cy="2233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3210">
                  <a:extLst>
                    <a:ext uri="{9D8B030D-6E8A-4147-A177-3AD203B41FA5}">
                      <a16:colId xmlns:a16="http://schemas.microsoft.com/office/drawing/2014/main" val="3224140187"/>
                    </a:ext>
                  </a:extLst>
                </a:gridCol>
                <a:gridCol w="4615893">
                  <a:extLst>
                    <a:ext uri="{9D8B030D-6E8A-4147-A177-3AD203B41FA5}">
                      <a16:colId xmlns:a16="http://schemas.microsoft.com/office/drawing/2014/main" val="3795319653"/>
                    </a:ext>
                  </a:extLst>
                </a:gridCol>
              </a:tblGrid>
              <a:tr h="555121">
                <a:tc>
                  <a:txBody>
                    <a:bodyPr/>
                    <a:lstStyle/>
                    <a:p>
                      <a:r>
                        <a:rPr lang="en-GB" sz="1400" dirty="0"/>
                        <a:t>source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Details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709523"/>
                  </a:ext>
                </a:extLst>
              </a:tr>
              <a:tr h="568081">
                <a:tc>
                  <a:txBody>
                    <a:bodyPr/>
                    <a:lstStyle/>
                    <a:p>
                      <a:r>
                        <a:rPr lang="en-GB" sz="1400" dirty="0"/>
                        <a:t>Primary data set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Zomato – Indian </a:t>
                      </a:r>
                      <a:r>
                        <a:rPr lang="en-GB" sz="1400" dirty="0" err="1"/>
                        <a:t>Resturant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660076"/>
                  </a:ext>
                </a:extLst>
              </a:tr>
              <a:tr h="555121">
                <a:tc>
                  <a:txBody>
                    <a:bodyPr/>
                    <a:lstStyle/>
                    <a:p>
                      <a:r>
                        <a:rPr lang="en-GB" sz="1400" dirty="0"/>
                        <a:t>Analysis Tool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err="1">
                          <a:solidFill>
                            <a:schemeClr val="tx1"/>
                          </a:solidFill>
                          <a:effectLst/>
                        </a:rPr>
                        <a:t>Jupyter</a:t>
                      </a:r>
                      <a:r>
                        <a:rPr lang="en-IN" sz="1400" dirty="0">
                          <a:solidFill>
                            <a:schemeClr val="tx1"/>
                          </a:solidFill>
                          <a:effectLst/>
                        </a:rPr>
                        <a:t> Notebook  with Pandas and NumPy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283500"/>
                  </a:ext>
                </a:extLst>
              </a:tr>
              <a:tr h="5551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effectLst/>
                        </a:rPr>
                        <a:t>Visualization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err="1">
                          <a:solidFill>
                            <a:schemeClr val="tx1"/>
                          </a:solidFill>
                          <a:effectLst/>
                        </a:rPr>
                        <a:t>Plotly</a:t>
                      </a:r>
                      <a:r>
                        <a:rPr lang="en-IN" sz="1400" dirty="0">
                          <a:solidFill>
                            <a:schemeClr val="tx1"/>
                          </a:solidFill>
                          <a:effectLst/>
                        </a:rPr>
                        <a:t> Express ,Matplotlib and seaborn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576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231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D881F-CA86-A4F1-802F-E64731BD2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  <a:br>
              <a:rPr lang="en-US" dirty="0"/>
            </a:br>
            <a:r>
              <a:rPr lang="en-US" dirty="0"/>
              <a:t> Overview</a:t>
            </a:r>
          </a:p>
        </p:txBody>
      </p:sp>
    </p:spTree>
    <p:extLst>
      <p:ext uri="{BB962C8B-B14F-4D97-AF65-F5344CB8AC3E}">
        <p14:creationId xmlns:p14="http://schemas.microsoft.com/office/powerpoint/2010/main" val="4163351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8BD3563-74C4-0E4D-FE4C-A2AA33C32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822960"/>
            <a:ext cx="8530209" cy="664397"/>
          </a:xfrm>
        </p:spPr>
        <p:txBody>
          <a:bodyPr/>
          <a:lstStyle/>
          <a:p>
            <a:r>
              <a:rPr lang="en-US" dirty="0" err="1"/>
              <a:t>Imorting</a:t>
            </a:r>
            <a:r>
              <a:rPr lang="en-US" dirty="0"/>
              <a:t> the dataset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914057-CF12-017E-B2D8-B25B6E3229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2EF1DE-337F-5192-8762-CB5AF953805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DF4CAD-6F4E-FB86-B0D2-048212B88C8D}"/>
              </a:ext>
            </a:extLst>
          </p:cNvPr>
          <p:cNvSpPr txBox="1"/>
          <p:nvPr/>
        </p:nvSpPr>
        <p:spPr>
          <a:xfrm>
            <a:off x="337625" y="2771335"/>
            <a:ext cx="437505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Data loaded  using </a:t>
            </a:r>
            <a:r>
              <a:rPr lang="en-GB" dirty="0" err="1">
                <a:solidFill>
                  <a:srgbClr val="FF0000"/>
                </a:solidFill>
              </a:rPr>
              <a:t>pd.read_csv</a:t>
            </a:r>
            <a:endParaRPr lang="en-GB" dirty="0">
              <a:solidFill>
                <a:srgbClr val="FF0000"/>
              </a:solidFill>
            </a:endParaRPr>
          </a:p>
          <a:p>
            <a:endParaRPr lang="en-GB" dirty="0">
              <a:solidFill>
                <a:srgbClr val="FF0000"/>
              </a:solidFill>
            </a:endParaRPr>
          </a:p>
          <a:p>
            <a:r>
              <a:rPr lang="en-IN" dirty="0"/>
              <a:t>Preview column using </a:t>
            </a:r>
            <a:r>
              <a:rPr lang="en-IN" dirty="0" err="1">
                <a:solidFill>
                  <a:srgbClr val="FF0000"/>
                </a:solidFill>
              </a:rPr>
              <a:t>df.head</a:t>
            </a:r>
            <a:r>
              <a:rPr lang="en-IN" dirty="0">
                <a:solidFill>
                  <a:srgbClr val="FF0000"/>
                </a:solidFill>
              </a:rPr>
              <a:t> </a:t>
            </a:r>
          </a:p>
          <a:p>
            <a:endParaRPr lang="en-IN" dirty="0">
              <a:solidFill>
                <a:srgbClr val="FF0000"/>
              </a:solidFill>
            </a:endParaRPr>
          </a:p>
          <a:p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/>
              <a:t>key columns </a:t>
            </a:r>
          </a:p>
          <a:p>
            <a:r>
              <a:rPr lang="en-IN" dirty="0"/>
              <a:t> .  name </a:t>
            </a:r>
          </a:p>
          <a:p>
            <a:r>
              <a:rPr lang="en-IN" dirty="0"/>
              <a:t> . city </a:t>
            </a:r>
          </a:p>
          <a:p>
            <a:r>
              <a:rPr lang="en-IN" dirty="0"/>
              <a:t> . </a:t>
            </a:r>
            <a:r>
              <a:rPr lang="en-IN" dirty="0" err="1"/>
              <a:t>price_range</a:t>
            </a:r>
            <a:r>
              <a:rPr lang="en-IN" dirty="0"/>
              <a:t> </a:t>
            </a:r>
          </a:p>
          <a:p>
            <a:r>
              <a:rPr lang="en-IN" dirty="0"/>
              <a:t> . </a:t>
            </a:r>
            <a:r>
              <a:rPr lang="en-IN" dirty="0" err="1"/>
              <a:t>Average_cost_for_two</a:t>
            </a:r>
            <a:endParaRPr lang="en-IN" dirty="0"/>
          </a:p>
          <a:p>
            <a:r>
              <a:rPr lang="en-IN" dirty="0"/>
              <a:t> . </a:t>
            </a:r>
            <a:r>
              <a:rPr lang="en-IN" dirty="0" err="1"/>
              <a:t>Aggregate_rating</a:t>
            </a:r>
            <a:endParaRPr lang="en-IN" dirty="0"/>
          </a:p>
          <a:p>
            <a:r>
              <a:rPr lang="en-IN" dirty="0"/>
              <a:t>  </a:t>
            </a:r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BDD10B0-CE39-8142-4FCB-0421D6FDD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677" y="3191146"/>
            <a:ext cx="7333622" cy="2451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327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A30795-037A-182C-F671-332E84982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950DC9E9-4355-3525-8973-2491E048C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822960"/>
            <a:ext cx="8530209" cy="664397"/>
          </a:xfrm>
        </p:spPr>
        <p:txBody>
          <a:bodyPr/>
          <a:lstStyle/>
          <a:p>
            <a:r>
              <a:rPr lang="en-US" dirty="0"/>
              <a:t>Info of the data set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70BA1A6-083B-5F5E-6518-7D07EC0A9C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99B37F-E2C1-5156-4A15-9C8992DF8EE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7365C5-3431-4D40-860C-543713CBE8EB}"/>
              </a:ext>
            </a:extLst>
          </p:cNvPr>
          <p:cNvSpPr txBox="1"/>
          <p:nvPr/>
        </p:nvSpPr>
        <p:spPr>
          <a:xfrm>
            <a:off x="961292" y="2630656"/>
            <a:ext cx="461420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Total entries: 211944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Columns: 26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Data types: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  13 columns are type of object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   9 columns  are int type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  and 4 columns is float type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 (</a:t>
            </a:r>
            <a:r>
              <a:rPr lang="en-IN" dirty="0" err="1"/>
              <a:t>address,zipode,timings</a:t>
            </a:r>
            <a:r>
              <a:rPr lang="en-IN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  has missing values</a:t>
            </a:r>
          </a:p>
          <a:p>
            <a:endParaRPr lang="en-IN" dirty="0">
              <a:solidFill>
                <a:srgbClr val="FF0000"/>
              </a:solidFill>
            </a:endParaRPr>
          </a:p>
          <a:p>
            <a:r>
              <a:rPr lang="en-IN" dirty="0">
                <a:solidFill>
                  <a:srgbClr val="FF0000"/>
                </a:solidFill>
              </a:rPr>
              <a:t> 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7A9134-34BA-43B7-CE31-2FAADF884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378" y="1740543"/>
            <a:ext cx="3169918" cy="491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6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CA4EA1-73F0-13B6-D097-2E87C4D2C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00A8329-4DD7-2B9D-F904-03F0BD39D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822960"/>
            <a:ext cx="8530209" cy="664397"/>
          </a:xfrm>
        </p:spPr>
        <p:txBody>
          <a:bodyPr/>
          <a:lstStyle/>
          <a:p>
            <a:r>
              <a:rPr lang="en-GB" b="1" dirty="0"/>
              <a:t>Statistical  Analysis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ED52872-2752-B460-67BD-72CDF3A362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CE822A-D43E-A237-E24E-BE93B4A442A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9DFCA4-2B26-175E-D946-E0C584F6B42D}"/>
              </a:ext>
            </a:extLst>
          </p:cNvPr>
          <p:cNvSpPr txBox="1"/>
          <p:nvPr/>
        </p:nvSpPr>
        <p:spPr>
          <a:xfrm>
            <a:off x="1158830" y="1627681"/>
            <a:ext cx="46089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Used </a:t>
            </a:r>
            <a:r>
              <a:rPr lang="en-GB" dirty="0" err="1">
                <a:solidFill>
                  <a:schemeClr val="accent1"/>
                </a:solidFill>
              </a:rPr>
              <a:t>df.describe</a:t>
            </a:r>
            <a:r>
              <a:rPr lang="en-GB" dirty="0">
                <a:solidFill>
                  <a:schemeClr val="accent1"/>
                </a:solidFill>
              </a:rPr>
              <a:t> </a:t>
            </a:r>
            <a:r>
              <a:rPr lang="en-GB" dirty="0"/>
              <a:t>for understanding  </a:t>
            </a:r>
            <a:r>
              <a:rPr lang="en-GB" dirty="0" err="1"/>
              <a:t>descrictive</a:t>
            </a:r>
            <a:r>
              <a:rPr lang="en-GB" dirty="0"/>
              <a:t> statistic of the dataset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7C991F-B0F9-FC1D-A1E8-2CD76D56B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038" y="4137011"/>
            <a:ext cx="9291799" cy="26210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1D08B1-E8E8-0D3C-FCC2-E2EFE79B0336}"/>
              </a:ext>
            </a:extLst>
          </p:cNvPr>
          <p:cNvSpPr txBox="1"/>
          <p:nvPr/>
        </p:nvSpPr>
        <p:spPr>
          <a:xfrm>
            <a:off x="1273037" y="2742519"/>
            <a:ext cx="46089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Key columns for further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 </a:t>
            </a:r>
            <a:r>
              <a:rPr lang="en-GB" sz="1600" dirty="0" err="1"/>
              <a:t>average_cost_for_two</a:t>
            </a:r>
            <a:r>
              <a:rPr lang="en-GB" sz="16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 </a:t>
            </a:r>
            <a:r>
              <a:rPr lang="en-GB" sz="1600" dirty="0" err="1"/>
              <a:t>price_range</a:t>
            </a:r>
            <a:r>
              <a:rPr lang="en-GB" sz="16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err="1"/>
              <a:t>Aggregate_rating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858881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1884CD-B247-6740-7330-1A0600931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CAA73FFB-4AA3-2884-E967-CD06A0828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822960"/>
            <a:ext cx="8530209" cy="664397"/>
          </a:xfrm>
        </p:spPr>
        <p:txBody>
          <a:bodyPr/>
          <a:lstStyle/>
          <a:p>
            <a:r>
              <a:rPr lang="en-GB" b="1" dirty="0"/>
              <a:t>Statistical  Analysis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840F8BD-82DF-5F81-6B9F-A0FA34FB2B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69CE3-AC41-97CE-6A7D-6F211DF22DA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BA00D2-9AB5-765D-95A2-8239C317E158}"/>
              </a:ext>
            </a:extLst>
          </p:cNvPr>
          <p:cNvSpPr txBox="1"/>
          <p:nvPr/>
        </p:nvSpPr>
        <p:spPr>
          <a:xfrm>
            <a:off x="652393" y="1859339"/>
            <a:ext cx="4608923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Key Numerical Insights</a:t>
            </a:r>
          </a:p>
          <a:p>
            <a:endParaRPr lang="en-GB" b="1" dirty="0"/>
          </a:p>
          <a:p>
            <a:r>
              <a:rPr lang="en-GB" sz="1600" b="1" dirty="0"/>
              <a:t>Average Cost for Two:</a:t>
            </a:r>
            <a:r>
              <a:rPr lang="en-GB" sz="1600" dirty="0"/>
              <a:t> ₹595 </a:t>
            </a:r>
          </a:p>
          <a:p>
            <a:pPr lvl="1"/>
            <a:r>
              <a:rPr lang="en-GB" sz="1600" dirty="0"/>
              <a:t>Most restaurants fall between </a:t>
            </a:r>
            <a:r>
              <a:rPr lang="en-GB" sz="1600" b="1" dirty="0"/>
              <a:t>₹250 – ₹700</a:t>
            </a:r>
            <a:r>
              <a:rPr lang="en-GB" sz="1600" dirty="0"/>
              <a:t> </a:t>
            </a:r>
          </a:p>
          <a:p>
            <a:pPr lvl="1"/>
            <a:r>
              <a:rPr lang="en-GB" sz="1600" dirty="0"/>
              <a:t>Wide variation indicates both budget and premium options </a:t>
            </a:r>
          </a:p>
          <a:p>
            <a:pPr lvl="1"/>
            <a:endParaRPr lang="en-GB" sz="1600" dirty="0"/>
          </a:p>
          <a:p>
            <a:r>
              <a:rPr lang="en-GB" sz="1600" b="1" dirty="0"/>
              <a:t>Price Range:</a:t>
            </a:r>
            <a:r>
              <a:rPr lang="en-GB" sz="1600" dirty="0"/>
              <a:t> </a:t>
            </a:r>
          </a:p>
          <a:p>
            <a:pPr lvl="1"/>
            <a:r>
              <a:rPr lang="en-GB" sz="1600" dirty="0"/>
              <a:t>Mostly between </a:t>
            </a:r>
            <a:r>
              <a:rPr lang="en-GB" sz="1600" b="1" dirty="0"/>
              <a:t>1 and 2</a:t>
            </a:r>
            <a:r>
              <a:rPr lang="en-GB" sz="1600" dirty="0"/>
              <a:t> (affordable to mid-range) </a:t>
            </a:r>
          </a:p>
          <a:p>
            <a:pPr lvl="1"/>
            <a:r>
              <a:rPr lang="en-GB" sz="1600" dirty="0"/>
              <a:t>Maximum value of 4 shows presence of luxury dining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BA00D2-9AB5-765D-95A2-8239C317E158}"/>
              </a:ext>
            </a:extLst>
          </p:cNvPr>
          <p:cNvSpPr txBox="1"/>
          <p:nvPr/>
        </p:nvSpPr>
        <p:spPr>
          <a:xfrm>
            <a:off x="6096000" y="1723481"/>
            <a:ext cx="503154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Ratings &amp; Popularity</a:t>
            </a:r>
          </a:p>
          <a:p>
            <a:endParaRPr lang="en-GB" b="1" dirty="0"/>
          </a:p>
          <a:p>
            <a:r>
              <a:rPr lang="en-GB" sz="1600" b="1" dirty="0"/>
              <a:t>Average Rating:</a:t>
            </a:r>
            <a:r>
              <a:rPr lang="en-GB" sz="1600" dirty="0"/>
              <a:t>  3.39 </a:t>
            </a:r>
          </a:p>
          <a:p>
            <a:pPr lvl="1"/>
            <a:r>
              <a:rPr lang="en-GB" sz="1600" dirty="0"/>
              <a:t>Median rating is </a:t>
            </a:r>
            <a:r>
              <a:rPr lang="en-GB" sz="1600" b="1" dirty="0"/>
              <a:t>3.8</a:t>
            </a:r>
            <a:r>
              <a:rPr lang="en-GB" sz="1600" dirty="0"/>
              <a:t>, indicating generally good customer satisfaction </a:t>
            </a:r>
          </a:p>
          <a:p>
            <a:pPr lvl="1"/>
            <a:r>
              <a:rPr lang="en-GB" sz="1600" dirty="0"/>
              <a:t>Ratings mostly range between </a:t>
            </a:r>
            <a:r>
              <a:rPr lang="en-GB" sz="1600" b="1" dirty="0"/>
              <a:t>3.3 – 4.1</a:t>
            </a:r>
          </a:p>
          <a:p>
            <a:pPr lvl="1"/>
            <a:r>
              <a:rPr lang="en-GB" sz="1600" dirty="0"/>
              <a:t> </a:t>
            </a:r>
          </a:p>
          <a:p>
            <a:r>
              <a:rPr lang="en-GB" b="1" dirty="0"/>
              <a:t>Votes (Customer Engagement):</a:t>
            </a:r>
            <a:r>
              <a:rPr lang="en-GB" dirty="0"/>
              <a:t> </a:t>
            </a:r>
          </a:p>
          <a:p>
            <a:pPr lvl="1"/>
            <a:r>
              <a:rPr lang="en-GB" sz="1600" dirty="0"/>
              <a:t>Average: </a:t>
            </a:r>
            <a:r>
              <a:rPr lang="en-GB" sz="1600" b="1" dirty="0"/>
              <a:t>378 votes</a:t>
            </a:r>
            <a:r>
              <a:rPr lang="en-GB" sz="1600" dirty="0"/>
              <a:t> </a:t>
            </a:r>
          </a:p>
          <a:p>
            <a:pPr lvl="1"/>
            <a:r>
              <a:rPr lang="en-GB" sz="1600" dirty="0"/>
              <a:t>Highly skewed with some restaurants getting </a:t>
            </a:r>
            <a:r>
              <a:rPr lang="en-GB" sz="1600" b="1" dirty="0"/>
              <a:t>42,000+ votes</a:t>
            </a:r>
          </a:p>
          <a:p>
            <a:pPr lvl="1"/>
            <a:r>
              <a:rPr lang="en-GB" sz="1600" dirty="0"/>
              <a:t> </a:t>
            </a:r>
          </a:p>
          <a:p>
            <a:r>
              <a:rPr lang="en-GB" b="1" dirty="0"/>
              <a:t>Photo Count:</a:t>
            </a:r>
            <a:r>
              <a:rPr lang="en-GB" dirty="0"/>
              <a:t> </a:t>
            </a:r>
          </a:p>
          <a:p>
            <a:pPr lvl="1"/>
            <a:r>
              <a:rPr lang="en-GB" sz="1600" dirty="0"/>
              <a:t>Average: </a:t>
            </a:r>
            <a:r>
              <a:rPr lang="en-GB" sz="1600" b="1" dirty="0"/>
              <a:t>256 photos per restaurant</a:t>
            </a:r>
            <a:r>
              <a:rPr lang="en-GB" sz="1600" dirty="0"/>
              <a:t> </a:t>
            </a:r>
          </a:p>
          <a:p>
            <a:pPr lvl="1"/>
            <a:r>
              <a:rPr lang="en-GB" sz="1600" dirty="0"/>
              <a:t>Some restaurants have extremely high engagement (up to </a:t>
            </a:r>
            <a:r>
              <a:rPr lang="en-GB" sz="1600" b="1" dirty="0"/>
              <a:t>17,702 photos</a:t>
            </a:r>
            <a:r>
              <a:rPr lang="en-GB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0371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4D90F2-195C-633D-CEA8-D5A6885F3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E7DA40AD-034D-87E1-D334-827852160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822960"/>
            <a:ext cx="8530209" cy="664397"/>
          </a:xfrm>
        </p:spPr>
        <p:txBody>
          <a:bodyPr/>
          <a:lstStyle/>
          <a:p>
            <a:r>
              <a:rPr lang="en-GB" b="1" dirty="0"/>
              <a:t> Identifying Null values 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CD09FBE-008E-CE15-9719-1D21655413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11F298-5A17-6089-D649-BC6270E4E53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41FF11-1BBE-D67A-110E-AE191962785B}"/>
              </a:ext>
            </a:extLst>
          </p:cNvPr>
          <p:cNvSpPr txBox="1"/>
          <p:nvPr/>
        </p:nvSpPr>
        <p:spPr>
          <a:xfrm>
            <a:off x="722731" y="2601044"/>
            <a:ext cx="677534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Some columns contain missing data that require attention: </a:t>
            </a:r>
          </a:p>
          <a:p>
            <a:endParaRPr lang="en-IN" dirty="0"/>
          </a:p>
          <a:p>
            <a:r>
              <a:rPr lang="en-IN" b="1" dirty="0" err="1"/>
              <a:t>Zipcode</a:t>
            </a:r>
            <a:r>
              <a:rPr lang="en-IN" b="1" dirty="0"/>
              <a:t>:</a:t>
            </a:r>
            <a:r>
              <a:rPr lang="en-IN" dirty="0"/>
              <a:t> </a:t>
            </a:r>
            <a:r>
              <a:rPr lang="en-IN" sz="1600" dirty="0"/>
              <a:t>163,187 missing values</a:t>
            </a:r>
            <a:br>
              <a:rPr lang="en-IN" sz="1600" dirty="0"/>
            </a:br>
            <a:r>
              <a:rPr lang="en-IN" sz="1600" dirty="0"/>
              <a:t>Majority of entries missing, may not be useful for analysis </a:t>
            </a:r>
          </a:p>
          <a:p>
            <a:endParaRPr lang="en-IN" sz="1600" dirty="0"/>
          </a:p>
          <a:p>
            <a:r>
              <a:rPr lang="en-IN" b="1" dirty="0"/>
              <a:t>Timings:</a:t>
            </a:r>
            <a:r>
              <a:rPr lang="en-IN" dirty="0"/>
              <a:t> </a:t>
            </a:r>
            <a:r>
              <a:rPr lang="en-IN" sz="1600" dirty="0"/>
              <a:t>3,874 missing values Some restaurants lack operating hours </a:t>
            </a:r>
          </a:p>
          <a:p>
            <a:endParaRPr lang="en-IN" sz="1600" dirty="0"/>
          </a:p>
          <a:p>
            <a:r>
              <a:rPr lang="en-IN" b="1" dirty="0"/>
              <a:t>Cuisines:</a:t>
            </a:r>
            <a:r>
              <a:rPr lang="en-IN" dirty="0"/>
              <a:t> </a:t>
            </a:r>
            <a:r>
              <a:rPr lang="en-IN" sz="1600" dirty="0"/>
              <a:t>1,391 missing values Minor gaps in cuisine  </a:t>
            </a:r>
          </a:p>
          <a:p>
            <a:endParaRPr lang="en-IN" sz="1600" dirty="0"/>
          </a:p>
          <a:p>
            <a:r>
              <a:rPr lang="en-IN" b="1" dirty="0"/>
              <a:t>Address:</a:t>
            </a:r>
            <a:r>
              <a:rPr lang="en-IN" dirty="0"/>
              <a:t> </a:t>
            </a:r>
            <a:r>
              <a:rPr lang="en-IN" sz="1600" dirty="0"/>
              <a:t>134 missing values Very small impact </a:t>
            </a:r>
          </a:p>
          <a:p>
            <a:endParaRPr lang="en-IN" sz="1600" dirty="0"/>
          </a:p>
          <a:p>
            <a:r>
              <a:rPr lang="en-IN" b="1" dirty="0"/>
              <a:t>OpenTable Support:</a:t>
            </a:r>
            <a:r>
              <a:rPr lang="en-IN" dirty="0"/>
              <a:t> </a:t>
            </a:r>
            <a:r>
              <a:rPr lang="en-IN" sz="1600" dirty="0"/>
              <a:t>48 missing values </a:t>
            </a:r>
          </a:p>
          <a:p>
            <a:r>
              <a:rPr lang="en-IN" sz="1600" dirty="0"/>
              <a:t>Negligible impact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97C859-7999-201D-8FDE-63173748F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4179" y="1975886"/>
            <a:ext cx="2954216" cy="39184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3E41D8-C3F6-3FE4-AA34-B02DE9CC3CE8}"/>
              </a:ext>
            </a:extLst>
          </p:cNvPr>
          <p:cNvSpPr txBox="1"/>
          <p:nvPr/>
        </p:nvSpPr>
        <p:spPr>
          <a:xfrm>
            <a:off x="722731" y="1814732"/>
            <a:ext cx="58328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.</a:t>
            </a:r>
            <a:r>
              <a:rPr lang="en-GB" dirty="0" err="1">
                <a:solidFill>
                  <a:schemeClr val="accent1"/>
                </a:solidFill>
              </a:rPr>
              <a:t>isnull</a:t>
            </a:r>
            <a:r>
              <a:rPr lang="en-GB" dirty="0">
                <a:solidFill>
                  <a:schemeClr val="accent1"/>
                </a:solidFill>
              </a:rPr>
              <a:t>() </a:t>
            </a:r>
            <a:r>
              <a:rPr lang="en-GB" dirty="0"/>
              <a:t>method gives the null values </a:t>
            </a:r>
          </a:p>
          <a:p>
            <a:r>
              <a:rPr lang="en-GB" dirty="0"/>
              <a:t>.</a:t>
            </a:r>
            <a:r>
              <a:rPr lang="en-GB" dirty="0">
                <a:solidFill>
                  <a:schemeClr val="accent1"/>
                </a:solidFill>
              </a:rPr>
              <a:t>sum().</a:t>
            </a:r>
            <a:r>
              <a:rPr lang="en-GB" dirty="0"/>
              <a:t>method gives the sum of values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2149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E46C7FB9-1D67-4C73-7AAC-B157D99BC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434" y="2852928"/>
            <a:ext cx="8951976" cy="1152144"/>
          </a:xfrm>
        </p:spPr>
        <p:txBody>
          <a:bodyPr/>
          <a:lstStyle/>
          <a:p>
            <a:r>
              <a:rPr lang="en-US" dirty="0"/>
              <a:t>Data Cleaning.</a:t>
            </a:r>
          </a:p>
        </p:txBody>
      </p:sp>
    </p:spTree>
    <p:extLst>
      <p:ext uri="{BB962C8B-B14F-4D97-AF65-F5344CB8AC3E}">
        <p14:creationId xmlns:p14="http://schemas.microsoft.com/office/powerpoint/2010/main" val="3925682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1D625AD-D853-E707-6C7F-E31923C41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Missing Values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B742BF8-0956-7E94-FAF4-D42A92ACE1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96F7733-7434-FA95-04A6-9FA221A264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3F5406B1-981D-B01A-D4C7-4BF7C7D9C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692" y="2052148"/>
            <a:ext cx="7413674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Address Column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Missing values were replaced with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"Unknown“ using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.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filna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()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Ensures no empty entries in location details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Zipcode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Column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Dropped completely due 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excessive missing values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by using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.drop()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Helps reduce noise and improve dataset reliability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0ED3611-C33B-B34F-10DA-376C5B9DC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0185" y="4529806"/>
            <a:ext cx="4831790" cy="196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847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BEC223-C5E2-3125-61FD-20A5FF36C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6578785-6BEF-EC19-8383-C63227BC3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Missing Values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8F0DBE18-6845-EA68-084F-A440EC3964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9B2D857-D132-8ECE-B85C-35625C8F3F0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27EF68-2E83-67CA-394D-70AEB20A4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" y="1957519"/>
            <a:ext cx="837027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Cuisines Column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Missing values filled using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most frequent (mode) cuisine using .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fillna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.mode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Maintains consistency in cuisine categorization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Timings Column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Missing values replaced with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"Not Available"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Preserves records without losing rows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OpenTable Support Column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Missing values filled using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mean value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by using 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mean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Suitable for numerical type data to maintain distribution balance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28236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8BBEFB-EC45-9C92-9585-039E34008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B6A0C57-81C5-4F55-1757-0237D44AF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7638" y="722376"/>
            <a:ext cx="8870656" cy="764982"/>
          </a:xfrm>
        </p:spPr>
        <p:txBody>
          <a:bodyPr/>
          <a:lstStyle/>
          <a:p>
            <a:r>
              <a:rPr lang="en-IN" dirty="0"/>
              <a:t>Handling Duplicate Records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D4FA9C2-AD0B-56AF-EFE1-E7A094BED6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B9B6DF0-09CE-D326-A11E-CC885BA7C50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765633-BEA6-45F7-AFC8-0C63B4182F8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22030" y="1921395"/>
            <a:ext cx="6992400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dirty="0" err="1"/>
              <a:t>df</a:t>
            </a:r>
            <a:r>
              <a:rPr lang="en-IN" dirty="0"/>
              <a:t>[</a:t>
            </a:r>
            <a:r>
              <a:rPr lang="en-IN" dirty="0" err="1"/>
              <a:t>df.duplicated</a:t>
            </a:r>
            <a:r>
              <a:rPr lang="en-IN" dirty="0"/>
              <a:t>()] = </a:t>
            </a:r>
            <a:r>
              <a:rPr lang="en-GB" sz="1600" dirty="0"/>
              <a:t>This step checks for </a:t>
            </a:r>
            <a:r>
              <a:rPr lang="en-GB" sz="1600" b="1" dirty="0"/>
              <a:t>duplicate rows</a:t>
            </a:r>
            <a:r>
              <a:rPr lang="en-GB" sz="1600" dirty="0"/>
              <a:t> in the dataset Helps identify repeated entries that may distort analysis </a:t>
            </a:r>
          </a:p>
          <a:p>
            <a:endParaRPr lang="en-GB" sz="1600" dirty="0"/>
          </a:p>
          <a:p>
            <a:r>
              <a:rPr lang="en-IN" dirty="0"/>
              <a:t>Removing Duplicates </a:t>
            </a:r>
          </a:p>
          <a:p>
            <a:endParaRPr lang="en-IN" dirty="0"/>
          </a:p>
          <a:p>
            <a:r>
              <a:rPr lang="en-IN" dirty="0" err="1"/>
              <a:t>df.drop_duplicates</a:t>
            </a:r>
            <a:r>
              <a:rPr lang="en-IN" dirty="0"/>
              <a:t>(</a:t>
            </a:r>
            <a:r>
              <a:rPr lang="en-IN" dirty="0" err="1"/>
              <a:t>inplace</a:t>
            </a:r>
            <a:r>
              <a:rPr lang="en-IN" dirty="0"/>
              <a:t>=True) </a:t>
            </a:r>
            <a:endParaRPr lang="en-GB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4B2F9CC-40AF-0545-DA8A-F64164058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196" y="3429000"/>
            <a:ext cx="5247250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Removes all duplicate records from the dataset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Keeps only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first occurrence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of each entry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D2F705-04C8-7A6A-1EFC-2F35D161C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7090" y="3429000"/>
            <a:ext cx="2956413" cy="94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159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05C302-8446-CAAB-8F7B-3D6871AF8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5A76499-8429-05B1-9597-7C6CBD9AF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7638" y="722376"/>
            <a:ext cx="8870656" cy="764982"/>
          </a:xfrm>
        </p:spPr>
        <p:txBody>
          <a:bodyPr/>
          <a:lstStyle/>
          <a:p>
            <a:r>
              <a:rPr lang="en-IN" dirty="0"/>
              <a:t>Handling Invalid Values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EB5AD671-8D9C-D511-21D9-703D35FAD4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6E29760-D4D3-68BE-6D85-8A6A6897876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6090C2-1E53-A128-54A3-5640921AD3B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62896" y="2101533"/>
            <a:ext cx="6992400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Value Replacement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Replaced </a:t>
            </a:r>
            <a:r>
              <a:rPr lang="en-GB" sz="1600" b="1" dirty="0"/>
              <a:t>-1 values with 0</a:t>
            </a:r>
            <a:r>
              <a:rPr lang="en-GB" sz="1600" dirty="0"/>
              <a:t> in: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Delivery column</a:t>
            </a:r>
            <a:r>
              <a:rPr lang="en-GB" sz="16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Takeaway column</a:t>
            </a:r>
            <a:r>
              <a:rPr lang="en-GB" sz="1600" dirty="0"/>
              <a:t> </a:t>
            </a:r>
            <a:r>
              <a:rPr lang="en-IN" sz="16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 </a:t>
            </a:r>
            <a:endParaRPr lang="en-GB" sz="16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Reason for This Step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In these columns: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1 = Available</a:t>
            </a:r>
            <a:r>
              <a:rPr lang="en-GB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0 = Not Available</a:t>
            </a:r>
            <a:r>
              <a:rPr lang="en-GB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-1 = Invalid / Incorrect entry</a:t>
            </a:r>
            <a:r>
              <a:rPr lang="en-GB" sz="16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 Replacing -1 with 0 ensures </a:t>
            </a:r>
            <a:r>
              <a:rPr lang="en-GB" sz="1600" b="1" dirty="0"/>
              <a:t>uniform binary representation</a:t>
            </a:r>
            <a:endParaRPr lang="en-GB" sz="16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0AE51E-5239-75EB-7B19-D28308F58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7307" y="3188039"/>
            <a:ext cx="3953708" cy="951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514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20B6AE-5096-F5C9-3AE4-D76EE0364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1CA18F56-C07D-492A-EA8C-5655530B5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822960"/>
            <a:ext cx="8530209" cy="664397"/>
          </a:xfrm>
        </p:spPr>
        <p:txBody>
          <a:bodyPr/>
          <a:lstStyle/>
          <a:p>
            <a:r>
              <a:rPr lang="en-US" dirty="0"/>
              <a:t>Basic Statistics: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40CF742-28AC-7631-E2C3-E1E2F3A39B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5C1522-AF4E-B5C6-C634-704415E274A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D89B5F-8172-CE18-452E-43217BE739E7}"/>
              </a:ext>
            </a:extLst>
          </p:cNvPr>
          <p:cNvSpPr txBox="1"/>
          <p:nvPr/>
        </p:nvSpPr>
        <p:spPr>
          <a:xfrm>
            <a:off x="764096" y="1779955"/>
            <a:ext cx="60983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Calculate and visualize the average rating of restaurants</a:t>
            </a:r>
            <a:r>
              <a:rPr lang="en-IN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0588C0-B6FD-D6E1-AFAC-DB8AB3E2F32D}"/>
              </a:ext>
            </a:extLst>
          </p:cNvPr>
          <p:cNvSpPr txBox="1"/>
          <p:nvPr/>
        </p:nvSpPr>
        <p:spPr>
          <a:xfrm>
            <a:off x="764096" y="2590539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Average Restaurant Rating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4427FE-0CD6-8242-C5B6-76142C162D0A}"/>
              </a:ext>
            </a:extLst>
          </p:cNvPr>
          <p:cNvSpPr txBox="1"/>
          <p:nvPr/>
        </p:nvSpPr>
        <p:spPr>
          <a:xfrm>
            <a:off x="764096" y="3124124"/>
            <a:ext cx="662144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Grouped data by restaurant name</a:t>
            </a:r>
            <a:r>
              <a:rPr lang="en-GB" dirty="0"/>
              <a:t> using .</a:t>
            </a:r>
            <a:r>
              <a:rPr lang="en-GB" dirty="0" err="1">
                <a:solidFill>
                  <a:schemeClr val="accent1"/>
                </a:solidFill>
              </a:rPr>
              <a:t>groupby</a:t>
            </a:r>
            <a:r>
              <a:rPr lang="en-GB" dirty="0"/>
              <a:t>()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Calculated the </a:t>
            </a:r>
            <a:r>
              <a:rPr lang="en-GB" b="1" dirty="0"/>
              <a:t>mean (average) rating</a:t>
            </a:r>
            <a:r>
              <a:rPr lang="en-GB" dirty="0"/>
              <a:t> for each using .</a:t>
            </a:r>
            <a:r>
              <a:rPr lang="en-GB" dirty="0">
                <a:solidFill>
                  <a:schemeClr val="accent1"/>
                </a:solidFill>
              </a:rPr>
              <a:t>mean</a:t>
            </a:r>
            <a:r>
              <a:rPr lang="en-GB" dirty="0"/>
              <a:t>()</a:t>
            </a:r>
          </a:p>
          <a:p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restaurant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Selected </a:t>
            </a:r>
            <a:r>
              <a:rPr lang="en-GB" b="1" dirty="0"/>
              <a:t>top 20 records by </a:t>
            </a:r>
            <a:r>
              <a:rPr lang="en-GB" b="1" dirty="0" err="1"/>
              <a:t>using.</a:t>
            </a:r>
            <a:r>
              <a:rPr lang="en-GB" b="1" dirty="0" err="1">
                <a:solidFill>
                  <a:schemeClr val="accent1"/>
                </a:solidFill>
              </a:rPr>
              <a:t>hea</a:t>
            </a:r>
            <a:r>
              <a:rPr lang="en-GB" b="1" dirty="0" err="1"/>
              <a:t>d</a:t>
            </a:r>
            <a:r>
              <a:rPr lang="en-GB" b="1" dirty="0"/>
              <a:t>()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Renamed columns for better readability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DA1EEF9-3193-0CB5-53F7-90283A8BB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2310" y="3795309"/>
            <a:ext cx="5447094" cy="900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100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3A3C6D-47CF-A39C-7E4A-DB52AFFE2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5B15007E-E88E-2C28-BF9E-965F4FBFF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822960"/>
            <a:ext cx="8530209" cy="664397"/>
          </a:xfrm>
        </p:spPr>
        <p:txBody>
          <a:bodyPr/>
          <a:lstStyle/>
          <a:p>
            <a:r>
              <a:rPr lang="en-US" dirty="0"/>
              <a:t>Basic Statistics: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33BCA54-7135-E9D6-5B5F-9CA154AA30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0CE156-F1E3-9754-F3D2-B8F352063ED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71395B-2177-B685-D163-2DC06F907628}"/>
              </a:ext>
            </a:extLst>
          </p:cNvPr>
          <p:cNvSpPr txBox="1"/>
          <p:nvPr/>
        </p:nvSpPr>
        <p:spPr>
          <a:xfrm>
            <a:off x="764096" y="1779955"/>
            <a:ext cx="60983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Insights: Average Ratings of Restaurants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EA7805-5520-F164-B113-D7C8A24CF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096" y="1933844"/>
            <a:ext cx="11228828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dataset shows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wide variation in average ratings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ranging from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0.0 to 4.3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Top-performing restaurants include: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007 Punjabi Dhaba (4.3)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#BC and #Dilliwaala6 (4.2)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#BEIR (4.1)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sz="1600" dirty="0"/>
              <a:t>These indicate </a:t>
            </a:r>
            <a:r>
              <a:rPr lang="en-GB" sz="1600" b="1" dirty="0"/>
              <a:t>high customer satisfaction and strong service quality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7A851B-054E-7FA0-E118-8C5BCD7009E6}"/>
              </a:ext>
            </a:extLst>
          </p:cNvPr>
          <p:cNvSpPr txBox="1"/>
          <p:nvPr/>
        </p:nvSpPr>
        <p:spPr>
          <a:xfrm>
            <a:off x="764096" y="4000827"/>
            <a:ext cx="6098344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Several restaurants have </a:t>
            </a:r>
            <a:r>
              <a:rPr lang="en-GB" b="1" dirty="0"/>
              <a:t>good ratings around</a:t>
            </a:r>
          </a:p>
          <a:p>
            <a:pPr>
              <a:buNone/>
            </a:pPr>
            <a:endParaRPr lang="en-GB" b="1" dirty="0"/>
          </a:p>
          <a:p>
            <a:pPr>
              <a:buNone/>
            </a:pPr>
            <a:r>
              <a:rPr lang="en-GB" b="1" dirty="0"/>
              <a:t> </a:t>
            </a:r>
            <a:r>
              <a:rPr lang="en-GB" sz="1600" b="1" dirty="0"/>
              <a:t>3.8 – 4.0</a:t>
            </a:r>
            <a:r>
              <a:rPr lang="en-GB" sz="1600" dirty="0"/>
              <a:t>,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i="1" dirty="0"/>
              <a:t>#1, Culinary Avenue - The Red Maple</a:t>
            </a:r>
            <a:r>
              <a:rPr lang="en-GB" sz="16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i="1" dirty="0"/>
              <a:t>#788 Avenue</a:t>
            </a:r>
            <a:r>
              <a:rPr lang="en-GB" sz="16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i="1" dirty="0"/>
              <a:t>Peg Bar - Radisson Blu Hotel</a:t>
            </a:r>
            <a:endParaRPr lang="en-GB" sz="16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3EE0F6A-2675-0D5C-9AA8-25222770C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9043" y="2602523"/>
            <a:ext cx="2992957" cy="4234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1475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E030B6-FA4C-2CA0-1468-913CDF60E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3220201B-8127-7367-B660-62FBAA20C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822960"/>
            <a:ext cx="8530209" cy="664397"/>
          </a:xfrm>
        </p:spPr>
        <p:txBody>
          <a:bodyPr/>
          <a:lstStyle/>
          <a:p>
            <a:r>
              <a:rPr lang="en-US" dirty="0"/>
              <a:t>Basic Statistics: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6BDE0D1-2E1E-5392-20C9-7225E6A80B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85BABE-18D9-2837-1D93-17F9462AF63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3E4A00-16C6-5DE5-3ACD-46876ECFAEBE}"/>
              </a:ext>
            </a:extLst>
          </p:cNvPr>
          <p:cNvSpPr txBox="1"/>
          <p:nvPr/>
        </p:nvSpPr>
        <p:spPr>
          <a:xfrm>
            <a:off x="764096" y="1777777"/>
            <a:ext cx="60983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plot the map using </a:t>
            </a:r>
            <a:r>
              <a:rPr lang="en-IN" dirty="0" err="1"/>
              <a:t>plotly</a:t>
            </a:r>
            <a:r>
              <a:rPr lang="en-IN" dirty="0"/>
              <a:t> </a:t>
            </a:r>
          </a:p>
          <a:p>
            <a:r>
              <a:rPr lang="en-IN" dirty="0"/>
              <a:t> X-Axis</a:t>
            </a:r>
            <a:r>
              <a:rPr lang="en-IN" dirty="0">
                <a:sym typeface="Wingdings" panose="05000000000000000000" pitchFamily="2" charset="2"/>
              </a:rPr>
              <a:t> ‘restaurant’ </a:t>
            </a:r>
          </a:p>
          <a:p>
            <a:r>
              <a:rPr lang="en-IN" dirty="0">
                <a:sym typeface="Wingdings" panose="05000000000000000000" pitchFamily="2" charset="2"/>
              </a:rPr>
              <a:t> Y  ‘</a:t>
            </a:r>
            <a:r>
              <a:rPr lang="en-IN" dirty="0" err="1">
                <a:sym typeface="Wingdings" panose="05000000000000000000" pitchFamily="2" charset="2"/>
              </a:rPr>
              <a:t>agg_rating</a:t>
            </a:r>
            <a:r>
              <a:rPr lang="en-IN" dirty="0">
                <a:sym typeface="Wingdings" panose="05000000000000000000" pitchFamily="2" charset="2"/>
              </a:rPr>
              <a:t>’ </a:t>
            </a:r>
          </a:p>
          <a:p>
            <a:r>
              <a:rPr lang="en-IN" dirty="0">
                <a:sym typeface="Wingdings" panose="05000000000000000000" pitchFamily="2" charset="2"/>
              </a:rPr>
              <a:t> </a:t>
            </a:r>
            <a:r>
              <a:rPr lang="en-IN" dirty="0" err="1">
                <a:sym typeface="Wingdings" panose="05000000000000000000" pitchFamily="2" charset="2"/>
              </a:rPr>
              <a:t>Color</a:t>
            </a:r>
            <a:r>
              <a:rPr lang="en-IN" dirty="0">
                <a:sym typeface="Wingdings" panose="05000000000000000000" pitchFamily="2" charset="2"/>
              </a:rPr>
              <a:t>  ‘restaurant’ 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D53F18-3A16-2478-839E-99C2AF665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5806" y="3369546"/>
            <a:ext cx="8441838" cy="333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947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D92495-6940-3DB8-FF87-48AC2C19C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2934F255-5043-1ACA-7F21-C50BC449B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822960"/>
            <a:ext cx="8530209" cy="664397"/>
          </a:xfrm>
        </p:spPr>
        <p:txBody>
          <a:bodyPr/>
          <a:lstStyle/>
          <a:p>
            <a:r>
              <a:rPr lang="en-US" dirty="0"/>
              <a:t>Basic Statistics: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93E765B-9974-3B34-0549-417CBFB0B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2DFEFD-23BE-0CA5-411E-7940DA7B355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DEE020-B082-4ADD-A721-7C44D955094B}"/>
              </a:ext>
            </a:extLst>
          </p:cNvPr>
          <p:cNvSpPr txBox="1"/>
          <p:nvPr/>
        </p:nvSpPr>
        <p:spPr>
          <a:xfrm>
            <a:off x="764095" y="1777777"/>
            <a:ext cx="80422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  <a:r>
              <a:rPr lang="en-GB" dirty="0" err="1"/>
              <a:t>Analyze</a:t>
            </a:r>
            <a:r>
              <a:rPr lang="en-GB" dirty="0"/>
              <a:t> the distribution of restaurant ratings to understand            </a:t>
            </a:r>
          </a:p>
          <a:p>
            <a:r>
              <a:rPr lang="en-GB" dirty="0"/>
              <a:t> the overall rating landscape.</a:t>
            </a:r>
            <a:r>
              <a:rPr lang="en-IN" dirty="0">
                <a:sym typeface="Wingdings" panose="05000000000000000000" pitchFamily="2" charset="2"/>
              </a:rPr>
              <a:t>’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A5D188-A40E-8A32-9590-8A02001DD046}"/>
              </a:ext>
            </a:extLst>
          </p:cNvPr>
          <p:cNvSpPr txBox="1"/>
          <p:nvPr/>
        </p:nvSpPr>
        <p:spPr>
          <a:xfrm>
            <a:off x="764096" y="2424108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Restaurant Rating Distribution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8F9C3BF-CAA9-FDDA-E7E5-5E8B3D92B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095" y="2839606"/>
            <a:ext cx="303418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Total Records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60,417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Average Rating: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3.03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Median Rating: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3.5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E50821-A883-20CB-50CB-CBDE394BBB6A}"/>
              </a:ext>
            </a:extLst>
          </p:cNvPr>
          <p:cNvSpPr txBox="1"/>
          <p:nvPr/>
        </p:nvSpPr>
        <p:spPr>
          <a:xfrm>
            <a:off x="749105" y="3670603"/>
            <a:ext cx="6098344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Distribution Insights</a:t>
            </a:r>
          </a:p>
          <a:p>
            <a:pPr>
              <a:buNone/>
            </a:pPr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Minimum Rating:</a:t>
            </a:r>
            <a:r>
              <a:rPr lang="en-GB" sz="1600" dirty="0"/>
              <a:t> 0.0</a:t>
            </a:r>
            <a:br>
              <a:rPr lang="en-GB" sz="1600" dirty="0"/>
            </a:br>
            <a:r>
              <a:rPr lang="en-GB" sz="1600" dirty="0"/>
              <a:t> Indicates  </a:t>
            </a:r>
            <a:r>
              <a:rPr lang="en-GB" sz="1600" b="1" dirty="0"/>
              <a:t>poor performance </a:t>
            </a:r>
            <a:r>
              <a:rPr lang="en-GB" sz="16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Maximum Rating:</a:t>
            </a:r>
            <a:r>
              <a:rPr lang="en-GB" sz="1600" dirty="0"/>
              <a:t> 4.9</a:t>
            </a:r>
            <a:br>
              <a:rPr lang="en-GB" sz="1600" dirty="0"/>
            </a:br>
            <a:r>
              <a:rPr lang="en-GB" sz="1600" dirty="0"/>
              <a:t> Shows presence of </a:t>
            </a:r>
            <a:r>
              <a:rPr lang="en-GB" sz="1600" b="1" dirty="0"/>
              <a:t>highly rated restaurants</a:t>
            </a:r>
            <a:r>
              <a:rPr lang="en-GB" sz="16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25th Percentile (Q1):</a:t>
            </a:r>
            <a:r>
              <a:rPr lang="en-GB" sz="1600" dirty="0"/>
              <a:t> 2.9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75th Percentile (Q3):</a:t>
            </a:r>
            <a:r>
              <a:rPr lang="en-GB" sz="1600" dirty="0"/>
              <a:t> 4.0 </a:t>
            </a:r>
          </a:p>
          <a:p>
            <a:pPr>
              <a:buNone/>
            </a:pPr>
            <a:r>
              <a:rPr lang="en-GB" sz="1600" dirty="0"/>
              <a:t>Most ratings fall between </a:t>
            </a:r>
            <a:r>
              <a:rPr lang="en-GB" sz="1600" b="1" dirty="0"/>
              <a:t>2.9 and 4.0</a:t>
            </a:r>
            <a:endParaRPr lang="en-GB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4FD8742-717E-0683-D7D2-CBF30C4A9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914" y="3070439"/>
            <a:ext cx="3487983" cy="221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3868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0ED967-D3A2-880D-C29D-64FF2A03A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BF5B8059-0CEE-4D4E-CECE-407D5D979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822960"/>
            <a:ext cx="8530209" cy="664397"/>
          </a:xfrm>
        </p:spPr>
        <p:txBody>
          <a:bodyPr/>
          <a:lstStyle/>
          <a:p>
            <a:r>
              <a:rPr lang="en-US" dirty="0"/>
              <a:t>Location Analysis: :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A1CC5E3-C7D6-B9E9-0DCE-503048983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84820B-6DD9-FCC4-A6E6-B8A5852A87E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9B0842-E779-B99C-171E-3B358B461178}"/>
              </a:ext>
            </a:extLst>
          </p:cNvPr>
          <p:cNvSpPr txBox="1"/>
          <p:nvPr/>
        </p:nvSpPr>
        <p:spPr>
          <a:xfrm>
            <a:off x="764094" y="1653740"/>
            <a:ext cx="80422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Identify the city with the highest concentration of restaurants.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9749F4-F8E3-161B-99EF-A8F3644219E8}"/>
              </a:ext>
            </a:extLst>
          </p:cNvPr>
          <p:cNvSpPr txBox="1"/>
          <p:nvPr/>
        </p:nvSpPr>
        <p:spPr>
          <a:xfrm>
            <a:off x="764094" y="1946328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City-wise Distribution of Restaurants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EC92D82-24E7-113A-83C0-2CFE4BE04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095" y="3669992"/>
            <a:ext cx="3915586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Top Cities by Number of Restaurants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Chennai</a:t>
            </a:r>
            <a:r>
              <a:rPr lang="en-GB" sz="1600" dirty="0"/>
              <a:t> – 2,612 restaurants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Mumbai</a:t>
            </a:r>
            <a:r>
              <a:rPr lang="en-GB" sz="1600" dirty="0"/>
              <a:t> – 2,538 restaurants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Bangalore</a:t>
            </a:r>
            <a:r>
              <a:rPr lang="en-GB" sz="1600" dirty="0"/>
              <a:t> – 2,365 restaurants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Pune</a:t>
            </a:r>
            <a:r>
              <a:rPr lang="en-GB" sz="1600" dirty="0"/>
              <a:t> – 1,911 restaurants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New Delhi</a:t>
            </a:r>
            <a:r>
              <a:rPr lang="en-GB" sz="1600" dirty="0"/>
              <a:t> – 1,847 restaurants  These cities have the </a:t>
            </a:r>
            <a:r>
              <a:rPr lang="en-GB" sz="1600" b="1" dirty="0"/>
              <a:t>highest concentration of restaurants</a:t>
            </a:r>
            <a:r>
              <a:rPr lang="en-GB" sz="1600" dirty="0"/>
              <a:t>, indicating strong food culture and demand.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F7C6C3-A1C0-5743-C6DD-C0E0757EFFEE}"/>
              </a:ext>
            </a:extLst>
          </p:cNvPr>
          <p:cNvSpPr txBox="1"/>
          <p:nvPr/>
        </p:nvSpPr>
        <p:spPr>
          <a:xfrm>
            <a:off x="4869149" y="3669992"/>
            <a:ext cx="609834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Key Observations</a:t>
            </a:r>
          </a:p>
          <a:p>
            <a:pPr>
              <a:buNone/>
            </a:pPr>
            <a:endParaRPr lang="en-GB" sz="16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There is a </a:t>
            </a:r>
            <a:r>
              <a:rPr lang="en-GB" sz="1600" b="1" dirty="0"/>
              <a:t>gradual decline</a:t>
            </a:r>
            <a:r>
              <a:rPr lang="en-GB" sz="1600" dirty="0"/>
              <a:t> in the number of restaurants as we move to smaller cities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Cities like: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Udupi (61)</a:t>
            </a:r>
            <a:r>
              <a:rPr lang="en-GB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Howrah (50)</a:t>
            </a:r>
            <a:r>
              <a:rPr lang="en-GB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Neemrana (26)</a:t>
            </a:r>
            <a:r>
              <a:rPr lang="en-GB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Greater Noida (22)</a:t>
            </a:r>
            <a:r>
              <a:rPr lang="en-GB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 err="1"/>
              <a:t>Nayagaon</a:t>
            </a:r>
            <a:r>
              <a:rPr lang="en-GB" sz="1600" b="1" dirty="0"/>
              <a:t> (15)</a:t>
            </a:r>
            <a:br>
              <a:rPr lang="en-GB" sz="1600" dirty="0"/>
            </a:br>
            <a:r>
              <a:rPr lang="en-GB" sz="1600" dirty="0"/>
              <a:t>have </a:t>
            </a:r>
            <a:r>
              <a:rPr lang="en-GB" sz="1600" b="1" dirty="0"/>
              <a:t>very low representation</a:t>
            </a:r>
            <a:endParaRPr lang="en-GB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83C06D-40B6-D3AD-FC9C-854E86619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0839" y="3291839"/>
            <a:ext cx="2233309" cy="327763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057B098-E483-82A2-B184-07F8526FA48D}"/>
              </a:ext>
            </a:extLst>
          </p:cNvPr>
          <p:cNvSpPr txBox="1"/>
          <p:nvPr/>
        </p:nvSpPr>
        <p:spPr>
          <a:xfrm>
            <a:off x="764094" y="2671429"/>
            <a:ext cx="702940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.</a:t>
            </a:r>
            <a:r>
              <a:rPr lang="en-GB" sz="1600" dirty="0" err="1">
                <a:solidFill>
                  <a:srgbClr val="FF0000"/>
                </a:solidFill>
              </a:rPr>
              <a:t>value_counts</a:t>
            </a:r>
            <a:r>
              <a:rPr lang="en-GB" sz="1600" dirty="0"/>
              <a:t>() counts how many time a value </a:t>
            </a:r>
            <a:r>
              <a:rPr lang="en-GB" sz="1600" dirty="0" err="1"/>
              <a:t>accour</a:t>
            </a:r>
            <a:r>
              <a:rPr lang="en-GB" sz="1600" dirty="0"/>
              <a:t> in data set </a:t>
            </a:r>
          </a:p>
          <a:p>
            <a:r>
              <a:rPr lang="en-GB" sz="1600" dirty="0"/>
              <a:t>.</a:t>
            </a:r>
            <a:r>
              <a:rPr lang="en-GB" sz="1600" dirty="0" err="1">
                <a:solidFill>
                  <a:srgbClr val="FF0000"/>
                </a:solidFill>
              </a:rPr>
              <a:t>reset_index</a:t>
            </a:r>
            <a:r>
              <a:rPr lang="en-GB" sz="1600" dirty="0"/>
              <a:t>() convert series into a data frame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1304858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D46836-EFD2-C5C8-77E4-530149B55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6C46EE28-FF93-7502-4706-BCCE07FA2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822960"/>
            <a:ext cx="8530209" cy="664397"/>
          </a:xfrm>
        </p:spPr>
        <p:txBody>
          <a:bodyPr/>
          <a:lstStyle/>
          <a:p>
            <a:r>
              <a:rPr lang="en-US" dirty="0"/>
              <a:t>Location Analysis: :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41A7AEE-EA68-4F28-933F-8AB5E82AF1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2661E3-B16A-14ED-A02A-8D14C8FF5C8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D5F6B9-A9F2-ED50-60EB-97A8967030DB}"/>
              </a:ext>
            </a:extLst>
          </p:cNvPr>
          <p:cNvSpPr txBox="1"/>
          <p:nvPr/>
        </p:nvSpPr>
        <p:spPr>
          <a:xfrm>
            <a:off x="764094" y="1523203"/>
            <a:ext cx="80422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Visualize the distribution of restaurant ratings across different cities.</a:t>
            </a:r>
            <a:endParaRPr lang="en-IN" dirty="0"/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49CCD744-3F9E-C0C1-2F64-C49DCE576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093" y="1951672"/>
            <a:ext cx="1005396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Grouped data by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by using .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groupby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Calculated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average (mean) rating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each city using 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mean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Sorted the results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descending order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(highest ratings first) by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sort_values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Selected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top 20 cities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altLang="en-US" dirty="0"/>
              <a:t>by using .</a:t>
            </a:r>
            <a:r>
              <a:rPr lang="en-US" altLang="en-US" dirty="0">
                <a:solidFill>
                  <a:srgbClr val="FF0000"/>
                </a:solidFill>
              </a:rPr>
              <a:t>head</a:t>
            </a:r>
            <a:r>
              <a:rPr lang="en-US" altLang="en-US" dirty="0"/>
              <a:t>()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AF117144-78B8-C75B-77E7-980254BD7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093" y="3214247"/>
            <a:ext cx="1101056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Cities at the top have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better overall dining experiences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Useful for understanding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regional performance trends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5ECB4DF-613A-2A32-29EA-4215DC5E7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329" y="4447312"/>
            <a:ext cx="8041044" cy="708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5552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5677E-4A11-61B2-DB15-01DD02CE2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B28FD668-2A1A-B41F-F62E-384BFD37F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822960"/>
            <a:ext cx="8530209" cy="664397"/>
          </a:xfrm>
        </p:spPr>
        <p:txBody>
          <a:bodyPr/>
          <a:lstStyle/>
          <a:p>
            <a:r>
              <a:rPr lang="en-US" dirty="0"/>
              <a:t>Location Analysis: :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8E49EF2-83D5-898A-4959-E651DB2FBE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77EED1-01D1-E734-9077-5931089D48A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187573-425A-8CA1-FD71-73101F914291}"/>
              </a:ext>
            </a:extLst>
          </p:cNvPr>
          <p:cNvSpPr txBox="1"/>
          <p:nvPr/>
        </p:nvSpPr>
        <p:spPr>
          <a:xfrm>
            <a:off x="764094" y="1523203"/>
            <a:ext cx="80422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Visualize the distribution of restaurant ratings across different cities.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1A16C0-118A-7F75-4302-AA7AF0BFED6A}"/>
              </a:ext>
            </a:extLst>
          </p:cNvPr>
          <p:cNvSpPr txBox="1"/>
          <p:nvPr/>
        </p:nvSpPr>
        <p:spPr>
          <a:xfrm>
            <a:off x="793465" y="2133338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City-wise Distribution of Restaurants Ratings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04B86D-EFFC-2F3F-EDE7-4008C210073C}"/>
              </a:ext>
            </a:extLst>
          </p:cNvPr>
          <p:cNvSpPr txBox="1"/>
          <p:nvPr/>
        </p:nvSpPr>
        <p:spPr>
          <a:xfrm>
            <a:off x="764094" y="2628781"/>
            <a:ext cx="609834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Top Performing Cities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/>
              <a:t>Gurgaon</a:t>
            </a:r>
            <a:r>
              <a:rPr lang="en-IN" sz="1600" dirty="0"/>
              <a:t> –  3.87 (Highest)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 err="1"/>
              <a:t>Secunderabad</a:t>
            </a:r>
            <a:r>
              <a:rPr lang="en-IN" sz="1600" dirty="0"/>
              <a:t> –  3.85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/>
              <a:t>Mumbai</a:t>
            </a:r>
            <a:r>
              <a:rPr lang="en-IN" sz="1600" dirty="0"/>
              <a:t> –  3.79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/>
              <a:t>Hyderabad</a:t>
            </a:r>
            <a:r>
              <a:rPr lang="en-IN" sz="1600" dirty="0"/>
              <a:t> –  3.77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/>
              <a:t>New Delhi</a:t>
            </a:r>
            <a:r>
              <a:rPr lang="en-IN" sz="1600" dirty="0"/>
              <a:t> –  3.77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45939B-57B7-F7C5-5D6F-5341398EC852}"/>
              </a:ext>
            </a:extLst>
          </p:cNvPr>
          <p:cNvSpPr txBox="1"/>
          <p:nvPr/>
        </p:nvSpPr>
        <p:spPr>
          <a:xfrm>
            <a:off x="724109" y="4241899"/>
            <a:ext cx="7660236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Key Observations</a:t>
            </a:r>
          </a:p>
          <a:p>
            <a:pPr>
              <a:buNone/>
            </a:pPr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All top cities have ratings between </a:t>
            </a:r>
            <a:r>
              <a:rPr lang="en-GB" sz="1600" b="1" dirty="0"/>
              <a:t>3.5 and 3.9</a:t>
            </a:r>
            <a:r>
              <a:rPr lang="en-GB" sz="1600" dirty="0"/>
              <a:t>, indicating </a:t>
            </a:r>
            <a:r>
              <a:rPr lang="en-GB" sz="1600" b="1" dirty="0"/>
              <a:t>consistently good performance</a:t>
            </a:r>
            <a:r>
              <a:rPr lang="en-GB" sz="16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Gurgaon and </a:t>
            </a:r>
            <a:r>
              <a:rPr lang="en-GB" sz="1600" b="1" dirty="0" err="1"/>
              <a:t>Secunderabad</a:t>
            </a:r>
            <a:r>
              <a:rPr lang="en-GB" sz="1600" dirty="0"/>
              <a:t> lead in customer satisfaction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Metro cities dominate, showing </a:t>
            </a:r>
            <a:r>
              <a:rPr lang="en-GB" sz="1600" b="1" dirty="0"/>
              <a:t>better service quality and competition</a:t>
            </a:r>
            <a:r>
              <a:rPr lang="en-GB" sz="16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Differences in ratings are </a:t>
            </a:r>
            <a:r>
              <a:rPr lang="en-GB" sz="1600" b="1" dirty="0"/>
              <a:t>small</a:t>
            </a:r>
            <a:r>
              <a:rPr lang="en-GB" sz="1600" dirty="0"/>
              <a:t>, meaning competition is very close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07CF02-383C-A1B6-CFCA-40E6D2074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889" y="2318004"/>
            <a:ext cx="2185813" cy="4035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0961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B88C55-4B5B-907F-9B84-120AA6807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399FF84A-FD18-3658-DE1C-385249A4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822960"/>
            <a:ext cx="8530209" cy="664397"/>
          </a:xfrm>
        </p:spPr>
        <p:txBody>
          <a:bodyPr/>
          <a:lstStyle/>
          <a:p>
            <a:r>
              <a:rPr lang="en-US" dirty="0"/>
              <a:t>Location Analysis: :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BA87D81-2F72-7BB2-48C3-BF01F5E788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E82D92-A372-3025-1BC0-A900FD2B6AD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F8A6DD-7360-A430-8FC2-AE6722FC38B5}"/>
              </a:ext>
            </a:extLst>
          </p:cNvPr>
          <p:cNvSpPr txBox="1"/>
          <p:nvPr/>
        </p:nvSpPr>
        <p:spPr>
          <a:xfrm>
            <a:off x="764094" y="1523203"/>
            <a:ext cx="80422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Visualize the distribution of restaurant ratings across different cities.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E9765D-A629-34C8-CA33-8A27BD45E14D}"/>
              </a:ext>
            </a:extLst>
          </p:cNvPr>
          <p:cNvSpPr txBox="1"/>
          <p:nvPr/>
        </p:nvSpPr>
        <p:spPr>
          <a:xfrm>
            <a:off x="764094" y="2125252"/>
            <a:ext cx="60983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V</a:t>
            </a:r>
            <a:r>
              <a:rPr lang="en-IN" sz="2000" dirty="0" err="1"/>
              <a:t>isualization</a:t>
            </a:r>
            <a:r>
              <a:rPr lang="en-IN" sz="2000" dirty="0"/>
              <a:t>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3A0B37-A9FF-3664-0832-57ACD99D6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7598" y="3737729"/>
            <a:ext cx="8291242" cy="29771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5BE3D36-3AFB-3F3A-2A15-5B822EFB7024}"/>
              </a:ext>
            </a:extLst>
          </p:cNvPr>
          <p:cNvSpPr txBox="1"/>
          <p:nvPr/>
        </p:nvSpPr>
        <p:spPr>
          <a:xfrm>
            <a:off x="764094" y="2481079"/>
            <a:ext cx="60983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plot the map using </a:t>
            </a:r>
            <a:r>
              <a:rPr lang="en-IN" dirty="0" err="1"/>
              <a:t>plotly</a:t>
            </a:r>
            <a:r>
              <a:rPr lang="en-IN" dirty="0"/>
              <a:t> </a:t>
            </a:r>
          </a:p>
          <a:p>
            <a:r>
              <a:rPr lang="en-IN" dirty="0"/>
              <a:t> X-Axis</a:t>
            </a:r>
            <a:r>
              <a:rPr lang="en-IN" dirty="0">
                <a:sym typeface="Wingdings" panose="05000000000000000000" pitchFamily="2" charset="2"/>
              </a:rPr>
              <a:t> ‘rating’ </a:t>
            </a:r>
          </a:p>
          <a:p>
            <a:r>
              <a:rPr lang="en-IN" dirty="0">
                <a:sym typeface="Wingdings" panose="05000000000000000000" pitchFamily="2" charset="2"/>
              </a:rPr>
              <a:t> Y  ‘city’ </a:t>
            </a:r>
          </a:p>
          <a:p>
            <a:r>
              <a:rPr lang="en-IN" dirty="0">
                <a:sym typeface="Wingdings" panose="05000000000000000000" pitchFamily="2" charset="2"/>
              </a:rPr>
              <a:t> </a:t>
            </a:r>
            <a:r>
              <a:rPr lang="en-IN" dirty="0" err="1">
                <a:sym typeface="Wingdings" panose="05000000000000000000" pitchFamily="2" charset="2"/>
              </a:rPr>
              <a:t>Color</a:t>
            </a:r>
            <a:r>
              <a:rPr lang="en-IN" dirty="0">
                <a:sym typeface="Wingdings" panose="05000000000000000000" pitchFamily="2" charset="2"/>
              </a:rPr>
              <a:t>  ‘city’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82729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FC65B13-DBA7-CB3E-F251-880122C1E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Cuisine Analysis: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2C92178-B239-AAAD-CF10-C0CD04C1BA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1003A-1258-C8AB-E292-CE0E5E612BC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C6AE1-D694-C3C5-CE9C-421EC9F66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347" y="1825625"/>
            <a:ext cx="8860536" cy="777240"/>
          </a:xfrm>
        </p:spPr>
        <p:txBody>
          <a:bodyPr>
            <a:normAutofit lnSpcReduction="10000"/>
          </a:bodyPr>
          <a:lstStyle/>
          <a:p>
            <a:r>
              <a:rPr lang="en-GB" sz="2000" dirty="0"/>
              <a:t>Determine the most popular cuisines among the listed restaurants</a:t>
            </a:r>
            <a:r>
              <a:rPr lang="en-GB" dirty="0"/>
              <a:t>.</a:t>
            </a:r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76CEF32-2856-921F-6EA4-06B310997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5416" y="2602865"/>
            <a:ext cx="7384907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str.split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(',')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Splits multiple cuisines in a single cell into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Example: "North Indian, Chinese" → ["North Indian", "Chinese"]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explode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Converts each cuisine into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separate row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Helps in analyzing each cuisine individually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str.strip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Removes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extra spaces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from cuisine names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Ensures clean and consistent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49F853-9745-42AC-27BA-639EDB1C0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9421" y="5452768"/>
            <a:ext cx="5427163" cy="52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0524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218B89-9978-2A69-EEB1-A557C8199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725B781-83C4-D190-672E-C5560573D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Cuisine Analysis: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97C866-9C85-8165-F80A-586951E6B1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98C3D-6608-1FAD-7052-B121A8D83CC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408A828-5B2A-8028-BCCC-27F754245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723" y="1918167"/>
            <a:ext cx="295330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b="1" dirty="0"/>
              <a:t>Top Cuisines</a:t>
            </a:r>
          </a:p>
          <a:p>
            <a:r>
              <a:rPr lang="en-GB" b="1" dirty="0"/>
              <a:t>North Indian</a:t>
            </a:r>
            <a:r>
              <a:rPr lang="en-GB" dirty="0"/>
              <a:t> – 21,259 </a:t>
            </a:r>
          </a:p>
          <a:p>
            <a:r>
              <a:rPr lang="en-GB" b="1" dirty="0"/>
              <a:t>Chinese</a:t>
            </a:r>
            <a:r>
              <a:rPr lang="en-GB" dirty="0"/>
              <a:t> – 14,139 </a:t>
            </a:r>
          </a:p>
          <a:p>
            <a:r>
              <a:rPr lang="en-GB" b="1" dirty="0"/>
              <a:t>Fast Food</a:t>
            </a:r>
            <a:r>
              <a:rPr lang="en-GB" dirty="0"/>
              <a:t> – 13,191 </a:t>
            </a:r>
          </a:p>
          <a:p>
            <a:r>
              <a:rPr lang="en-GB" b="1" dirty="0"/>
              <a:t>Desserts</a:t>
            </a:r>
            <a:r>
              <a:rPr lang="en-GB" dirty="0"/>
              <a:t> – 7,755 </a:t>
            </a:r>
          </a:p>
          <a:p>
            <a:r>
              <a:rPr lang="en-GB" b="1" dirty="0"/>
              <a:t>Beverages</a:t>
            </a:r>
            <a:r>
              <a:rPr lang="en-GB" dirty="0"/>
              <a:t> – 7,486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9502DB-ACAE-5B14-C2D7-EE9DA5E80B6E}"/>
              </a:ext>
            </a:extLst>
          </p:cNvPr>
          <p:cNvSpPr txBox="1"/>
          <p:nvPr/>
        </p:nvSpPr>
        <p:spPr>
          <a:xfrm>
            <a:off x="773723" y="3740432"/>
            <a:ext cx="6098344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Key Observations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North Indian cuisine</a:t>
            </a:r>
            <a:r>
              <a:rPr lang="en-GB" sz="1600" dirty="0"/>
              <a:t> is the most popular by a large margin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Chinese and Fast Food</a:t>
            </a:r>
            <a:r>
              <a:rPr lang="en-GB" sz="1600" dirty="0"/>
              <a:t> are also highly preferred, indicating demand for </a:t>
            </a:r>
            <a:r>
              <a:rPr lang="en-GB" sz="1600" b="1" dirty="0"/>
              <a:t>quick and affordable meals</a:t>
            </a:r>
            <a:r>
              <a:rPr lang="en-GB" sz="16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Desserts and Beverages</a:t>
            </a:r>
            <a:r>
              <a:rPr lang="en-GB" sz="1600" dirty="0"/>
              <a:t> highlight the importance of </a:t>
            </a:r>
            <a:r>
              <a:rPr lang="en-GB" sz="1600" b="1" dirty="0"/>
              <a:t>snacks and add-ons</a:t>
            </a:r>
            <a:r>
              <a:rPr lang="en-GB" sz="1600" dirty="0"/>
              <a:t> in dining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21891D4-A46B-EB8A-55B1-E778B46E5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8603" y="2321946"/>
            <a:ext cx="4359514" cy="3586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7865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A75C54-A093-82A9-13EE-4A9BA80AF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8F2D2B7-268C-37AD-C3F4-91F8C7DAE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Price Range and Rating: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1199F13-EFE1-FE9B-A7C1-A927268156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024FED-C45F-C790-6A39-87B4C51DD94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04BE71-17F3-E141-604C-20B49C0A7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396" y="3429000"/>
            <a:ext cx="4674247" cy="17752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7C1C94-B82E-DDFD-07F1-A78B7BC4B54F}"/>
              </a:ext>
            </a:extLst>
          </p:cNvPr>
          <p:cNvSpPr txBox="1"/>
          <p:nvPr/>
        </p:nvSpPr>
        <p:spPr>
          <a:xfrm>
            <a:off x="773723" y="2906561"/>
            <a:ext cx="532227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Group </a:t>
            </a:r>
            <a:r>
              <a:rPr lang="en-GB" sz="1600" dirty="0" err="1"/>
              <a:t>price_range</a:t>
            </a:r>
            <a:r>
              <a:rPr lang="en-GB" sz="1600" dirty="0"/>
              <a:t> and </a:t>
            </a:r>
            <a:r>
              <a:rPr lang="en-GB" sz="1600" dirty="0" err="1"/>
              <a:t>aggregate_rating</a:t>
            </a:r>
            <a:endParaRPr lang="en-GB" sz="1600" dirty="0"/>
          </a:p>
          <a:p>
            <a:r>
              <a:rPr lang="en-GB" sz="1600" dirty="0"/>
              <a:t>Using .</a:t>
            </a:r>
            <a:r>
              <a:rPr lang="en-GB" sz="1600" dirty="0" err="1">
                <a:solidFill>
                  <a:srgbClr val="FF0000"/>
                </a:solidFill>
              </a:rPr>
              <a:t>groupby</a:t>
            </a:r>
            <a:r>
              <a:rPr lang="en-GB" sz="1600" dirty="0"/>
              <a:t>() </a:t>
            </a:r>
          </a:p>
          <a:p>
            <a:r>
              <a:rPr lang="en-GB" sz="1600" dirty="0"/>
              <a:t>Calculate average using .</a:t>
            </a:r>
            <a:r>
              <a:rPr lang="en-GB" sz="1600" dirty="0">
                <a:solidFill>
                  <a:srgbClr val="FF0000"/>
                </a:solidFill>
              </a:rPr>
              <a:t>mean</a:t>
            </a:r>
            <a:r>
              <a:rPr lang="en-GB" sz="1600" dirty="0"/>
              <a:t>() </a:t>
            </a:r>
          </a:p>
          <a:p>
            <a:r>
              <a:rPr lang="en-GB" sz="1600" dirty="0"/>
              <a:t>Converted into data frame using </a:t>
            </a:r>
            <a:r>
              <a:rPr lang="en-GB" sz="1600" dirty="0" err="1">
                <a:solidFill>
                  <a:srgbClr val="FF0000"/>
                </a:solidFill>
              </a:rPr>
              <a:t>reset_index</a:t>
            </a:r>
            <a:r>
              <a:rPr lang="en-GB" sz="1600" dirty="0"/>
              <a:t>()</a:t>
            </a:r>
            <a:endParaRPr lang="en-IN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991176-2FFF-92AB-458E-81BD3BA7DB4D}"/>
              </a:ext>
            </a:extLst>
          </p:cNvPr>
          <p:cNvSpPr txBox="1"/>
          <p:nvPr/>
        </p:nvSpPr>
        <p:spPr>
          <a:xfrm>
            <a:off x="773722" y="4106329"/>
            <a:ext cx="6098344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Key 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Price Range 1 (Low Budget):</a:t>
            </a:r>
            <a:r>
              <a:rPr lang="en-GB" sz="1600" dirty="0"/>
              <a:t>  3.03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Price Range 2 (Affordable):</a:t>
            </a:r>
            <a:r>
              <a:rPr lang="en-GB" sz="1600" dirty="0"/>
              <a:t>  3.49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Price Range 3 (Mid-Range):</a:t>
            </a:r>
            <a:r>
              <a:rPr lang="en-GB" sz="1600" dirty="0"/>
              <a:t>  3.86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Price Range 4 (Premium):</a:t>
            </a:r>
            <a:r>
              <a:rPr lang="en-GB" sz="1600" dirty="0"/>
              <a:t>  3.93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A673AF-DC53-1A31-9A5E-CAE9D6D958FC}"/>
              </a:ext>
            </a:extLst>
          </p:cNvPr>
          <p:cNvSpPr txBox="1"/>
          <p:nvPr/>
        </p:nvSpPr>
        <p:spPr>
          <a:xfrm>
            <a:off x="773722" y="5449371"/>
            <a:ext cx="6098344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Key Observations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Ratings </a:t>
            </a:r>
            <a:r>
              <a:rPr lang="en-GB" sz="1600" b="1" dirty="0"/>
              <a:t>increase as price range increases</a:t>
            </a:r>
            <a:r>
              <a:rPr lang="en-GB" sz="16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Low-budget restaurants have the </a:t>
            </a:r>
            <a:r>
              <a:rPr lang="en-GB" sz="1600" b="1" dirty="0"/>
              <a:t>lowest average ratings</a:t>
            </a:r>
            <a:r>
              <a:rPr lang="en-GB" sz="16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Premium restaurants receive the </a:t>
            </a:r>
            <a:r>
              <a:rPr lang="en-GB" sz="1600" b="1" dirty="0"/>
              <a:t>highest ratings</a:t>
            </a:r>
            <a:endParaRPr lang="en-GB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70F9AB-BDE3-9B6A-77F9-70CDFA564A66}"/>
              </a:ext>
            </a:extLst>
          </p:cNvPr>
          <p:cNvSpPr txBox="1"/>
          <p:nvPr/>
        </p:nvSpPr>
        <p:spPr>
          <a:xfrm>
            <a:off x="773722" y="1884495"/>
            <a:ext cx="609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Analyze</a:t>
            </a:r>
            <a:r>
              <a:rPr lang="en-IN" dirty="0"/>
              <a:t> the relationship between price range and restaurant ratings.</a:t>
            </a:r>
          </a:p>
        </p:txBody>
      </p:sp>
    </p:spTree>
    <p:extLst>
      <p:ext uri="{BB962C8B-B14F-4D97-AF65-F5344CB8AC3E}">
        <p14:creationId xmlns:p14="http://schemas.microsoft.com/office/powerpoint/2010/main" val="18329199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DB8759-E98F-6442-7385-30463A22B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96B0446-B156-2660-2AE6-74A9DC5EA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Price Range and Rating: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9AA1EFD-4F50-A03C-082E-44951B75DF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064EF-679B-D333-89DF-8D8DA46EFBC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F62A75-CEC5-A4A6-7027-E4E08B2A0D40}"/>
              </a:ext>
            </a:extLst>
          </p:cNvPr>
          <p:cNvSpPr txBox="1"/>
          <p:nvPr/>
        </p:nvSpPr>
        <p:spPr>
          <a:xfrm>
            <a:off x="773722" y="2721113"/>
            <a:ext cx="6098344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Key Results</a:t>
            </a:r>
          </a:p>
          <a:p>
            <a:r>
              <a:rPr lang="en-GB" sz="1600" b="1" dirty="0"/>
              <a:t>Category 1 (Low Budget):</a:t>
            </a:r>
            <a:r>
              <a:rPr lang="en-GB" sz="1600" dirty="0"/>
              <a:t> ₹219 </a:t>
            </a:r>
          </a:p>
          <a:p>
            <a:r>
              <a:rPr lang="en-GB" sz="1600" b="1" dirty="0"/>
              <a:t>Category 2 (Affordable):</a:t>
            </a:r>
            <a:r>
              <a:rPr lang="en-GB" sz="1600" dirty="0"/>
              <a:t> ₹525 </a:t>
            </a:r>
          </a:p>
          <a:p>
            <a:r>
              <a:rPr lang="en-GB" sz="1600" b="1" dirty="0"/>
              <a:t>Category 3 (Mid-Range):</a:t>
            </a:r>
            <a:r>
              <a:rPr lang="en-GB" sz="1600" dirty="0"/>
              <a:t> ₹1,105 </a:t>
            </a:r>
          </a:p>
          <a:p>
            <a:r>
              <a:rPr lang="en-GB" sz="1600" b="1" dirty="0"/>
              <a:t>Category 4 (Premium):</a:t>
            </a:r>
            <a:r>
              <a:rPr lang="en-GB" sz="1600" dirty="0"/>
              <a:t> ₹2,283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F557A5-1C25-9F2C-74D8-C7A40009A489}"/>
              </a:ext>
            </a:extLst>
          </p:cNvPr>
          <p:cNvSpPr txBox="1"/>
          <p:nvPr/>
        </p:nvSpPr>
        <p:spPr>
          <a:xfrm>
            <a:off x="773722" y="4327173"/>
            <a:ext cx="6098344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Key Observations</a:t>
            </a:r>
          </a:p>
          <a:p>
            <a:r>
              <a:rPr lang="en-GB" sz="1600" dirty="0"/>
              <a:t>There is a </a:t>
            </a:r>
            <a:r>
              <a:rPr lang="en-GB" sz="1600" b="1" dirty="0"/>
              <a:t>clear increase in cost</a:t>
            </a:r>
            <a:r>
              <a:rPr lang="en-GB" sz="1600" dirty="0"/>
              <a:t> as the price category rises </a:t>
            </a:r>
          </a:p>
          <a:p>
            <a:r>
              <a:rPr lang="en-GB" sz="1600" dirty="0"/>
              <a:t>Each category shows a </a:t>
            </a:r>
            <a:r>
              <a:rPr lang="en-GB" sz="1600" b="1" dirty="0"/>
              <a:t>significant jump in pricing</a:t>
            </a:r>
            <a:r>
              <a:rPr lang="en-GB" sz="1600" dirty="0"/>
              <a:t> </a:t>
            </a:r>
          </a:p>
          <a:p>
            <a:r>
              <a:rPr lang="en-GB" sz="1600" dirty="0"/>
              <a:t>The difference between </a:t>
            </a:r>
            <a:r>
              <a:rPr lang="en-GB" sz="1600" b="1" dirty="0"/>
              <a:t>Category 3 and 4 is very large</a:t>
            </a:r>
            <a:r>
              <a:rPr lang="en-GB" sz="1600" dirty="0"/>
              <a:t>, indicating premium dining is much more expensive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AB1F4D-7DAF-B0ED-7C83-0EBDC7072DA1}"/>
              </a:ext>
            </a:extLst>
          </p:cNvPr>
          <p:cNvSpPr txBox="1"/>
          <p:nvPr/>
        </p:nvSpPr>
        <p:spPr>
          <a:xfrm>
            <a:off x="773722" y="1884495"/>
            <a:ext cx="609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Visualize the average cost for two people in different price categories.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E1126B1-37EB-1F72-1BE6-0B7FA49BF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114" y="2906561"/>
            <a:ext cx="5045612" cy="2058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5506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FF37EA-1C83-F4A0-C47B-F7E92B3DD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AE5251F-D2E4-126F-8023-DE8290F05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Price Range and Rating: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D1EFF94-FA1C-769C-135B-3E28AF0BE2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3B9E0-7B5E-171C-2440-F830A9AFBC8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6B85AD-6D54-E346-23FD-BF9EBA4F0106}"/>
              </a:ext>
            </a:extLst>
          </p:cNvPr>
          <p:cNvSpPr txBox="1"/>
          <p:nvPr/>
        </p:nvSpPr>
        <p:spPr>
          <a:xfrm>
            <a:off x="773722" y="1649290"/>
            <a:ext cx="60983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Visualization</a:t>
            </a:r>
            <a:endParaRPr lang="en-IN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364EE0-A011-4609-C9EB-8C49DB58E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071" y="3429000"/>
            <a:ext cx="9092329" cy="33262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58F8E8-1FD5-678E-B968-38F7E1DC765F}"/>
              </a:ext>
            </a:extLst>
          </p:cNvPr>
          <p:cNvSpPr txBox="1"/>
          <p:nvPr/>
        </p:nvSpPr>
        <p:spPr>
          <a:xfrm>
            <a:off x="773722" y="2110955"/>
            <a:ext cx="37279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Plot the map using </a:t>
            </a:r>
            <a:r>
              <a:rPr lang="en-IN" dirty="0" err="1"/>
              <a:t>plotly</a:t>
            </a:r>
            <a:r>
              <a:rPr lang="en-IN" dirty="0"/>
              <a:t> </a:t>
            </a:r>
          </a:p>
          <a:p>
            <a:r>
              <a:rPr lang="en-IN" dirty="0"/>
              <a:t> X-Axis</a:t>
            </a:r>
            <a:r>
              <a:rPr lang="en-IN" dirty="0">
                <a:sym typeface="Wingdings" panose="05000000000000000000" pitchFamily="2" charset="2"/>
              </a:rPr>
              <a:t> ‘category’ </a:t>
            </a:r>
          </a:p>
          <a:p>
            <a:r>
              <a:rPr lang="en-IN" dirty="0">
                <a:sym typeface="Wingdings" panose="05000000000000000000" pitchFamily="2" charset="2"/>
              </a:rPr>
              <a:t> Y  ‘</a:t>
            </a:r>
            <a:r>
              <a:rPr lang="en-IN" dirty="0" err="1">
                <a:sym typeface="Wingdings" panose="05000000000000000000" pitchFamily="2" charset="2"/>
              </a:rPr>
              <a:t>average_cost_for_two</a:t>
            </a:r>
            <a:r>
              <a:rPr lang="en-IN" dirty="0">
                <a:sym typeface="Wingdings" panose="05000000000000000000" pitchFamily="2" charset="2"/>
              </a:rPr>
              <a:t>’ </a:t>
            </a:r>
          </a:p>
          <a:p>
            <a:r>
              <a:rPr lang="en-IN" dirty="0">
                <a:sym typeface="Wingdings" panose="05000000000000000000" pitchFamily="2" charset="2"/>
              </a:rPr>
              <a:t> </a:t>
            </a:r>
            <a:r>
              <a:rPr lang="en-IN" dirty="0" err="1">
                <a:sym typeface="Wingdings" panose="05000000000000000000" pitchFamily="2" charset="2"/>
              </a:rPr>
              <a:t>Color</a:t>
            </a:r>
            <a:r>
              <a:rPr lang="en-IN" dirty="0">
                <a:sym typeface="Wingdings" panose="05000000000000000000" pitchFamily="2" charset="2"/>
              </a:rPr>
              <a:t>  ‘category’</a:t>
            </a:r>
            <a:r>
              <a:rPr lang="en-GB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29409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B8D1C32-CEDB-F6E2-A01E-72AE1A1D0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Restaurant Chains: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D61BAD3-11BF-AA74-F4B3-2ABC020772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17F181E-B3F5-EEEB-086C-37ADB36790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9E3B76-8ECB-55B1-220A-C239EEC5A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731" y="1765222"/>
            <a:ext cx="7922924" cy="649224"/>
          </a:xfrm>
        </p:spPr>
        <p:txBody>
          <a:bodyPr/>
          <a:lstStyle/>
          <a:p>
            <a:r>
              <a:rPr lang="en-GB" sz="2000" dirty="0"/>
              <a:t>Identify and visualize the top restaurant chains based on the number of outlets.</a:t>
            </a:r>
            <a:endParaRPr lang="en-US" sz="20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2D2A739-4676-91BA-52E1-F4B50376F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731" y="2414446"/>
            <a:ext cx="6869723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Grouped data by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restaurant name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Counted the number of occurrences 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outlets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for each restaurant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Sorted in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descending order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get highest outlet counts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Selected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top 10 restaurant chains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Renamed columns for better readability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7A3CFCF-A32C-CAC5-D29B-DC3FAF49F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661" y="4576907"/>
            <a:ext cx="8345065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7094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63C54-D7F7-A395-6CE2-F7666B11D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8B2D23B-E181-6160-8380-63ADDEEF3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Restaurant Chains: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5981593-5706-787C-7764-336150602B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BCFDB7-E587-6668-D338-5C696A28BC1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9AE9E31-0B97-57B6-DE84-9B4CD70AD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731" y="1765222"/>
            <a:ext cx="7922924" cy="649224"/>
          </a:xfrm>
        </p:spPr>
        <p:txBody>
          <a:bodyPr/>
          <a:lstStyle/>
          <a:p>
            <a:r>
              <a:rPr lang="en-GB" sz="2000" dirty="0"/>
              <a:t>Identify and visualize the top restaurant chains based on the number of outlets.</a:t>
            </a:r>
            <a:endParaRPr lang="en-US" sz="20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CE26A51-0BE9-B4AC-B752-80F2AF047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731" y="2535340"/>
            <a:ext cx="6869723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IN" sz="1600" b="1" dirty="0"/>
              <a:t>Top 10 Chains</a:t>
            </a:r>
          </a:p>
          <a:p>
            <a:r>
              <a:rPr lang="en-IN" sz="1600" b="1" dirty="0"/>
              <a:t>Domino’s Pizza</a:t>
            </a:r>
            <a:r>
              <a:rPr lang="en-IN" sz="1600" dirty="0"/>
              <a:t> – 406 outlets </a:t>
            </a:r>
          </a:p>
          <a:p>
            <a:r>
              <a:rPr lang="en-IN" sz="1600" b="1" dirty="0"/>
              <a:t>Cafe Coffee Day</a:t>
            </a:r>
            <a:r>
              <a:rPr lang="en-IN" sz="1600" dirty="0"/>
              <a:t> – 323 outlets </a:t>
            </a:r>
          </a:p>
          <a:p>
            <a:r>
              <a:rPr lang="en-IN" sz="1600" b="1" dirty="0"/>
              <a:t>KFC</a:t>
            </a:r>
            <a:r>
              <a:rPr lang="en-IN" sz="1600" dirty="0"/>
              <a:t> – 261 outlets </a:t>
            </a:r>
          </a:p>
          <a:p>
            <a:r>
              <a:rPr lang="en-IN" sz="1600" b="1" dirty="0"/>
              <a:t>Subway</a:t>
            </a:r>
            <a:r>
              <a:rPr lang="en-IN" sz="1600" dirty="0"/>
              <a:t> – 211 outlets </a:t>
            </a:r>
          </a:p>
          <a:p>
            <a:r>
              <a:rPr lang="en-IN" sz="1600" b="1" dirty="0" err="1"/>
              <a:t>Keventers</a:t>
            </a:r>
            <a:r>
              <a:rPr lang="en-IN" sz="1600" dirty="0"/>
              <a:t> – 208 outlets </a:t>
            </a:r>
          </a:p>
          <a:p>
            <a:r>
              <a:rPr lang="en-IN" sz="1600" b="1" dirty="0"/>
              <a:t>Baskin Robbins</a:t>
            </a:r>
            <a:r>
              <a:rPr lang="en-IN" sz="1600" dirty="0"/>
              <a:t> – 207 outlets </a:t>
            </a:r>
          </a:p>
          <a:p>
            <a:r>
              <a:rPr lang="en-IN" sz="1600" b="1" dirty="0"/>
              <a:t>McDonald’s</a:t>
            </a:r>
            <a:r>
              <a:rPr lang="en-IN" sz="1600" dirty="0"/>
              <a:t> – 155 outlets </a:t>
            </a:r>
          </a:p>
          <a:p>
            <a:r>
              <a:rPr lang="en-IN" sz="1600" b="1" dirty="0"/>
              <a:t>Pizza Hut</a:t>
            </a:r>
            <a:r>
              <a:rPr lang="en-IN" sz="1600" dirty="0"/>
              <a:t> – 150 outlets </a:t>
            </a:r>
          </a:p>
          <a:p>
            <a:r>
              <a:rPr lang="en-IN" sz="1600" b="1" dirty="0"/>
              <a:t>Burger King</a:t>
            </a:r>
            <a:r>
              <a:rPr lang="en-IN" sz="1600" dirty="0"/>
              <a:t> – 144 outlets </a:t>
            </a:r>
          </a:p>
          <a:p>
            <a:r>
              <a:rPr lang="en-IN" sz="1600" b="1" dirty="0"/>
              <a:t>Barbeque Nation</a:t>
            </a:r>
            <a:r>
              <a:rPr lang="en-IN" sz="1600" dirty="0"/>
              <a:t> – 119 outlets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DA9EE7-8FE9-E7CE-1228-DB38C06623EB}"/>
              </a:ext>
            </a:extLst>
          </p:cNvPr>
          <p:cNvSpPr txBox="1"/>
          <p:nvPr/>
        </p:nvSpPr>
        <p:spPr>
          <a:xfrm>
            <a:off x="837731" y="2414446"/>
            <a:ext cx="610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Top Restaurant Chains by Number of Outlets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76721F-30A4-1F42-6837-CA75911D6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8603" y="2536102"/>
            <a:ext cx="2229161" cy="30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9784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19C5D-DD79-9946-9198-B2FF2E77E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6460CC-CCB4-6B33-94A4-E818C8B7F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Restaurant Chains: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E0CF594-7275-3130-7B57-06F0F78053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34511FF-EDBC-43E9-8E62-0514B6F5BA3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ADC8A24-55D7-DCC5-1B56-330E657973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274" y="1251306"/>
            <a:ext cx="6252385" cy="2646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GB" sz="2000" b="1" dirty="0"/>
              <a:t>Key Observations</a:t>
            </a:r>
          </a:p>
          <a:p>
            <a:r>
              <a:rPr lang="en-GB" sz="1600" b="1" dirty="0"/>
              <a:t>Domino’s Pizza</a:t>
            </a:r>
            <a:r>
              <a:rPr lang="en-GB" sz="1600" dirty="0"/>
              <a:t> leads by a large margin, showing </a:t>
            </a:r>
            <a:r>
              <a:rPr lang="en-GB" sz="1600" b="1" dirty="0"/>
              <a:t>strong market dominance</a:t>
            </a:r>
            <a:r>
              <a:rPr lang="en-GB" sz="1600" dirty="0"/>
              <a:t> </a:t>
            </a:r>
          </a:p>
          <a:p>
            <a:r>
              <a:rPr lang="en-GB" sz="1600" dirty="0"/>
              <a:t>Most top chains belong to the </a:t>
            </a:r>
            <a:r>
              <a:rPr lang="en-GB" sz="1600" b="1" dirty="0"/>
              <a:t>fast food and quick service category</a:t>
            </a:r>
            <a:r>
              <a:rPr lang="en-GB" sz="1600" dirty="0"/>
              <a:t> </a:t>
            </a:r>
          </a:p>
          <a:p>
            <a:r>
              <a:rPr lang="en-GB" sz="1600" dirty="0"/>
              <a:t>Beverage and dessert brands like </a:t>
            </a:r>
            <a:r>
              <a:rPr lang="en-GB" sz="1600" b="1" dirty="0"/>
              <a:t>Cafe Coffee Day, </a:t>
            </a:r>
            <a:r>
              <a:rPr lang="en-GB" sz="1600" b="1" dirty="0" err="1"/>
              <a:t>Keventers</a:t>
            </a:r>
            <a:r>
              <a:rPr lang="en-GB" sz="1600" b="1" dirty="0"/>
              <a:t>, Baskin Robbins</a:t>
            </a:r>
            <a:r>
              <a:rPr lang="en-GB" sz="1600" dirty="0"/>
              <a:t> also have strong presence </a:t>
            </a:r>
          </a:p>
          <a:p>
            <a:r>
              <a:rPr lang="en-GB" sz="1600" dirty="0"/>
              <a:t>Global brands (</a:t>
            </a:r>
            <a:r>
              <a:rPr lang="en-GB" sz="1600" b="1" dirty="0"/>
              <a:t>KFC, McDonald’s, Subway, Burger King</a:t>
            </a:r>
            <a:r>
              <a:rPr lang="en-GB" sz="1600" dirty="0"/>
              <a:t>) are highly expanded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73669C-1B3B-7E07-E725-A8543A161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391" y="3662927"/>
            <a:ext cx="7160456" cy="2436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9280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C658C-2D27-6EDA-3127-15D2B2BE0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CACD4A6-B1DD-85BD-561C-AE296528D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Restaurant Chains: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742E31E-292B-F4AA-0F88-13D1850F45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FC567D4-52BE-C395-6B0A-03BBDA6D465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5BDDAC4-F997-8ED4-3999-1443C6081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36" y="1727576"/>
            <a:ext cx="625238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/>
              <a:t>Explore the ratings of these top chains.</a:t>
            </a:r>
            <a:endParaRPr lang="en-GB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D5F9B-8DB9-6238-7254-51D85D8C052F}"/>
              </a:ext>
            </a:extLst>
          </p:cNvPr>
          <p:cNvSpPr txBox="1"/>
          <p:nvPr/>
        </p:nvSpPr>
        <p:spPr>
          <a:xfrm>
            <a:off x="735439" y="2178903"/>
            <a:ext cx="6105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Identifies </a:t>
            </a:r>
            <a:r>
              <a:rPr lang="en-GB" b="1" dirty="0"/>
              <a:t>top 10 restaurant chains</a:t>
            </a:r>
            <a:r>
              <a:rPr lang="en-GB" dirty="0"/>
              <a:t> based on number of outlets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0C1795-0BAC-05F8-A666-BB7BF0A97C75}"/>
              </a:ext>
            </a:extLst>
          </p:cNvPr>
          <p:cNvSpPr txBox="1"/>
          <p:nvPr/>
        </p:nvSpPr>
        <p:spPr>
          <a:xfrm>
            <a:off x="661936" y="2876452"/>
            <a:ext cx="610537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Filters the dataset to include </a:t>
            </a:r>
            <a:r>
              <a:rPr lang="en-GB" sz="1600" b="1" dirty="0"/>
              <a:t>only those top 10 chains</a:t>
            </a:r>
            <a:r>
              <a:rPr lang="en-GB" sz="1600" dirty="0"/>
              <a:t> by using .</a:t>
            </a:r>
            <a:r>
              <a:rPr lang="en-GB" sz="1600" dirty="0" err="1">
                <a:solidFill>
                  <a:srgbClr val="FF0000"/>
                </a:solidFill>
              </a:rPr>
              <a:t>groupby</a:t>
            </a:r>
            <a:r>
              <a:rPr lang="en-GB" sz="1600" dirty="0"/>
              <a:t>() and </a:t>
            </a:r>
            <a:r>
              <a:rPr lang="en-GB" sz="1600" dirty="0">
                <a:solidFill>
                  <a:srgbClr val="FF0000"/>
                </a:solidFill>
              </a:rPr>
              <a:t>.head</a:t>
            </a:r>
            <a:r>
              <a:rPr lang="en-GB" sz="1600" dirty="0"/>
              <a:t>()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Creates a new dataset focused on </a:t>
            </a:r>
            <a:r>
              <a:rPr lang="en-GB" sz="1600" b="1" dirty="0"/>
              <a:t>major brands using .</a:t>
            </a:r>
            <a:r>
              <a:rPr lang="en-GB" sz="1600" b="1" dirty="0" err="1">
                <a:solidFill>
                  <a:srgbClr val="FF0000"/>
                </a:solidFill>
              </a:rPr>
              <a:t>reset_index</a:t>
            </a:r>
            <a:r>
              <a:rPr lang="en-GB" sz="16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E8EC5F-08FC-4FB5-C005-1381190E9BFC}"/>
              </a:ext>
            </a:extLst>
          </p:cNvPr>
          <p:cNvSpPr txBox="1"/>
          <p:nvPr/>
        </p:nvSpPr>
        <p:spPr>
          <a:xfrm>
            <a:off x="661936" y="3953670"/>
            <a:ext cx="610537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Calculates the </a:t>
            </a:r>
            <a:r>
              <a:rPr lang="en-GB" sz="1600" b="1" dirty="0"/>
              <a:t>average rating for each top chain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By using .</a:t>
            </a:r>
            <a:r>
              <a:rPr lang="en-GB" sz="1600" b="1" dirty="0">
                <a:solidFill>
                  <a:srgbClr val="FF0000"/>
                </a:solidFill>
              </a:rPr>
              <a:t>mean</a:t>
            </a:r>
            <a:r>
              <a:rPr lang="en-GB" sz="1600" b="1" dirty="0"/>
              <a:t>()</a:t>
            </a:r>
            <a:r>
              <a:rPr lang="en-GB" sz="16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Helps compare </a:t>
            </a:r>
            <a:r>
              <a:rPr lang="en-GB" sz="1600" b="1" dirty="0"/>
              <a:t>brand popularity vs customer satisfaction</a:t>
            </a:r>
            <a:r>
              <a:rPr lang="en-GB" sz="1600" dirty="0"/>
              <a:t>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36267B-F82A-9D22-D146-CC1A02220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8103" y="4888819"/>
            <a:ext cx="7772826" cy="96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5744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669EC-2499-F873-66FF-F0B5A603D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0BE5785-406E-0BF3-9B86-040C8EC20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Restaurant Chains: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1F5A15F5-D73D-3D23-B1C6-AA41645859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A584A5B-F32A-AEB0-09F1-02865CC2868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733D8BC-8891-F3C5-03F7-35BB7CDFB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36" y="1727576"/>
            <a:ext cx="625238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/>
              <a:t>Explore the ratings of these top chains.</a:t>
            </a:r>
            <a:endParaRPr lang="en-GB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C57586-47D7-795F-597B-8F117296F537}"/>
              </a:ext>
            </a:extLst>
          </p:cNvPr>
          <p:cNvSpPr txBox="1"/>
          <p:nvPr/>
        </p:nvSpPr>
        <p:spPr>
          <a:xfrm>
            <a:off x="661936" y="2346502"/>
            <a:ext cx="6105378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Key Observations</a:t>
            </a:r>
          </a:p>
          <a:p>
            <a:pPr>
              <a:buNone/>
            </a:pPr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Barbeque Nation</a:t>
            </a:r>
            <a:r>
              <a:rPr lang="en-GB" sz="1600" dirty="0"/>
              <a:t> stands out with the </a:t>
            </a:r>
            <a:r>
              <a:rPr lang="en-GB" sz="1600" b="1" dirty="0"/>
              <a:t>highest rating</a:t>
            </a:r>
            <a:r>
              <a:rPr lang="en-GB" sz="1600" dirty="0"/>
              <a:t>, indicating excellent customer experience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Fast food giants like </a:t>
            </a:r>
            <a:r>
              <a:rPr lang="en-GB" sz="1600" b="1" dirty="0"/>
              <a:t>McDonald’s, KFC, Burger King</a:t>
            </a:r>
            <a:r>
              <a:rPr lang="en-GB" sz="1600" dirty="0"/>
              <a:t> maintain </a:t>
            </a:r>
            <a:r>
              <a:rPr lang="en-GB" sz="1600" b="1" dirty="0"/>
              <a:t>good and consistent ratings</a:t>
            </a:r>
            <a:r>
              <a:rPr lang="en-GB" sz="16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Domino’s, Subway, Pizza Hut</a:t>
            </a:r>
            <a:r>
              <a:rPr lang="en-GB" sz="1600" dirty="0"/>
              <a:t> fall in the </a:t>
            </a:r>
            <a:r>
              <a:rPr lang="en-GB" sz="1600" b="1" dirty="0"/>
              <a:t>moderate rating range (3.5 – 3.7)</a:t>
            </a:r>
            <a:r>
              <a:rPr lang="en-GB" sz="16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Cafe Coffee Day</a:t>
            </a:r>
            <a:r>
              <a:rPr lang="en-GB" sz="1600" dirty="0"/>
              <a:t> and </a:t>
            </a:r>
            <a:r>
              <a:rPr lang="en-GB" sz="1600" b="1" dirty="0"/>
              <a:t>Baskin Robbins</a:t>
            </a:r>
            <a:r>
              <a:rPr lang="en-GB" sz="1600" dirty="0"/>
              <a:t> have relatively </a:t>
            </a:r>
            <a:r>
              <a:rPr lang="en-GB" sz="1600" b="1" dirty="0"/>
              <a:t>lower ratings</a:t>
            </a:r>
            <a:endParaRPr lang="en-GB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FD7CDF-95C4-9667-A3F8-BC9956C60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5089" y="2464178"/>
            <a:ext cx="2534161" cy="2779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2978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B8D1C32-CEDB-F6E2-A01E-72AE1A1D0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Restaurant Features: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4A42FB-888D-4842-C0C0-A6E92ABE14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17F181E-B3F5-EEEB-086C-37ADB36790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97BECD-24CE-1676-82A3-432EEB4C9CA2}"/>
              </a:ext>
            </a:extLst>
          </p:cNvPr>
          <p:cNvSpPr txBox="1"/>
          <p:nvPr/>
        </p:nvSpPr>
        <p:spPr>
          <a:xfrm>
            <a:off x="742071" y="1794023"/>
            <a:ext cx="75156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 err="1"/>
              <a:t>Analyze</a:t>
            </a:r>
            <a:r>
              <a:rPr lang="en-IN" sz="2000" dirty="0"/>
              <a:t> the distribution of restaurants based on features like Wi-Fi, </a:t>
            </a:r>
            <a:r>
              <a:rPr lang="en-IN" sz="2000" dirty="0" err="1"/>
              <a:t>Alcoholavailability</a:t>
            </a:r>
            <a:r>
              <a:rPr lang="en-IN" sz="2000" dirty="0"/>
              <a:t>, etc.</a:t>
            </a:r>
          </a:p>
        </p:txBody>
      </p:sp>
      <p:sp>
        <p:nvSpPr>
          <p:cNvPr id="25" name="Rectangle 1">
            <a:extLst>
              <a:ext uri="{FF2B5EF4-FFF2-40B4-BE49-F238E27FC236}">
                <a16:creationId xmlns:a16="http://schemas.microsoft.com/office/drawing/2014/main" id="{0D002B2C-A621-B022-214D-C27F77740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834" y="2501909"/>
            <a:ext cx="7614138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j-lt"/>
              </a:rPr>
              <a:t>str.split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(',')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Splits multiple features into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list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Example: "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WiFi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Outdoor Seating" → ["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WiFi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", "Outdoor Seating"]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j-lt"/>
              </a:rPr>
              <a:t>explode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Converts each feature into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separate row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Allows detailed feature-level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j-lt"/>
              </a:rPr>
              <a:t>str.strip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Removes extra spaces for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clean data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j-lt"/>
              </a:rPr>
              <a:t>value_counts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Counts how often each feature appears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j-lt"/>
              </a:rPr>
              <a:t>reset_index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Converts the result into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structured table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F09D76E-B3B3-05A4-71B8-F887E9797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357" y="4192415"/>
            <a:ext cx="4489584" cy="77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0311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25C34-1594-A72A-BD7E-8FB0D9EC3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CE57FAB-833B-1311-C729-7158D66B6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Restaurant Features: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0465C4-8F6F-67CF-9140-2AA5EB9C79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F6B8280-32E6-C754-F310-E628568594E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7</a:t>
            </a:r>
          </a:p>
        </p:txBody>
      </p:sp>
      <p:sp>
        <p:nvSpPr>
          <p:cNvPr id="25" name="Rectangle 1">
            <a:extLst>
              <a:ext uri="{FF2B5EF4-FFF2-40B4-BE49-F238E27FC236}">
                <a16:creationId xmlns:a16="http://schemas.microsoft.com/office/drawing/2014/main" id="{E798EA50-C615-D12E-72F4-20084A8E6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394" y="1524033"/>
            <a:ext cx="7614138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/>
              <a:t>Top Features</a:t>
            </a:r>
          </a:p>
          <a:p>
            <a:r>
              <a:rPr lang="en-GB" sz="1600" b="1" dirty="0"/>
              <a:t>Cash Payment</a:t>
            </a:r>
            <a:r>
              <a:rPr lang="en-GB" sz="1600" dirty="0"/>
              <a:t> – 43,849 </a:t>
            </a:r>
          </a:p>
          <a:p>
            <a:r>
              <a:rPr lang="en-GB" sz="1600" b="1" dirty="0"/>
              <a:t>Takeaway Available</a:t>
            </a:r>
            <a:r>
              <a:rPr lang="en-GB" sz="1600" dirty="0"/>
              <a:t> – 43,550 </a:t>
            </a:r>
          </a:p>
          <a:p>
            <a:r>
              <a:rPr lang="en-GB" sz="1600" b="1" dirty="0"/>
              <a:t>Indoor Seating</a:t>
            </a:r>
            <a:r>
              <a:rPr lang="en-GB" sz="1600" dirty="0"/>
              <a:t> – 33,549 </a:t>
            </a:r>
          </a:p>
          <a:p>
            <a:r>
              <a:rPr lang="en-GB" sz="1600" b="1" dirty="0"/>
              <a:t>Lunch Availability</a:t>
            </a:r>
            <a:r>
              <a:rPr lang="en-GB" sz="1600" dirty="0"/>
              <a:t> – 30,236 </a:t>
            </a:r>
          </a:p>
          <a:p>
            <a:r>
              <a:rPr lang="en-GB" sz="1600" b="1" dirty="0"/>
              <a:t>Dinner Availability</a:t>
            </a:r>
            <a:r>
              <a:rPr lang="en-GB" sz="1600" dirty="0"/>
              <a:t> – 28,110</a:t>
            </a:r>
          </a:p>
          <a:p>
            <a:endParaRPr lang="en-GB" sz="1600" dirty="0"/>
          </a:p>
          <a:p>
            <a:r>
              <a:rPr lang="en-GB" sz="2000" b="1" dirty="0"/>
              <a:t>Key Observations</a:t>
            </a:r>
          </a:p>
          <a:p>
            <a:r>
              <a:rPr lang="en-GB" sz="1600" b="1" dirty="0"/>
              <a:t>Cash payment</a:t>
            </a:r>
            <a:r>
              <a:rPr lang="en-GB" sz="1600" dirty="0"/>
              <a:t> is the most common method, indicating wide acceptance </a:t>
            </a:r>
          </a:p>
          <a:p>
            <a:r>
              <a:rPr lang="en-GB" sz="1600" b="1" dirty="0"/>
              <a:t>Takeaway service</a:t>
            </a:r>
            <a:r>
              <a:rPr lang="en-GB" sz="1600" dirty="0"/>
              <a:t> is highly popular, reflecting demand for convenience </a:t>
            </a:r>
          </a:p>
          <a:p>
            <a:r>
              <a:rPr lang="en-GB" sz="1600" b="1" dirty="0"/>
              <a:t>Indoor seating</a:t>
            </a:r>
            <a:r>
              <a:rPr lang="en-GB" sz="1600" dirty="0"/>
              <a:t> is a standard feature in most restaurants </a:t>
            </a:r>
          </a:p>
          <a:p>
            <a:r>
              <a:rPr lang="en-GB" sz="1600" b="1" dirty="0"/>
              <a:t>Lunch and Dinner services</a:t>
            </a:r>
            <a:r>
              <a:rPr lang="en-GB" sz="1600" dirty="0"/>
              <a:t> dominate, showing focus on main meal times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D83633-4944-B27A-63FC-49384F77A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5532" y="1680858"/>
            <a:ext cx="2934704" cy="3496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5710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2C12A-9336-747C-1E09-94667927F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14EBA3C-3353-264D-4258-E4D91A900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Restaurant Features: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051EFB-E27A-6993-3FF3-6DE289D00C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216C89D-AE79-F460-5E6D-9E05618CC98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7</a:t>
            </a:r>
          </a:p>
        </p:txBody>
      </p:sp>
      <p:sp>
        <p:nvSpPr>
          <p:cNvPr id="25" name="Rectangle 1">
            <a:extLst>
              <a:ext uri="{FF2B5EF4-FFF2-40B4-BE49-F238E27FC236}">
                <a16:creationId xmlns:a16="http://schemas.microsoft.com/office/drawing/2014/main" id="{3358DDCF-8FB8-F382-7453-BF4C812F7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665" y="1757727"/>
            <a:ext cx="761413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/>
              <a:t>Investigate if the presence of certain features correlates with higher ratings.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4506F8-46F5-2ECB-B747-468D402DA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668" y="2160582"/>
            <a:ext cx="5472332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Removes rows where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highlights are missing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/>
              <a:t> Using </a:t>
            </a:r>
            <a:r>
              <a:rPr lang="en-US" altLang="en-US" sz="1600" b="1" dirty="0" err="1">
                <a:solidFill>
                  <a:srgbClr val="FF0000"/>
                </a:solidFill>
              </a:rPr>
              <a:t>dropna</a:t>
            </a:r>
            <a:r>
              <a:rPr lang="en-US" altLang="en-US" sz="1600" b="1" dirty="0"/>
              <a:t>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Ensures only valid feature data is used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201FEA2-0369-E225-1AD5-4CE8C1449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668" y="2978935"/>
            <a:ext cx="511595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Splits multiple features into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by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str.split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Converts each feature into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separate row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b="1" dirty="0"/>
              <a:t>Using </a:t>
            </a:r>
            <a:r>
              <a:rPr lang="en-US" altLang="en-US" sz="1600" b="1" dirty="0" err="1">
                <a:solidFill>
                  <a:srgbClr val="FF0000"/>
                </a:solidFill>
              </a:rPr>
              <a:t>reset_index</a:t>
            </a:r>
            <a:r>
              <a:rPr lang="en-US" altLang="en-US" sz="1600" b="1" dirty="0">
                <a:latin typeface="Arial" panose="020B0604020202020204" pitchFamily="34" charset="0"/>
              </a:rPr>
              <a:t>()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984585-E89B-2982-7867-A2EBB90243AA}"/>
              </a:ext>
            </a:extLst>
          </p:cNvPr>
          <p:cNvSpPr txBox="1"/>
          <p:nvPr/>
        </p:nvSpPr>
        <p:spPr>
          <a:xfrm>
            <a:off x="623668" y="4367773"/>
            <a:ext cx="60983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/>
              <a:t>Cleans feature names by removing </a:t>
            </a:r>
            <a:r>
              <a:rPr lang="en-GB" sz="1600" b="1" dirty="0"/>
              <a:t>extra spaces</a:t>
            </a:r>
            <a:endParaRPr lang="en-IN" sz="1600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5DB5FF2-790E-C3F9-11E5-E34BC62960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665" y="4505175"/>
            <a:ext cx="5278901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Groups data by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feature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Calculates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average rating for each feature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Sorts results to find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highest-rated features by using .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sort_values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0523BEB-96D1-6668-EDE0-B42FA5E32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442" y="3649547"/>
            <a:ext cx="5296890" cy="1428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6298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666D7-0BBA-7D6A-9C39-70ECD8B64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B489335-7C25-3C41-430E-30524D0A2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Restaurant Features: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975AFA-7AF8-0AB9-FFFB-857ACFD2D9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4C7FC3A-DA79-7432-28B9-FA2A191087C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8ADA4F-2216-6943-A6D1-4034A0387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274" y="1662860"/>
            <a:ext cx="5472332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GB" sz="2000" b="1" dirty="0"/>
              <a:t>Top High-Rated Features</a:t>
            </a:r>
          </a:p>
          <a:p>
            <a:r>
              <a:rPr lang="en-GB" sz="1600" b="1" dirty="0"/>
              <a:t>Serves Alcohol</a:t>
            </a:r>
            <a:r>
              <a:rPr lang="en-GB" sz="1600" dirty="0"/>
              <a:t> –  4.60 </a:t>
            </a:r>
          </a:p>
          <a:p>
            <a:r>
              <a:rPr lang="en-GB" sz="1600" b="1" dirty="0"/>
              <a:t>Subscription Required</a:t>
            </a:r>
            <a:r>
              <a:rPr lang="en-GB" sz="1600" dirty="0"/>
              <a:t> –  4.50 </a:t>
            </a:r>
          </a:p>
          <a:p>
            <a:r>
              <a:rPr lang="en-GB" sz="1600" b="1" dirty="0"/>
              <a:t>Speakeasy</a:t>
            </a:r>
            <a:r>
              <a:rPr lang="en-GB" sz="1600" dirty="0"/>
              <a:t> –  4.32 </a:t>
            </a:r>
          </a:p>
          <a:p>
            <a:r>
              <a:rPr lang="en-GB" sz="1600" b="1" dirty="0"/>
              <a:t>Craft Beer</a:t>
            </a:r>
            <a:r>
              <a:rPr lang="en-GB" sz="1600" dirty="0"/>
              <a:t> –  4.26 </a:t>
            </a:r>
          </a:p>
          <a:p>
            <a:r>
              <a:rPr lang="en-GB" sz="1600" b="1" dirty="0"/>
              <a:t>Gastro Pub</a:t>
            </a:r>
            <a:r>
              <a:rPr lang="en-GB" sz="1600" dirty="0"/>
              <a:t> –  4.24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DC5C8D-717C-B6ED-07DE-B58626AF50CD}"/>
              </a:ext>
            </a:extLst>
          </p:cNvPr>
          <p:cNvSpPr txBox="1"/>
          <p:nvPr/>
        </p:nvSpPr>
        <p:spPr>
          <a:xfrm>
            <a:off x="732274" y="3833446"/>
            <a:ext cx="6098344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b="1" dirty="0"/>
              <a:t>Key Observations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Restaurants offering </a:t>
            </a:r>
            <a:r>
              <a:rPr lang="en-GB" sz="1600" b="1" dirty="0"/>
              <a:t>alcohol and premium experiences</a:t>
            </a:r>
            <a:r>
              <a:rPr lang="en-GB" sz="1600" dirty="0"/>
              <a:t> tend to receive </a:t>
            </a:r>
            <a:r>
              <a:rPr lang="en-GB" sz="1600" b="1" dirty="0"/>
              <a:t>higher ratings</a:t>
            </a:r>
            <a:r>
              <a:rPr lang="en-GB" sz="16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Features like </a:t>
            </a:r>
            <a:r>
              <a:rPr lang="en-GB" sz="1600" b="1" dirty="0"/>
              <a:t>craft beer and gastro pubs</a:t>
            </a:r>
            <a:r>
              <a:rPr lang="en-GB" sz="1600" dirty="0"/>
              <a:t> indicate </a:t>
            </a:r>
            <a:r>
              <a:rPr lang="en-GB" sz="1600" b="1" dirty="0"/>
              <a:t>specialized dining experiences</a:t>
            </a:r>
            <a:r>
              <a:rPr lang="en-GB" sz="16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These services attract customers looking for </a:t>
            </a:r>
            <a:r>
              <a:rPr lang="en-GB" sz="1600" b="1" dirty="0"/>
              <a:t>quality ambience and unique experiences</a:t>
            </a:r>
            <a:r>
              <a:rPr lang="en-GB" sz="1600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83BDC8-EA41-5EB0-7222-948A4672A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618" y="2348201"/>
            <a:ext cx="3560891" cy="2161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8107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729A509-992F-8C10-902D-182448B5A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Conclusion: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FA0F1E-A920-0194-981E-4B573643B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583" y="1791610"/>
            <a:ext cx="6559062" cy="3590075"/>
          </a:xfrm>
        </p:spPr>
        <p:txBody>
          <a:bodyPr/>
          <a:lstStyle/>
          <a:p>
            <a:pPr algn="l" rtl="0" fontAlgn="base"/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r>
              <a:rPr lang="en-GB" b="1" dirty="0"/>
              <a:t>Customer Ratings</a:t>
            </a:r>
          </a:p>
          <a:p>
            <a:endParaRPr lang="en-GB" sz="1600" b="1" dirty="0"/>
          </a:p>
          <a:p>
            <a:r>
              <a:rPr lang="en-GB" sz="1600" dirty="0"/>
              <a:t>Average rating is around </a:t>
            </a:r>
            <a:r>
              <a:rPr lang="en-GB" sz="1600" b="1" dirty="0"/>
              <a:t>3.0–3.5</a:t>
            </a:r>
            <a:r>
              <a:rPr lang="en-GB" sz="1600" dirty="0"/>
              <a:t>, indicating </a:t>
            </a:r>
            <a:r>
              <a:rPr lang="en-GB" sz="1600" b="1" dirty="0"/>
              <a:t>moderate satisfaction</a:t>
            </a:r>
            <a:r>
              <a:rPr lang="en-GB" sz="1600" dirty="0"/>
              <a:t> </a:t>
            </a:r>
          </a:p>
          <a:p>
            <a:r>
              <a:rPr lang="en-GB" sz="1600" dirty="0"/>
              <a:t>Majority of restaurants fall between </a:t>
            </a:r>
            <a:r>
              <a:rPr lang="en-GB" sz="1600" b="1" dirty="0"/>
              <a:t>3.0 to 4.0 ratings</a:t>
            </a:r>
            <a:r>
              <a:rPr lang="en-GB" sz="1600" dirty="0"/>
              <a:t> </a:t>
            </a:r>
          </a:p>
          <a:p>
            <a:r>
              <a:rPr lang="en-GB" sz="1600" dirty="0"/>
              <a:t>Very few restaurants achieve </a:t>
            </a:r>
            <a:r>
              <a:rPr lang="en-GB" sz="1600" b="1" dirty="0"/>
              <a:t>premium ratings (above 4.5)</a:t>
            </a:r>
            <a:endParaRPr lang="en-GB" sz="1600" dirty="0"/>
          </a:p>
          <a:p>
            <a:endParaRPr lang="en-US" b="1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1A502D19-C614-886C-4945-5880F36E09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46CC291-411B-349C-8657-ED39C084F87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81589A-3B5D-B191-4855-2A4D7AA7545E}"/>
              </a:ext>
            </a:extLst>
          </p:cNvPr>
          <p:cNvSpPr txBox="1"/>
          <p:nvPr/>
        </p:nvSpPr>
        <p:spPr>
          <a:xfrm>
            <a:off x="839583" y="1591555"/>
            <a:ext cx="62390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Key Findings &amp; Insights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ED1951-025D-8D11-21C1-9BCFC3EEB2CA}"/>
              </a:ext>
            </a:extLst>
          </p:cNvPr>
          <p:cNvSpPr txBox="1"/>
          <p:nvPr/>
        </p:nvSpPr>
        <p:spPr>
          <a:xfrm>
            <a:off x="839583" y="3989173"/>
            <a:ext cx="623902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Pricing vs Ratings</a:t>
            </a:r>
          </a:p>
          <a:p>
            <a:pPr>
              <a:buNone/>
            </a:pPr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Higher price ranges tend to have </a:t>
            </a:r>
            <a:r>
              <a:rPr lang="en-GB" sz="1600" b="1" dirty="0"/>
              <a:t>better ratings</a:t>
            </a:r>
            <a:r>
              <a:rPr lang="en-GB" sz="16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Premium restaurants (price range 3–4) deliver </a:t>
            </a:r>
            <a:r>
              <a:rPr lang="en-GB" sz="1600" b="1" dirty="0"/>
              <a:t>better overall experience</a:t>
            </a:r>
            <a:r>
              <a:rPr lang="en-GB" sz="16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Budget restaurants dominate in number but have </a:t>
            </a:r>
            <a:r>
              <a:rPr lang="en-GB" sz="1600" b="1" dirty="0"/>
              <a:t>slightly lower ratings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8931087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EF318-5760-F4EA-79CB-FCD890631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3C4FC4D-1920-61F7-8635-97523B4DB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Conclusion: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859D4D1-5150-1A4D-BEB4-F3BCA64D1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583" y="1627788"/>
            <a:ext cx="6559062" cy="3590075"/>
          </a:xfrm>
        </p:spPr>
        <p:txBody>
          <a:bodyPr/>
          <a:lstStyle/>
          <a:p>
            <a:pPr algn="l" rtl="0" fontAlgn="base"/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r>
              <a:rPr lang="en-GB" b="1" dirty="0"/>
              <a:t>City-wise Performance</a:t>
            </a:r>
          </a:p>
          <a:p>
            <a:endParaRPr lang="en-GB" sz="1600" b="1" dirty="0"/>
          </a:p>
          <a:p>
            <a:r>
              <a:rPr lang="en-GB" sz="1600" dirty="0"/>
              <a:t>Cities like </a:t>
            </a:r>
            <a:r>
              <a:rPr lang="en-GB" sz="1600" b="1" dirty="0"/>
              <a:t>Gurgaon, </a:t>
            </a:r>
            <a:r>
              <a:rPr lang="en-GB" sz="1600" b="1" dirty="0" err="1"/>
              <a:t>Secunderabad</a:t>
            </a:r>
            <a:r>
              <a:rPr lang="en-GB" sz="1600" b="1" dirty="0"/>
              <a:t>, and Mumbai</a:t>
            </a:r>
            <a:r>
              <a:rPr lang="en-GB" sz="1600" dirty="0"/>
              <a:t> show </a:t>
            </a:r>
            <a:r>
              <a:rPr lang="en-GB" sz="1600" b="1" dirty="0"/>
              <a:t>higher average ratings</a:t>
            </a:r>
            <a:r>
              <a:rPr lang="en-GB" sz="1600" dirty="0"/>
              <a:t> </a:t>
            </a:r>
          </a:p>
          <a:p>
            <a:r>
              <a:rPr lang="en-GB" sz="1600" dirty="0"/>
              <a:t>Metro cities dominate in both </a:t>
            </a:r>
            <a:r>
              <a:rPr lang="en-GB" sz="1600" b="1" dirty="0"/>
              <a:t>restaurant count and quality</a:t>
            </a:r>
            <a:r>
              <a:rPr lang="en-GB" sz="1600" dirty="0"/>
              <a:t> </a:t>
            </a:r>
          </a:p>
          <a:p>
            <a:r>
              <a:rPr lang="en-GB" sz="1600" dirty="0"/>
              <a:t>Smaller cities have </a:t>
            </a:r>
            <a:r>
              <a:rPr lang="en-GB" sz="1600" b="1" dirty="0"/>
              <a:t>limited but growing presence</a:t>
            </a:r>
            <a:endParaRPr lang="en-GB" sz="1600" dirty="0"/>
          </a:p>
          <a:p>
            <a:endParaRPr lang="en-US" b="1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225750E-BEC4-60D7-A33B-DB2380120B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C72659A-12AE-6F1A-DE18-C406D989518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1BC42F-75AC-29AD-5248-8B6AC3B09F94}"/>
              </a:ext>
            </a:extLst>
          </p:cNvPr>
          <p:cNvSpPr txBox="1"/>
          <p:nvPr/>
        </p:nvSpPr>
        <p:spPr>
          <a:xfrm>
            <a:off x="839583" y="3904767"/>
            <a:ext cx="62390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Popular Cuisines</a:t>
            </a:r>
          </a:p>
          <a:p>
            <a:endParaRPr lang="en-GB" b="1" dirty="0"/>
          </a:p>
          <a:p>
            <a:r>
              <a:rPr lang="en-GB" sz="1600" b="1" dirty="0"/>
              <a:t>North Indian, Chinese, and Fast Food</a:t>
            </a:r>
            <a:r>
              <a:rPr lang="en-GB" sz="1600" dirty="0"/>
              <a:t> are the most popular </a:t>
            </a:r>
          </a:p>
          <a:p>
            <a:r>
              <a:rPr lang="en-GB" sz="1600" dirty="0"/>
              <a:t>High demand for </a:t>
            </a:r>
            <a:r>
              <a:rPr lang="en-GB" sz="1600" b="1" dirty="0"/>
              <a:t>affordable and familiar food options</a:t>
            </a:r>
            <a:r>
              <a:rPr lang="en-GB" sz="1600" dirty="0"/>
              <a:t> </a:t>
            </a:r>
          </a:p>
          <a:p>
            <a:r>
              <a:rPr lang="en-GB" sz="1600" dirty="0"/>
              <a:t>Niche cuisines exist but have </a:t>
            </a:r>
            <a:r>
              <a:rPr lang="en-GB" sz="1600" b="1" dirty="0"/>
              <a:t>low frequency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1995230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46C2A3-BB56-6272-A0A6-65C84927E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3069EFB-93A9-3E37-AB93-DE668D9C5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Conclusion: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5304153-6C9E-2811-9192-C868909B9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395" y="1205242"/>
            <a:ext cx="6559062" cy="3590075"/>
          </a:xfrm>
        </p:spPr>
        <p:txBody>
          <a:bodyPr/>
          <a:lstStyle/>
          <a:p>
            <a:pPr algn="l" rtl="0" fontAlgn="base"/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r>
              <a:rPr lang="en-GB" b="1" dirty="0"/>
              <a:t>Restaurant Chains</a:t>
            </a:r>
          </a:p>
          <a:p>
            <a:endParaRPr lang="en-GB" b="1" dirty="0"/>
          </a:p>
          <a:p>
            <a:r>
              <a:rPr lang="en-GB" sz="1600" dirty="0"/>
              <a:t>Top chains : </a:t>
            </a:r>
          </a:p>
          <a:p>
            <a:pPr lvl="1"/>
            <a:r>
              <a:rPr lang="en-GB" sz="1600" dirty="0"/>
              <a:t>Domino’s Pizza </a:t>
            </a:r>
          </a:p>
          <a:p>
            <a:pPr lvl="1"/>
            <a:r>
              <a:rPr lang="en-GB" sz="1600" dirty="0"/>
              <a:t>Cafe Coffee Day </a:t>
            </a:r>
          </a:p>
          <a:p>
            <a:pPr lvl="1"/>
            <a:r>
              <a:rPr lang="en-GB" sz="1600" dirty="0"/>
              <a:t>KFC </a:t>
            </a:r>
          </a:p>
          <a:p>
            <a:pPr lvl="1"/>
            <a:r>
              <a:rPr lang="en-GB" sz="1600" dirty="0"/>
              <a:t>Subway </a:t>
            </a:r>
          </a:p>
          <a:p>
            <a:r>
              <a:rPr lang="en-GB" sz="1600" dirty="0"/>
              <a:t>Large chains dominate due to </a:t>
            </a:r>
            <a:r>
              <a:rPr lang="en-GB" sz="1600" b="1" dirty="0"/>
              <a:t>brand trust and </a:t>
            </a:r>
            <a:r>
              <a:rPr lang="en-GB" b="1" dirty="0"/>
              <a:t>wide presence</a:t>
            </a:r>
            <a:r>
              <a:rPr lang="en-GB" dirty="0"/>
              <a:t> </a:t>
            </a:r>
          </a:p>
          <a:p>
            <a:r>
              <a:rPr lang="en-GB" sz="1600" dirty="0"/>
              <a:t>However, </a:t>
            </a:r>
            <a:r>
              <a:rPr lang="en-GB" sz="1600" b="1" dirty="0"/>
              <a:t>higher outlets ≠ higher ratings</a:t>
            </a:r>
            <a:endParaRPr lang="en-GB" sz="1600" dirty="0"/>
          </a:p>
          <a:p>
            <a:endParaRPr lang="en-US" b="1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7AAC083-45CD-35C8-34F3-C388860869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5A19EA01-DD48-A6AC-EF97-57D276639D5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FB5B05-53C7-D347-B47F-E9A671F52148}"/>
              </a:ext>
            </a:extLst>
          </p:cNvPr>
          <p:cNvSpPr txBox="1"/>
          <p:nvPr/>
        </p:nvSpPr>
        <p:spPr>
          <a:xfrm>
            <a:off x="1008395" y="4222598"/>
            <a:ext cx="7179002" cy="1903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Features Impact</a:t>
            </a:r>
          </a:p>
          <a:p>
            <a:r>
              <a:rPr lang="en-GB" sz="1600" dirty="0"/>
              <a:t>High-rated features: </a:t>
            </a:r>
          </a:p>
          <a:p>
            <a:pPr lvl="1"/>
            <a:r>
              <a:rPr lang="en-GB" sz="1600" b="1" dirty="0"/>
              <a:t>Serves Alcohol</a:t>
            </a:r>
            <a:r>
              <a:rPr lang="en-GB" sz="1600" dirty="0"/>
              <a:t> </a:t>
            </a:r>
          </a:p>
          <a:p>
            <a:pPr lvl="1"/>
            <a:r>
              <a:rPr lang="en-GB" sz="1600" b="1" dirty="0"/>
              <a:t>Craft Beer / Gastro Pub</a:t>
            </a:r>
            <a:r>
              <a:rPr lang="en-GB" sz="1600" dirty="0"/>
              <a:t> </a:t>
            </a:r>
          </a:p>
          <a:p>
            <a:pPr lvl="1"/>
            <a:r>
              <a:rPr lang="en-GB" sz="1600" b="1" dirty="0"/>
              <a:t>Speakeasy</a:t>
            </a:r>
            <a:r>
              <a:rPr lang="en-GB" sz="1600" dirty="0"/>
              <a:t> </a:t>
            </a:r>
          </a:p>
          <a:p>
            <a:r>
              <a:rPr lang="en-GB" sz="1600" dirty="0"/>
              <a:t>Basic features (AC, takeaway, etc.) have </a:t>
            </a:r>
            <a:r>
              <a:rPr lang="en-GB" sz="1600" b="1" dirty="0"/>
              <a:t>low impact on ratings</a:t>
            </a:r>
            <a:r>
              <a:rPr lang="en-GB" sz="1600" dirty="0"/>
              <a:t> </a:t>
            </a:r>
          </a:p>
          <a:p>
            <a:r>
              <a:rPr lang="en-GB" sz="1600" dirty="0"/>
              <a:t>Customers value </a:t>
            </a:r>
            <a:r>
              <a:rPr lang="en-GB" sz="1600" b="1" dirty="0"/>
              <a:t>experience over basic facilities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4875363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4CEAED-90CD-59F0-1352-1B864268E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9E2E71E-6B56-72AE-9B49-C67C54F96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Conclusion: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D1E04C5-A26E-9020-081B-09AAD5187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395" y="1431036"/>
            <a:ext cx="6559062" cy="3590075"/>
          </a:xfrm>
        </p:spPr>
        <p:txBody>
          <a:bodyPr/>
          <a:lstStyle/>
          <a:p>
            <a:pPr algn="l" rtl="0" fontAlgn="base"/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r>
              <a:rPr lang="en-GB" b="1" dirty="0"/>
              <a:t>Service Trends</a:t>
            </a:r>
          </a:p>
          <a:p>
            <a:endParaRPr lang="en-GB" b="1" dirty="0"/>
          </a:p>
          <a:p>
            <a:r>
              <a:rPr lang="en-GB" sz="1600" b="1" dirty="0"/>
              <a:t>Takeaway and indoor seating</a:t>
            </a:r>
            <a:r>
              <a:rPr lang="en-GB" sz="1600" dirty="0"/>
              <a:t> are widely available </a:t>
            </a:r>
          </a:p>
          <a:p>
            <a:r>
              <a:rPr lang="en-GB" sz="1600" dirty="0"/>
              <a:t>Restaurants focus on </a:t>
            </a:r>
            <a:r>
              <a:rPr lang="en-GB" sz="1600" b="1" dirty="0"/>
              <a:t>convenience and accessibility</a:t>
            </a:r>
            <a:r>
              <a:rPr lang="en-GB" sz="1600" dirty="0"/>
              <a:t> </a:t>
            </a:r>
          </a:p>
          <a:p>
            <a:r>
              <a:rPr lang="en-GB" sz="1600" dirty="0"/>
              <a:t>Premium services are </a:t>
            </a:r>
            <a:r>
              <a:rPr lang="en-GB" sz="1600" b="1" dirty="0"/>
              <a:t>less common but more impactful</a:t>
            </a:r>
            <a:endParaRPr lang="en-GB" sz="1600" dirty="0"/>
          </a:p>
          <a:p>
            <a:endParaRPr lang="en-US" b="1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73985E0-A80E-D781-D953-46B9D3CBF0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06D62A29-F471-EF80-2F62-AC3CD2FF6D0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872A6F-82E5-1B58-9B3E-DDCCE716BDE4}"/>
              </a:ext>
            </a:extLst>
          </p:cNvPr>
          <p:cNvSpPr txBox="1"/>
          <p:nvPr/>
        </p:nvSpPr>
        <p:spPr>
          <a:xfrm>
            <a:off x="1008395" y="3429000"/>
            <a:ext cx="7179002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Key Success Factors</a:t>
            </a:r>
          </a:p>
          <a:p>
            <a:endParaRPr lang="en-GB" b="1" dirty="0"/>
          </a:p>
          <a:p>
            <a:r>
              <a:rPr lang="en-GB" sz="1600" dirty="0"/>
              <a:t>Quality of experience (ambience, uniqueness) </a:t>
            </a:r>
          </a:p>
          <a:p>
            <a:r>
              <a:rPr lang="en-GB" sz="1600" dirty="0"/>
              <a:t>Premium offerings (alcohol, specialty dining) </a:t>
            </a:r>
          </a:p>
          <a:p>
            <a:r>
              <a:rPr lang="en-GB" sz="1600" dirty="0"/>
              <a:t>Strategic pricing </a:t>
            </a:r>
          </a:p>
          <a:p>
            <a:r>
              <a:rPr lang="en-GB" sz="1600" dirty="0"/>
              <a:t>Strong brand presence </a:t>
            </a:r>
          </a:p>
          <a:p>
            <a:r>
              <a:rPr lang="en-GB" sz="1600" dirty="0"/>
              <a:t>Location (metro cities perform better)</a:t>
            </a:r>
          </a:p>
        </p:txBody>
      </p:sp>
    </p:spTree>
    <p:extLst>
      <p:ext uri="{BB962C8B-B14F-4D97-AF65-F5344CB8AC3E}">
        <p14:creationId xmlns:p14="http://schemas.microsoft.com/office/powerpoint/2010/main" val="31100336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78D262-6314-718F-B2EB-DFF24CDCF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9FE831D-7EAE-BBD3-8467-23A3C7920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Recommendations: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453B93E-B8C1-C55B-571B-8245B2E7A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4853" y="1633962"/>
            <a:ext cx="6559062" cy="3590075"/>
          </a:xfrm>
        </p:spPr>
        <p:txBody>
          <a:bodyPr/>
          <a:lstStyle/>
          <a:p>
            <a:pPr algn="l" rtl="0" fontAlgn="base"/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r>
              <a:rPr lang="en-GB" b="1" dirty="0"/>
              <a:t>For Restaurant Owners</a:t>
            </a:r>
          </a:p>
          <a:p>
            <a:endParaRPr lang="en-GB" b="1" dirty="0"/>
          </a:p>
          <a:p>
            <a:r>
              <a:rPr lang="en-GB" sz="1600" dirty="0"/>
              <a:t>Focus on </a:t>
            </a:r>
            <a:r>
              <a:rPr lang="en-GB" sz="1600" b="1" dirty="0"/>
              <a:t>enhancing customer experience</a:t>
            </a:r>
            <a:r>
              <a:rPr lang="en-GB" sz="1600" dirty="0"/>
              <a:t>, not just basic services </a:t>
            </a:r>
          </a:p>
          <a:p>
            <a:r>
              <a:rPr lang="en-GB" sz="1600" dirty="0"/>
              <a:t>Introduce </a:t>
            </a:r>
            <a:r>
              <a:rPr lang="en-GB" sz="1600" b="1" dirty="0"/>
              <a:t>premium features</a:t>
            </a:r>
            <a:r>
              <a:rPr lang="en-GB" sz="1600" dirty="0"/>
              <a:t> (ambience, specialty menus, beverages) </a:t>
            </a:r>
          </a:p>
          <a:p>
            <a:r>
              <a:rPr lang="en-GB" sz="1600" dirty="0"/>
              <a:t>Maintain </a:t>
            </a:r>
            <a:r>
              <a:rPr lang="en-GB" sz="1600" b="1" dirty="0"/>
              <a:t>consistent quality</a:t>
            </a:r>
            <a:r>
              <a:rPr lang="en-GB" sz="1600" dirty="0"/>
              <a:t> to improve ratings </a:t>
            </a:r>
          </a:p>
          <a:p>
            <a:r>
              <a:rPr lang="en-GB" sz="1600" dirty="0"/>
              <a:t>Use </a:t>
            </a:r>
            <a:r>
              <a:rPr lang="en-GB" sz="1600" b="1" dirty="0"/>
              <a:t>pricing strategically</a:t>
            </a:r>
            <a:r>
              <a:rPr lang="en-GB" sz="1600" dirty="0"/>
              <a:t>—higher pricing should match better service </a:t>
            </a:r>
          </a:p>
          <a:p>
            <a:r>
              <a:rPr lang="en-GB" sz="1600" dirty="0"/>
              <a:t>Expand in </a:t>
            </a:r>
            <a:r>
              <a:rPr lang="en-GB" sz="1600" b="1" dirty="0"/>
              <a:t>high-performing cities</a:t>
            </a:r>
            <a:r>
              <a:rPr lang="en-GB" sz="1600" dirty="0"/>
              <a:t> for better visibility</a:t>
            </a:r>
          </a:p>
          <a:p>
            <a:endParaRPr lang="en-US" b="1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D579C7F-AFEC-BD35-2FDE-D9D2F5F331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949D4395-BA58-5725-75E8-1286676F7E2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745477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85C779-3755-E1BF-7F6A-3C3F6559F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0E065C1E-422E-E1A6-7A3B-DD99E3375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Recommendations: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4737C859-C6CA-0CE7-513D-E3D656D8E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395" y="1431036"/>
            <a:ext cx="6559062" cy="3590075"/>
          </a:xfrm>
        </p:spPr>
        <p:txBody>
          <a:bodyPr/>
          <a:lstStyle/>
          <a:p>
            <a:pPr algn="l" rtl="0" fontAlgn="base"/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r>
              <a:rPr lang="en-GB" b="1" dirty="0"/>
              <a:t>For Zomato Users</a:t>
            </a:r>
          </a:p>
          <a:p>
            <a:endParaRPr lang="en-GB" b="1" dirty="0"/>
          </a:p>
          <a:p>
            <a:r>
              <a:rPr lang="en-GB" sz="1600" dirty="0"/>
              <a:t>Explore </a:t>
            </a:r>
            <a:r>
              <a:rPr lang="en-GB" sz="1600" b="1" dirty="0"/>
              <a:t>high-rated restaurants (above 4.0)</a:t>
            </a:r>
            <a:r>
              <a:rPr lang="en-GB" sz="1600" dirty="0"/>
              <a:t> for better experience </a:t>
            </a:r>
          </a:p>
          <a:p>
            <a:r>
              <a:rPr lang="en-GB" sz="1600" dirty="0"/>
              <a:t>Try restaurants with </a:t>
            </a:r>
            <a:r>
              <a:rPr lang="en-GB" sz="1600" b="1" dirty="0"/>
              <a:t>unique features</a:t>
            </a:r>
            <a:r>
              <a:rPr lang="en-GB" sz="1600" dirty="0"/>
              <a:t> (e.g., craft beer, themed dining) </a:t>
            </a:r>
          </a:p>
          <a:p>
            <a:r>
              <a:rPr lang="en-GB" sz="1600" dirty="0"/>
              <a:t>Don’t rely only on big brands—</a:t>
            </a:r>
            <a:r>
              <a:rPr lang="en-GB" sz="1600" b="1" dirty="0"/>
              <a:t>hidden gems may offer better quality</a:t>
            </a:r>
            <a:r>
              <a:rPr lang="en-GB" sz="1600" dirty="0"/>
              <a:t> </a:t>
            </a:r>
          </a:p>
          <a:p>
            <a:r>
              <a:rPr lang="en-GB" sz="1600" dirty="0"/>
              <a:t>Consider </a:t>
            </a:r>
            <a:r>
              <a:rPr lang="en-GB" sz="1600" b="1" dirty="0"/>
              <a:t>price vs rating balance</a:t>
            </a:r>
            <a:r>
              <a:rPr lang="en-GB" sz="1600" dirty="0"/>
              <a:t> for best value </a:t>
            </a:r>
          </a:p>
          <a:p>
            <a:r>
              <a:rPr lang="en-GB" sz="1600" dirty="0"/>
              <a:t>Check </a:t>
            </a:r>
            <a:r>
              <a:rPr lang="en-GB" sz="1600" b="1" dirty="0"/>
              <a:t>features and reviews</a:t>
            </a:r>
            <a:r>
              <a:rPr lang="en-GB" sz="1600" dirty="0"/>
              <a:t>, not just ratings</a:t>
            </a:r>
          </a:p>
          <a:p>
            <a:endParaRPr lang="en-US" b="1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AB2C671-DD35-3F5E-70B1-CE4F26DC0F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0817F5B6-A183-24D4-90B0-B5B0CDCCDC5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75657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9">
      <a:dk1>
        <a:srgbClr val="231F20"/>
      </a:dk1>
      <a:lt1>
        <a:srgbClr val="FFFFFF"/>
      </a:lt1>
      <a:dk2>
        <a:srgbClr val="231F20"/>
      </a:dk2>
      <a:lt2>
        <a:srgbClr val="FDF9E2"/>
      </a:lt2>
      <a:accent1>
        <a:srgbClr val="FC2834"/>
      </a:accent1>
      <a:accent2>
        <a:srgbClr val="43AAC7"/>
      </a:accent2>
      <a:accent3>
        <a:srgbClr val="00AA59"/>
      </a:accent3>
      <a:accent4>
        <a:srgbClr val="FEA000"/>
      </a:accent4>
      <a:accent5>
        <a:srgbClr val="FDEE6B"/>
      </a:accent5>
      <a:accent6>
        <a:srgbClr val="3266A6"/>
      </a:accent6>
      <a:hlink>
        <a:srgbClr val="FC2734"/>
      </a:hlink>
      <a:folHlink>
        <a:srgbClr val="42AAC7"/>
      </a:folHlink>
    </a:clrScheme>
    <a:fontScheme name="Custom 26">
      <a:majorFont>
        <a:latin typeface="Arial Black"/>
        <a:ea typeface=""/>
        <a:cs typeface=""/>
      </a:majorFont>
      <a:minorFont>
        <a:latin typeface="Arial Blac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_Design_Win32_SW_v11" id="{D7435ACC-9DD3-4D5B-A984-7326EB7AF7CB}" vid="{7C01AFE1-C5EE-47B6-A71D-62A9F78E44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FB0F111-FD6B-4279-A9B8-A9ADF27746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3441F37-C10B-49C7-9131-D813AD6E948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065A588-1D2A-427C-AA32-A236D95C8F8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Metropolitan design</Template>
  <TotalTime>1608</TotalTime>
  <Words>2646</Words>
  <Application>Microsoft Office PowerPoint</Application>
  <PresentationFormat>Widescreen</PresentationFormat>
  <Paragraphs>537</Paragraphs>
  <Slides>42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Arial Black</vt:lpstr>
      <vt:lpstr>Calibri</vt:lpstr>
      <vt:lpstr>Segoe UI</vt:lpstr>
      <vt:lpstr>Wingdings</vt:lpstr>
      <vt:lpstr>Office Theme</vt:lpstr>
      <vt:lpstr>Zomato</vt:lpstr>
      <vt:lpstr>Executive Summary</vt:lpstr>
      <vt:lpstr>Data Source </vt:lpstr>
      <vt:lpstr>Dataset  Overview</vt:lpstr>
      <vt:lpstr>Imorting the dataset</vt:lpstr>
      <vt:lpstr>Info of the data set</vt:lpstr>
      <vt:lpstr>Statistical  Analysis</vt:lpstr>
      <vt:lpstr>Statistical  Analysis</vt:lpstr>
      <vt:lpstr> Identifying Null values </vt:lpstr>
      <vt:lpstr>Data Cleaning.</vt:lpstr>
      <vt:lpstr>Handling Missing Values</vt:lpstr>
      <vt:lpstr>Handling Missing Values</vt:lpstr>
      <vt:lpstr>Handling Duplicate Records</vt:lpstr>
      <vt:lpstr>Handling Invalid Values</vt:lpstr>
      <vt:lpstr>Basic Statistics:</vt:lpstr>
      <vt:lpstr>Basic Statistics:</vt:lpstr>
      <vt:lpstr>Basic Statistics:</vt:lpstr>
      <vt:lpstr>Basic Statistics:</vt:lpstr>
      <vt:lpstr>Location Analysis: :</vt:lpstr>
      <vt:lpstr>Location Analysis: :</vt:lpstr>
      <vt:lpstr>Location Analysis: :</vt:lpstr>
      <vt:lpstr>Location Analysis: :</vt:lpstr>
      <vt:lpstr>Cuisine Analysis:</vt:lpstr>
      <vt:lpstr>Cuisine Analysis:</vt:lpstr>
      <vt:lpstr>Price Range and Rating:</vt:lpstr>
      <vt:lpstr>Price Range and Rating:</vt:lpstr>
      <vt:lpstr>Price Range and Rating:</vt:lpstr>
      <vt:lpstr>Top Restaurant Chains:</vt:lpstr>
      <vt:lpstr>Top Restaurant Chains:</vt:lpstr>
      <vt:lpstr>Top Restaurant Chains:</vt:lpstr>
      <vt:lpstr>Top Restaurant Chains:</vt:lpstr>
      <vt:lpstr>Top Restaurant Chains:</vt:lpstr>
      <vt:lpstr>Restaurant Features:</vt:lpstr>
      <vt:lpstr>Restaurant Features:</vt:lpstr>
      <vt:lpstr>Restaurant Features:</vt:lpstr>
      <vt:lpstr>Restaurant Features:</vt:lpstr>
      <vt:lpstr>Conclusion:</vt:lpstr>
      <vt:lpstr>Conclusion:</vt:lpstr>
      <vt:lpstr>Conclusion:</vt:lpstr>
      <vt:lpstr>Conclusion:</vt:lpstr>
      <vt:lpstr>Recommendations:</vt:lpstr>
      <vt:lpstr>Recommendations: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Mohit Kumar</dc:creator>
  <cp:lastModifiedBy>Mohit Kumar</cp:lastModifiedBy>
  <cp:revision>6</cp:revision>
  <dcterms:created xsi:type="dcterms:W3CDTF">2026-04-22T08:20:26Z</dcterms:created>
  <dcterms:modified xsi:type="dcterms:W3CDTF">2026-04-27T17:01:55Z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